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63" r:id="rId4"/>
    <p:sldId id="264" r:id="rId5"/>
    <p:sldId id="265" r:id="rId6"/>
    <p:sldId id="266" r:id="rId7"/>
    <p:sldId id="267" r:id="rId8"/>
    <p:sldId id="268" r:id="rId9"/>
    <p:sldId id="275" r:id="rId10"/>
    <p:sldId id="276" r:id="rId11"/>
    <p:sldId id="269" r:id="rId12"/>
    <p:sldId id="277" r:id="rId13"/>
    <p:sldId id="278" r:id="rId14"/>
    <p:sldId id="279" r:id="rId15"/>
    <p:sldId id="280" r:id="rId16"/>
    <p:sldId id="270" r:id="rId17"/>
    <p:sldId id="258" r:id="rId18"/>
    <p:sldId id="271" r:id="rId19"/>
    <p:sldId id="259" r:id="rId20"/>
    <p:sldId id="260" r:id="rId21"/>
    <p:sldId id="281" r:id="rId22"/>
    <p:sldId id="282" r:id="rId23"/>
    <p:sldId id="261" r:id="rId24"/>
    <p:sldId id="283" r:id="rId25"/>
    <p:sldId id="272" r:id="rId26"/>
    <p:sldId id="262" r:id="rId27"/>
    <p:sldId id="273" r:id="rId28"/>
    <p:sldId id="274" r:id="rId2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9032" autoAdjust="0"/>
  </p:normalViewPr>
  <p:slideViewPr>
    <p:cSldViewPr snapToGrid="0">
      <p:cViewPr varScale="1">
        <p:scale>
          <a:sx n="74" d="100"/>
          <a:sy n="74" d="100"/>
        </p:scale>
        <p:origin x="104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669490-6530-4361-B3D3-C897061EB1A7}" type="datetimeFigureOut">
              <a:rPr lang="en-GB" smtClean="0"/>
              <a:t>03/12/2024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D1E5E8-5F3C-49AE-B3CF-ED4631967D6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039167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 dirty="0"/>
              <a:t>Benefit:</a:t>
            </a:r>
            <a:r>
              <a:rPr lang="en-GB" dirty="0"/>
              <a:t> Helps identify unsafe lifecycles and accidental side effects.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D1E5E8-5F3C-49AE-B3CF-ED4631967D6D}" type="slidenum">
              <a:rPr lang="en-GB" smtClean="0"/>
              <a:t>22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062784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12/3/2024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47F38-B617-4D2F-AE0A-013F0C4D2C57}" type="datetimeFigureOut">
              <a:rPr lang="en-US" dirty="0"/>
              <a:t>12/3/2024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A754-D5C3-4E66-96A6-867B257F58DC}" type="datetimeFigureOut">
              <a:rPr lang="en-US" dirty="0"/>
              <a:t>12/3/2024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12/3/2024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12/3/2024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12/3/2024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12/3/2024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8" r:id="rId2"/>
    <p:sldLayoutId id="2147483651" r:id="rId3"/>
    <p:sldLayoutId id="2147483669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CE5B2D-745D-3492-0036-940B28EC9BF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Advanced Client-Side Development</a:t>
            </a:r>
            <a:endParaRPr lang="en-PK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DEDE0B4-A082-47E5-8015-968D7E01D89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React 04</a:t>
            </a:r>
          </a:p>
          <a:p>
            <a:r>
              <a:rPr lang="en-US" dirty="0"/>
              <a:t>Intro to client-side security, authentication and authorization, secure data handling, Securing API requests, Security considerations while deploying the apps.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5922556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A0095-6AEF-3DF1-CC62-AA41AC8A69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 to client-side security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06171D-C193-0DA2-EC18-7503F794A7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Client-side security refers to the measures and techniques employed to protect the user's system and data on the client side, typically within a web browser or a standalone application. It involves </a:t>
            </a:r>
            <a:r>
              <a:rPr lang="en-US" dirty="0">
                <a:solidFill>
                  <a:srgbClr val="00B050"/>
                </a:solidFill>
              </a:rPr>
              <a:t>safeguarding against vulnerabilities and malicious activities that can compromise the reliability, privacy, and availability of client-side resources.</a:t>
            </a:r>
            <a:endParaRPr lang="en-PK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63791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A0095-6AEF-3DF1-CC62-AA41AC8A69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Importance of Securing Client-Side Applications: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06171D-C193-0DA2-EC18-7503F794A7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algn="just"/>
            <a:r>
              <a:rPr lang="en-US" b="1" dirty="0">
                <a:solidFill>
                  <a:schemeClr val="tx1"/>
                </a:solidFill>
              </a:rPr>
              <a:t>User Data Protection:</a:t>
            </a:r>
            <a:r>
              <a:rPr lang="en-US" dirty="0">
                <a:solidFill>
                  <a:schemeClr val="tx1"/>
                </a:solidFill>
              </a:rPr>
              <a:t> Client-side applications often handle sensitive user data. Securing these applications ensures the confidentiality and privacy of user information.</a:t>
            </a:r>
          </a:p>
          <a:p>
            <a:pPr algn="just"/>
            <a:r>
              <a:rPr lang="en-US" b="1" dirty="0">
                <a:solidFill>
                  <a:schemeClr val="tx1"/>
                </a:solidFill>
              </a:rPr>
              <a:t>Prevention of Unauthorized Access:</a:t>
            </a:r>
            <a:r>
              <a:rPr lang="en-US" dirty="0">
                <a:solidFill>
                  <a:schemeClr val="tx1"/>
                </a:solidFill>
              </a:rPr>
              <a:t> Protecting against unauthorized access and activities ensures that only authenticated and authorized users can interact with the application, reducing the risk of data breaches.</a:t>
            </a:r>
          </a:p>
          <a:p>
            <a:pPr algn="just"/>
            <a:r>
              <a:rPr lang="en-US" b="1" dirty="0">
                <a:solidFill>
                  <a:schemeClr val="tx1"/>
                </a:solidFill>
              </a:rPr>
              <a:t>Trust and Reputation:</a:t>
            </a:r>
            <a:r>
              <a:rPr lang="en-US" dirty="0">
                <a:solidFill>
                  <a:schemeClr val="tx1"/>
                </a:solidFill>
              </a:rPr>
              <a:t> Users trust applications that prioritize security. A breach can lead to a loss of trust, damage to the reputation of the application or organization, and potential legal consequences.</a:t>
            </a:r>
          </a:p>
          <a:p>
            <a:pPr algn="just"/>
            <a:r>
              <a:rPr lang="en-US" b="1" dirty="0">
                <a:solidFill>
                  <a:schemeClr val="tx1"/>
                </a:solidFill>
              </a:rPr>
              <a:t>Business Continuity:</a:t>
            </a:r>
            <a:r>
              <a:rPr lang="en-US" dirty="0">
                <a:solidFill>
                  <a:schemeClr val="tx1"/>
                </a:solidFill>
              </a:rPr>
              <a:t> Security breaches can disrupt the normal functioning of applications, affecting business operations. Securing client-side applications helps maintain continuity and stability.</a:t>
            </a:r>
            <a:endParaRPr lang="en-PK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520215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A0095-6AEF-3DF1-CC62-AA41AC8A69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Common Threats: Cross-Site Scripting (XSS), Cross-Site Request Forgery (CSRF)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06171D-C193-0DA2-EC18-7503F794A7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endParaRPr lang="en-PK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47868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A0095-6AEF-3DF1-CC62-AA41AC8A69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Cross-Site Scripting (XSS)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06171D-C193-0DA2-EC18-7503F794A7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>
                <a:solidFill>
                  <a:schemeClr val="tx1"/>
                </a:solidFill>
              </a:rPr>
              <a:t>Definition: XSS is a type of security vulnerability that allows </a:t>
            </a:r>
            <a:r>
              <a:rPr lang="en-US" dirty="0">
                <a:solidFill>
                  <a:srgbClr val="FF0000"/>
                </a:solidFill>
              </a:rPr>
              <a:t>attackers to inject malicious scripts into web pages</a:t>
            </a:r>
            <a:r>
              <a:rPr lang="en-US" dirty="0">
                <a:solidFill>
                  <a:schemeClr val="tx1"/>
                </a:solidFill>
              </a:rPr>
              <a:t> viewed by other users.</a:t>
            </a:r>
          </a:p>
          <a:p>
            <a:pPr algn="just"/>
            <a:endParaRPr lang="en-US" dirty="0">
              <a:solidFill>
                <a:schemeClr val="tx1"/>
              </a:solidFill>
            </a:endParaRPr>
          </a:p>
          <a:p>
            <a:pPr algn="just"/>
            <a:r>
              <a:rPr lang="en-US" dirty="0">
                <a:solidFill>
                  <a:schemeClr val="tx1"/>
                </a:solidFill>
              </a:rPr>
              <a:t>Impact: It can lead to the theft of sensitive information, session hijacking, defacement of websites, or redirection to malicious sites.</a:t>
            </a:r>
            <a:endParaRPr lang="en-PK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691672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A0095-6AEF-3DF1-CC62-AA41AC8A69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Cross-Site Request Forgery (CSRF)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06171D-C193-0DA2-EC18-7503F794A7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>
                <a:solidFill>
                  <a:schemeClr val="tx1"/>
                </a:solidFill>
              </a:rPr>
              <a:t>Definition: CSRF is an attack that </a:t>
            </a:r>
            <a:r>
              <a:rPr lang="en-US" dirty="0">
                <a:solidFill>
                  <a:srgbClr val="FF0000"/>
                </a:solidFill>
              </a:rPr>
              <a:t>tricks the victim into submitting a malicious request.</a:t>
            </a:r>
            <a:r>
              <a:rPr lang="en-US" dirty="0">
                <a:solidFill>
                  <a:schemeClr val="tx1"/>
                </a:solidFill>
              </a:rPr>
              <a:t> It exploits the trust that a website has in a user's browser.</a:t>
            </a:r>
          </a:p>
          <a:p>
            <a:pPr algn="just"/>
            <a:endParaRPr lang="en-US" dirty="0">
              <a:solidFill>
                <a:schemeClr val="tx1"/>
              </a:solidFill>
            </a:endParaRPr>
          </a:p>
          <a:p>
            <a:pPr algn="just"/>
            <a:r>
              <a:rPr lang="en-US" dirty="0">
                <a:solidFill>
                  <a:schemeClr val="tx1"/>
                </a:solidFill>
              </a:rPr>
              <a:t>Impact: CSRF attacks can result in unauthorized actions being performed on behalf of the user, such as changing account settings or making financial transactions.</a:t>
            </a:r>
            <a:endParaRPr lang="en-PK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88618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A0095-6AEF-3DF1-CC62-AA41AC8A69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Other Common Threats: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06171D-C193-0DA2-EC18-7503F794A7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b="1" dirty="0">
                <a:solidFill>
                  <a:schemeClr val="tx1"/>
                </a:solidFill>
              </a:rPr>
              <a:t>Man-in-the-Middle Attacks:</a:t>
            </a:r>
            <a:r>
              <a:rPr lang="en-US" dirty="0">
                <a:solidFill>
                  <a:schemeClr val="tx1"/>
                </a:solidFill>
              </a:rPr>
              <a:t> Intercepting communication between the user and the server to eavesdrop or manipulate data.</a:t>
            </a:r>
          </a:p>
          <a:p>
            <a:pPr algn="just"/>
            <a:r>
              <a:rPr lang="en-US" b="1" dirty="0">
                <a:solidFill>
                  <a:schemeClr val="tx1"/>
                </a:solidFill>
              </a:rPr>
              <a:t>Security Misconfigurations:</a:t>
            </a:r>
            <a:r>
              <a:rPr lang="en-US" dirty="0">
                <a:solidFill>
                  <a:schemeClr val="tx1"/>
                </a:solidFill>
              </a:rPr>
              <a:t> Improperly configured security settings that can expose sensitive information or grant unauthorized access.</a:t>
            </a:r>
          </a:p>
          <a:p>
            <a:pPr algn="just"/>
            <a:r>
              <a:rPr lang="en-US" b="1" dirty="0">
                <a:solidFill>
                  <a:schemeClr val="tx1"/>
                </a:solidFill>
              </a:rPr>
              <a:t>Insecure Direct Object References (IDOR):</a:t>
            </a:r>
            <a:r>
              <a:rPr lang="en-US" dirty="0">
                <a:solidFill>
                  <a:schemeClr val="tx1"/>
                </a:solidFill>
              </a:rPr>
              <a:t> Unauthorized access to objects, files, or resources by manipulating input parameters.</a:t>
            </a:r>
            <a:endParaRPr lang="en-PK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860256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EBE76D-B33C-6133-E08D-872F01D102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How they work?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702DE6-F166-CD1A-EFEF-ADC499E86A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XSS Example:</a:t>
            </a:r>
          </a:p>
          <a:p>
            <a:pPr lvl="1"/>
            <a:r>
              <a:rPr lang="en-US" dirty="0"/>
              <a:t>Scenario: Attacker injects a script into a comment section.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The attacker looks for signs of insufficient input validation and output rendering in the comment section.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They search for areas where user input might be directly rendered on the web page without proper sanitization or encoding.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Upon identifying a potential vulnerability, the attacker crafts a malicious payload, usually in the form of </a:t>
            </a:r>
            <a:r>
              <a:rPr lang="en-US" dirty="0">
                <a:solidFill>
                  <a:srgbClr val="FF0000"/>
                </a:solidFill>
              </a:rPr>
              <a:t>JavaScript code</a:t>
            </a:r>
            <a:r>
              <a:rPr lang="en-US" dirty="0">
                <a:solidFill>
                  <a:schemeClr val="tx1"/>
                </a:solidFill>
              </a:rPr>
              <a:t>, to be injected.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The payload aims to perform actions such as </a:t>
            </a:r>
            <a:r>
              <a:rPr lang="en-US" dirty="0">
                <a:solidFill>
                  <a:srgbClr val="FF0000"/>
                </a:solidFill>
              </a:rPr>
              <a:t>stealing session tokens, redirecting users, or loading external scripts.</a:t>
            </a:r>
          </a:p>
        </p:txBody>
      </p:sp>
    </p:spTree>
    <p:extLst>
      <p:ext uri="{BB962C8B-B14F-4D97-AF65-F5344CB8AC3E}">
        <p14:creationId xmlns:p14="http://schemas.microsoft.com/office/powerpoint/2010/main" val="32155173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8A3B22-7C5E-CFED-E13D-1E850D2491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FF0000"/>
                </a:solidFill>
              </a:rPr>
              <a:t>Bad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C13D8D-A812-9C70-936A-DBB69233E0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function Comment({ </a:t>
            </a:r>
            <a:r>
              <a:rPr lang="en-GB" dirty="0" err="1"/>
              <a:t>userComment</a:t>
            </a:r>
            <a:r>
              <a:rPr lang="en-GB" dirty="0"/>
              <a:t> }) {</a:t>
            </a:r>
          </a:p>
          <a:p>
            <a:r>
              <a:rPr lang="en-GB" dirty="0"/>
              <a:t>  return &lt;div </a:t>
            </a:r>
            <a:r>
              <a:rPr lang="en-GB" dirty="0" err="1"/>
              <a:t>dangerouslySetInnerHTML</a:t>
            </a:r>
            <a:r>
              <a:rPr lang="en-GB" dirty="0"/>
              <a:t>={{ __html: </a:t>
            </a:r>
            <a:r>
              <a:rPr lang="en-GB" dirty="0" err="1"/>
              <a:t>userComment</a:t>
            </a:r>
            <a:r>
              <a:rPr lang="en-GB" dirty="0"/>
              <a:t> }} /&gt;;</a:t>
            </a:r>
          </a:p>
          <a:p>
            <a:r>
              <a:rPr lang="en-GB" dirty="0"/>
              <a:t>}</a:t>
            </a:r>
          </a:p>
          <a:p>
            <a:endParaRPr lang="en-GB" dirty="0"/>
          </a:p>
          <a:p>
            <a:r>
              <a:rPr lang="en-GB" dirty="0"/>
              <a:t>// Attack Vector: </a:t>
            </a:r>
            <a:r>
              <a:rPr lang="en-GB" dirty="0" err="1"/>
              <a:t>userComment</a:t>
            </a:r>
            <a:r>
              <a:rPr lang="en-GB" dirty="0"/>
              <a:t> = '&lt;</a:t>
            </a:r>
            <a:r>
              <a:rPr lang="en-GB" dirty="0" err="1"/>
              <a:t>img</a:t>
            </a:r>
            <a:r>
              <a:rPr lang="en-GB" dirty="0"/>
              <a:t> </a:t>
            </a:r>
            <a:r>
              <a:rPr lang="en-GB" dirty="0" err="1"/>
              <a:t>src</a:t>
            </a:r>
            <a:r>
              <a:rPr lang="en-GB" dirty="0"/>
              <a:t>=x </a:t>
            </a:r>
            <a:r>
              <a:rPr lang="en-GB" dirty="0" err="1"/>
              <a:t>onerror</a:t>
            </a:r>
            <a:r>
              <a:rPr lang="en-GB" dirty="0"/>
              <a:t>="alert(\'XSS\')"&gt;'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099002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DFD528-3CF8-4893-B008-B41AAD9A62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00B050"/>
                </a:solidFill>
              </a:rPr>
              <a:t>Secure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6CF739-1623-6496-A967-80FCD5E16F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import </a:t>
            </a:r>
            <a:r>
              <a:rPr lang="en-GB" dirty="0" err="1"/>
              <a:t>DOMPurify</a:t>
            </a:r>
            <a:r>
              <a:rPr lang="en-GB" dirty="0"/>
              <a:t> from '</a:t>
            </a:r>
            <a:r>
              <a:rPr lang="en-GB" dirty="0" err="1"/>
              <a:t>dompurify</a:t>
            </a:r>
            <a:r>
              <a:rPr lang="en-GB" dirty="0"/>
              <a:t>';</a:t>
            </a:r>
          </a:p>
          <a:p>
            <a:endParaRPr lang="en-GB" dirty="0"/>
          </a:p>
          <a:p>
            <a:r>
              <a:rPr lang="en-GB" dirty="0"/>
              <a:t>function Comment({ </a:t>
            </a:r>
            <a:r>
              <a:rPr lang="en-GB" dirty="0" err="1"/>
              <a:t>userComment</a:t>
            </a:r>
            <a:r>
              <a:rPr lang="en-GB" dirty="0"/>
              <a:t> }) {</a:t>
            </a:r>
          </a:p>
          <a:p>
            <a:r>
              <a:rPr lang="en-GB" dirty="0"/>
              <a:t>  </a:t>
            </a:r>
            <a:r>
              <a:rPr lang="en-GB" dirty="0" err="1"/>
              <a:t>const</a:t>
            </a:r>
            <a:r>
              <a:rPr lang="en-GB" dirty="0"/>
              <a:t> </a:t>
            </a:r>
            <a:r>
              <a:rPr lang="en-GB" dirty="0" err="1"/>
              <a:t>sanitizedComment</a:t>
            </a:r>
            <a:r>
              <a:rPr lang="en-GB" dirty="0"/>
              <a:t> = </a:t>
            </a:r>
            <a:r>
              <a:rPr lang="en-GB" dirty="0" err="1"/>
              <a:t>DOMPurify.sanitize</a:t>
            </a:r>
            <a:r>
              <a:rPr lang="en-GB" dirty="0"/>
              <a:t>(</a:t>
            </a:r>
            <a:r>
              <a:rPr lang="en-GB" dirty="0" err="1"/>
              <a:t>userComment</a:t>
            </a:r>
            <a:r>
              <a:rPr lang="en-GB" dirty="0"/>
              <a:t>);</a:t>
            </a:r>
          </a:p>
          <a:p>
            <a:r>
              <a:rPr lang="en-GB" dirty="0"/>
              <a:t>  return &lt;div </a:t>
            </a:r>
            <a:r>
              <a:rPr lang="en-GB" dirty="0" err="1"/>
              <a:t>dangerouslySetInnerHTML</a:t>
            </a:r>
            <a:r>
              <a:rPr lang="en-GB" dirty="0"/>
              <a:t>={{ __html: </a:t>
            </a:r>
            <a:r>
              <a:rPr lang="en-GB" dirty="0" err="1"/>
              <a:t>sanitizedComment</a:t>
            </a:r>
            <a:r>
              <a:rPr lang="en-GB" dirty="0"/>
              <a:t> }} /&gt;;</a:t>
            </a:r>
          </a:p>
          <a:p>
            <a:r>
              <a:rPr lang="en-GB" dirty="0"/>
              <a:t>}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189726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EBE76D-B33C-6133-E08D-872F01D102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How they work?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702DE6-F166-CD1A-EFEF-ADC499E86A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CSRF Example:</a:t>
            </a:r>
          </a:p>
          <a:p>
            <a:pPr lvl="1"/>
            <a:r>
              <a:rPr lang="en-US" dirty="0"/>
              <a:t>Scenario: Attacker tricks the victim into clicking a malicious link.</a:t>
            </a:r>
          </a:p>
          <a:p>
            <a:pPr lvl="1"/>
            <a:r>
              <a:rPr lang="en-US" dirty="0"/>
              <a:t>&lt;a </a:t>
            </a:r>
            <a:r>
              <a:rPr lang="en-US" dirty="0" err="1"/>
              <a:t>href</a:t>
            </a:r>
            <a:r>
              <a:rPr lang="en-US" dirty="0"/>
              <a:t>="https://bank.com/</a:t>
            </a:r>
            <a:r>
              <a:rPr lang="en-US" dirty="0" err="1"/>
              <a:t>transfer?to</a:t>
            </a:r>
            <a:r>
              <a:rPr lang="en-US" dirty="0"/>
              <a:t>=</a:t>
            </a:r>
            <a:r>
              <a:rPr lang="en-US" dirty="0" err="1"/>
              <a:t>attacker&amp;amount</a:t>
            </a:r>
            <a:r>
              <a:rPr lang="en-US" dirty="0"/>
              <a:t>=100"&gt;Click me for a special offer!&lt;/a&gt;</a:t>
            </a:r>
          </a:p>
          <a:p>
            <a:pPr lvl="1"/>
            <a:r>
              <a:rPr lang="en-US" dirty="0"/>
              <a:t>If there's </a:t>
            </a:r>
            <a:r>
              <a:rPr lang="en-US" dirty="0">
                <a:solidFill>
                  <a:srgbClr val="FF0000"/>
                </a:solidFill>
              </a:rPr>
              <a:t>no anti-CSRF token to validate the request's origin</a:t>
            </a:r>
            <a:r>
              <a:rPr lang="en-US" dirty="0"/>
              <a:t>, the server processes the request as if it's legitimate.</a:t>
            </a:r>
          </a:p>
          <a:p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84222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3F7879-7032-7AA4-96E5-DFBD87F111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FF0000"/>
                </a:solidFill>
              </a:rPr>
              <a:t>Bad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C83F8-FBF1-E8F6-86F6-BBD8264967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fetch('/</a:t>
            </a:r>
            <a:r>
              <a:rPr lang="en-GB" dirty="0" err="1"/>
              <a:t>deleteAccount</a:t>
            </a:r>
            <a:r>
              <a:rPr lang="en-GB" dirty="0"/>
              <a:t>', { method: 'POST' });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672561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120D4A-D329-D74A-9120-110903D94D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00B050"/>
                </a:solidFill>
              </a:rPr>
              <a:t>Secure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75C018-C798-9819-4314-15A410E5EF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fetch('/</a:t>
            </a:r>
            <a:r>
              <a:rPr lang="en-GB" dirty="0" err="1"/>
              <a:t>deleteAccount</a:t>
            </a:r>
            <a:r>
              <a:rPr lang="en-GB" dirty="0"/>
              <a:t>', {</a:t>
            </a:r>
          </a:p>
          <a:p>
            <a:r>
              <a:rPr lang="en-GB" dirty="0"/>
              <a:t>  method: 'POST',</a:t>
            </a:r>
          </a:p>
          <a:p>
            <a:r>
              <a:rPr lang="en-GB" dirty="0"/>
              <a:t>  headers: {</a:t>
            </a:r>
          </a:p>
          <a:p>
            <a:r>
              <a:rPr lang="en-GB" dirty="0"/>
              <a:t>    'CSRF-Token': </a:t>
            </a:r>
            <a:r>
              <a:rPr lang="en-GB" dirty="0" err="1"/>
              <a:t>getCSRFToken</a:t>
            </a:r>
            <a:r>
              <a:rPr lang="en-GB" dirty="0"/>
              <a:t>(), // Securely stored token</a:t>
            </a:r>
          </a:p>
          <a:p>
            <a:r>
              <a:rPr lang="en-GB" dirty="0"/>
              <a:t>  },</a:t>
            </a:r>
          </a:p>
          <a:p>
            <a:r>
              <a:rPr lang="en-GB" dirty="0"/>
              <a:t>});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984696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874D00-A44E-3460-1220-948182C15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FF0000"/>
                </a:solidFill>
              </a:rPr>
              <a:t>Sanitizing Inputs (Bad Example)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A2147A-7B3A-A1AD-442E-B721B791F8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err="1"/>
              <a:t>const</a:t>
            </a:r>
            <a:r>
              <a:rPr lang="en-GB" dirty="0"/>
              <a:t> </a:t>
            </a:r>
            <a:r>
              <a:rPr lang="en-GB" dirty="0" err="1"/>
              <a:t>handleSubmit</a:t>
            </a:r>
            <a:r>
              <a:rPr lang="en-GB" dirty="0"/>
              <a:t> = (event) =&gt; {</a:t>
            </a:r>
          </a:p>
          <a:p>
            <a:r>
              <a:rPr lang="en-GB" dirty="0"/>
              <a:t>  </a:t>
            </a:r>
            <a:r>
              <a:rPr lang="en-GB" dirty="0" err="1"/>
              <a:t>const</a:t>
            </a:r>
            <a:r>
              <a:rPr lang="en-GB" dirty="0"/>
              <a:t> </a:t>
            </a:r>
            <a:r>
              <a:rPr lang="en-GB" dirty="0" err="1"/>
              <a:t>userInput</a:t>
            </a:r>
            <a:r>
              <a:rPr lang="en-GB" dirty="0"/>
              <a:t> = </a:t>
            </a:r>
            <a:r>
              <a:rPr lang="en-GB" dirty="0" err="1"/>
              <a:t>event.target.value</a:t>
            </a:r>
            <a:r>
              <a:rPr lang="en-GB" dirty="0"/>
              <a:t>;</a:t>
            </a:r>
          </a:p>
          <a:p>
            <a:r>
              <a:rPr lang="en-GB" dirty="0"/>
              <a:t>  </a:t>
            </a:r>
            <a:r>
              <a:rPr lang="en-GB" dirty="0" err="1"/>
              <a:t>document.write</a:t>
            </a:r>
            <a:r>
              <a:rPr lang="en-GB" dirty="0"/>
              <a:t>(</a:t>
            </a:r>
            <a:r>
              <a:rPr lang="en-GB" dirty="0" err="1"/>
              <a:t>userInput</a:t>
            </a:r>
            <a:r>
              <a:rPr lang="en-GB" dirty="0"/>
              <a:t>); // Vulnerable to XSS</a:t>
            </a:r>
          </a:p>
          <a:p>
            <a:r>
              <a:rPr lang="en-GB" dirty="0"/>
              <a:t>};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467095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053D71-FD2A-B92C-FF8A-13DF45F975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00B050"/>
                </a:solidFill>
              </a:rPr>
              <a:t>Secure Form Handling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7D5CE1-AFA2-9EC1-0451-95807F1AB9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err="1"/>
              <a:t>const</a:t>
            </a:r>
            <a:r>
              <a:rPr lang="en-GB" dirty="0"/>
              <a:t> </a:t>
            </a:r>
            <a:r>
              <a:rPr lang="en-GB" dirty="0" err="1"/>
              <a:t>handleSubmit</a:t>
            </a:r>
            <a:r>
              <a:rPr lang="en-GB" dirty="0"/>
              <a:t> = (event) =&gt; {</a:t>
            </a:r>
          </a:p>
          <a:p>
            <a:r>
              <a:rPr lang="en-GB" dirty="0"/>
              <a:t>  </a:t>
            </a:r>
            <a:r>
              <a:rPr lang="en-GB" dirty="0" err="1"/>
              <a:t>const</a:t>
            </a:r>
            <a:r>
              <a:rPr lang="en-GB" dirty="0"/>
              <a:t> </a:t>
            </a:r>
            <a:r>
              <a:rPr lang="en-GB" dirty="0" err="1"/>
              <a:t>userInput</a:t>
            </a:r>
            <a:r>
              <a:rPr lang="en-GB" dirty="0"/>
              <a:t> = </a:t>
            </a:r>
            <a:r>
              <a:rPr lang="en-GB" dirty="0" err="1"/>
              <a:t>event.target.value</a:t>
            </a:r>
            <a:r>
              <a:rPr lang="en-GB" dirty="0"/>
              <a:t>;</a:t>
            </a:r>
          </a:p>
          <a:p>
            <a:r>
              <a:rPr lang="en-GB" dirty="0"/>
              <a:t>  </a:t>
            </a:r>
            <a:r>
              <a:rPr lang="en-GB" dirty="0" err="1"/>
              <a:t>const</a:t>
            </a:r>
            <a:r>
              <a:rPr lang="en-GB" dirty="0"/>
              <a:t> </a:t>
            </a:r>
            <a:r>
              <a:rPr lang="en-GB" dirty="0" err="1"/>
              <a:t>sanitizedInput</a:t>
            </a:r>
            <a:r>
              <a:rPr lang="en-GB" dirty="0"/>
              <a:t> = </a:t>
            </a:r>
            <a:r>
              <a:rPr lang="en-GB" dirty="0" err="1"/>
              <a:t>DOMPurify.sanitize</a:t>
            </a:r>
            <a:r>
              <a:rPr lang="en-GB" dirty="0"/>
              <a:t>(</a:t>
            </a:r>
            <a:r>
              <a:rPr lang="en-GB" dirty="0" err="1"/>
              <a:t>userInput</a:t>
            </a:r>
            <a:r>
              <a:rPr lang="en-GB" dirty="0"/>
              <a:t>);</a:t>
            </a:r>
          </a:p>
          <a:p>
            <a:r>
              <a:rPr lang="en-GB" dirty="0"/>
              <a:t>  console.log(</a:t>
            </a:r>
            <a:r>
              <a:rPr lang="en-GB" dirty="0" err="1"/>
              <a:t>sanitizedInput</a:t>
            </a:r>
            <a:r>
              <a:rPr lang="en-GB" dirty="0"/>
              <a:t>);</a:t>
            </a:r>
          </a:p>
          <a:p>
            <a:r>
              <a:rPr lang="en-GB" dirty="0"/>
              <a:t>};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72824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EBE76D-B33C-6133-E08D-872F01D102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How they work?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702DE6-F166-CD1A-EFEF-ADC499E86A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Man-in-the-Middle Example:</a:t>
            </a:r>
          </a:p>
          <a:p>
            <a:pPr lvl="1"/>
            <a:r>
              <a:rPr lang="en-US" dirty="0"/>
              <a:t>Scenario: Attacker intercepts communication between a user and a banking site.</a:t>
            </a:r>
          </a:p>
          <a:p>
            <a:pPr lvl="1"/>
            <a:r>
              <a:rPr lang="en-US" dirty="0"/>
              <a:t>Encryption, using VPNs and 2FA are the key mitigating scenarios here.</a:t>
            </a:r>
            <a:endParaRPr lang="en-PK" dirty="0"/>
          </a:p>
          <a:p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26357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DD4BD3-0DEA-74E8-8AA5-0D61F752EE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Authentication and Authorization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78E73B-20C2-2534-1E31-C441FA536F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Differentiate between authentication and authorization?</a:t>
            </a:r>
          </a:p>
        </p:txBody>
      </p:sp>
    </p:spTree>
    <p:extLst>
      <p:ext uri="{BB962C8B-B14F-4D97-AF65-F5344CB8AC3E}">
        <p14:creationId xmlns:p14="http://schemas.microsoft.com/office/powerpoint/2010/main" val="18758876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DD4BD3-0DEA-74E8-8AA5-0D61F752EE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Authentication and Authorization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78E73B-20C2-2534-1E31-C441FA536F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Common authentication methods: password-based, token-based, and biometric authentication.</a:t>
            </a:r>
          </a:p>
          <a:p>
            <a:pPr algn="just"/>
            <a:r>
              <a:rPr lang="en-US" dirty="0"/>
              <a:t>Example: Implementing a basic authentication system in a sample web application.</a:t>
            </a:r>
          </a:p>
          <a:p>
            <a:pPr algn="just"/>
            <a:r>
              <a:rPr lang="en-US" dirty="0"/>
              <a:t>We prefer role-based authorization on controllers' methods(backend) and on the interface (frontend).</a:t>
            </a:r>
            <a:endParaRPr lang="en-PK" dirty="0"/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74592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5AA76E-0970-4B7B-0DA4-2584E8A8E1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Secure Data Handling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950A68-439B-401E-9225-95F0C63E91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 </a:t>
            </a:r>
            <a:r>
              <a:rPr lang="en-US" dirty="0">
                <a:solidFill>
                  <a:srgbClr val="00B050"/>
                </a:solidFill>
              </a:rPr>
              <a:t>encryption</a:t>
            </a:r>
            <a:r>
              <a:rPr lang="en-US" dirty="0"/>
              <a:t> in transit and at rest.</a:t>
            </a:r>
          </a:p>
          <a:p>
            <a:r>
              <a:rPr lang="en-US" dirty="0"/>
              <a:t>Best practices for securing sensitive information on the client-side.</a:t>
            </a:r>
          </a:p>
          <a:p>
            <a:r>
              <a:rPr lang="en-US" dirty="0"/>
              <a:t>Explore secure storage mechanisms for client-side data.</a:t>
            </a:r>
          </a:p>
          <a:p>
            <a:pPr lvl="1"/>
            <a:r>
              <a:rPr lang="en-US" dirty="0"/>
              <a:t>Is it encrypted?</a:t>
            </a:r>
          </a:p>
          <a:p>
            <a:r>
              <a:rPr lang="en-US" dirty="0"/>
              <a:t>Example: Implementing end-to-end encryption in a messaging app.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4426577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9D9AA7-E330-74EF-A944-9DE4E16B3B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Securing API Requests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300AE4-FEB5-D786-7589-970F88B0CE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Not every service is free.</a:t>
            </a:r>
          </a:p>
          <a:p>
            <a:r>
              <a:rPr lang="en-US" dirty="0"/>
              <a:t>How can we protect our end points (mainly backend concern), but frontend usually requires a passcode (also known as token, which is normally encrypted)</a:t>
            </a:r>
          </a:p>
          <a:p>
            <a:r>
              <a:rPr lang="en-US" dirty="0"/>
              <a:t>API key best practices.</a:t>
            </a:r>
          </a:p>
          <a:p>
            <a:r>
              <a:rPr lang="en-US" dirty="0"/>
              <a:t>Adding JWT to your service and sending that to the frontend (if authorized).</a:t>
            </a:r>
          </a:p>
          <a:p>
            <a:r>
              <a:rPr lang="en-US" dirty="0"/>
              <a:t>Example: Implementing secure API requests in a front-end application.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71122515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544A5B-BAB1-2925-D6E2-44AAD2A7CF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Safe API Communication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889EC1-3AE8-D632-9545-7E1DD3FA48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Secure Token Storage:</a:t>
            </a:r>
          </a:p>
          <a:p>
            <a:r>
              <a:rPr lang="en-GB" dirty="0">
                <a:solidFill>
                  <a:srgbClr val="FF0000"/>
                </a:solidFill>
              </a:rPr>
              <a:t>Vulnerable: </a:t>
            </a:r>
          </a:p>
          <a:p>
            <a:pPr lvl="1"/>
            <a:r>
              <a:rPr lang="en-GB" dirty="0"/>
              <a:t>Local Storage (e.g., </a:t>
            </a:r>
            <a:r>
              <a:rPr lang="en-GB" dirty="0" err="1"/>
              <a:t>localStorage.setItem</a:t>
            </a:r>
            <a:r>
              <a:rPr lang="en-GB" dirty="0"/>
              <a:t>("token", token)).</a:t>
            </a:r>
          </a:p>
          <a:p>
            <a:r>
              <a:rPr lang="en-GB" dirty="0">
                <a:solidFill>
                  <a:srgbClr val="00B050"/>
                </a:solidFill>
              </a:rPr>
              <a:t>Better Practice: </a:t>
            </a:r>
          </a:p>
          <a:p>
            <a:pPr lvl="1"/>
            <a:r>
              <a:rPr lang="en-GB" dirty="0" err="1"/>
              <a:t>HttpOnly</a:t>
            </a:r>
            <a:r>
              <a:rPr lang="en-GB" dirty="0"/>
              <a:t> cookies for storing tokens</a:t>
            </a:r>
          </a:p>
        </p:txBody>
      </p:sp>
    </p:spTree>
    <p:extLst>
      <p:ext uri="{BB962C8B-B14F-4D97-AF65-F5344CB8AC3E}">
        <p14:creationId xmlns:p14="http://schemas.microsoft.com/office/powerpoint/2010/main" val="7804882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21CD51-3057-AE92-341F-CC21815E9F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React-Specific Security Features</a:t>
            </a:r>
            <a:endParaRPr lang="en-GB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8C2D6D-907E-0254-E26A-15F42F1028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GB" dirty="0"/>
              <a:t>Adding Strict Mode:</a:t>
            </a:r>
          </a:p>
          <a:p>
            <a:r>
              <a:rPr lang="en-GB" dirty="0"/>
              <a:t>import React from 'react';</a:t>
            </a:r>
          </a:p>
          <a:p>
            <a:r>
              <a:rPr lang="en-GB" dirty="0"/>
              <a:t>import </a:t>
            </a:r>
            <a:r>
              <a:rPr lang="en-GB" dirty="0" err="1"/>
              <a:t>ReactDOM</a:t>
            </a:r>
            <a:r>
              <a:rPr lang="en-GB" dirty="0"/>
              <a:t> from 'react-</a:t>
            </a:r>
            <a:r>
              <a:rPr lang="en-GB" dirty="0" err="1"/>
              <a:t>dom</a:t>
            </a:r>
            <a:r>
              <a:rPr lang="en-GB" dirty="0"/>
              <a:t>';</a:t>
            </a:r>
          </a:p>
          <a:p>
            <a:endParaRPr lang="en-GB" dirty="0"/>
          </a:p>
          <a:p>
            <a:r>
              <a:rPr lang="en-GB" dirty="0" err="1"/>
              <a:t>ReactDOM.createRoot</a:t>
            </a:r>
            <a:r>
              <a:rPr lang="en-GB" dirty="0"/>
              <a:t>(</a:t>
            </a:r>
            <a:r>
              <a:rPr lang="en-GB" dirty="0" err="1"/>
              <a:t>document.getElementById</a:t>
            </a:r>
            <a:r>
              <a:rPr lang="en-GB" dirty="0"/>
              <a:t>('root')).render(</a:t>
            </a:r>
          </a:p>
          <a:p>
            <a:r>
              <a:rPr lang="en-GB" dirty="0"/>
              <a:t>  &lt;</a:t>
            </a:r>
            <a:r>
              <a:rPr lang="en-GB" dirty="0" err="1"/>
              <a:t>React.StrictMode</a:t>
            </a:r>
            <a:r>
              <a:rPr lang="en-GB" dirty="0"/>
              <a:t>&gt;</a:t>
            </a:r>
          </a:p>
          <a:p>
            <a:r>
              <a:rPr lang="en-GB" dirty="0"/>
              <a:t>    &lt;App /&gt;</a:t>
            </a:r>
          </a:p>
          <a:p>
            <a:r>
              <a:rPr lang="en-GB" dirty="0"/>
              <a:t>  &lt;/</a:t>
            </a:r>
            <a:r>
              <a:rPr lang="en-GB" dirty="0" err="1"/>
              <a:t>React.StrictMode</a:t>
            </a:r>
            <a:r>
              <a:rPr lang="en-GB" dirty="0"/>
              <a:t>&gt;</a:t>
            </a:r>
          </a:p>
          <a:p>
            <a:r>
              <a:rPr lang="en-GB" dirty="0"/>
              <a:t>);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156521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319AF3-9219-453E-5DD5-ACC8B34851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Security Considerations in Deployment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5B960E-C26E-157A-2F29-D7A420B161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Do not put your configuration file on a public repository or GitHub for example.</a:t>
            </a:r>
          </a:p>
          <a:p>
            <a:r>
              <a:rPr lang="en-US" dirty="0"/>
              <a:t>How to store passwords?</a:t>
            </a:r>
          </a:p>
          <a:p>
            <a:pPr lvl="1"/>
            <a:r>
              <a:rPr lang="en-US" dirty="0"/>
              <a:t>Secrets (Hashing)</a:t>
            </a:r>
          </a:p>
          <a:p>
            <a:pPr lvl="1"/>
            <a:r>
              <a:rPr lang="en-US" dirty="0"/>
              <a:t>Salt and Pepper (</a:t>
            </a:r>
            <a:r>
              <a:rPr lang="en-US" dirty="0">
                <a:solidFill>
                  <a:srgbClr val="00B050"/>
                </a:solidFill>
              </a:rPr>
              <a:t>OWASP</a:t>
            </a:r>
            <a:r>
              <a:rPr lang="en-US" dirty="0"/>
              <a:t>)</a:t>
            </a:r>
          </a:p>
          <a:p>
            <a:pPr lvl="2"/>
            <a:r>
              <a:rPr lang="en-US" dirty="0"/>
              <a:t>Each user have a randomized unique hash, even if they have same password</a:t>
            </a:r>
          </a:p>
          <a:p>
            <a:pPr lvl="2"/>
            <a:r>
              <a:rPr lang="en-US" dirty="0"/>
              <a:t>Attacker can’t guess the password easily even if they have hash</a:t>
            </a:r>
          </a:p>
          <a:p>
            <a:pPr lvl="1"/>
            <a:r>
              <a:rPr lang="en-US" dirty="0"/>
              <a:t>GDPR rules</a:t>
            </a:r>
          </a:p>
          <a:p>
            <a:r>
              <a:rPr lang="en-US" dirty="0"/>
              <a:t>Regular security audits and updates.</a:t>
            </a:r>
          </a:p>
          <a:p>
            <a:r>
              <a:rPr lang="en-US" dirty="0"/>
              <a:t>Monitoring and logging in identifying security threats.</a:t>
            </a:r>
          </a:p>
          <a:p>
            <a:r>
              <a:rPr lang="en-US" dirty="0"/>
              <a:t>Example: Deploying a secure web application on a cloud platform (Using the best provided Standards).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85767638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9D68DF-B0A8-6CB2-F327-E99F919CFE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Secure State Management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052B77-74C4-E672-48D0-B929A75340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GB" dirty="0"/>
              <a:t>Risk: Sensitive information in Redux store can be exposed if dev tools are open.</a:t>
            </a:r>
          </a:p>
          <a:p>
            <a:r>
              <a:rPr lang="en-GB" dirty="0">
                <a:solidFill>
                  <a:srgbClr val="00B050"/>
                </a:solidFill>
              </a:rPr>
              <a:t>Solution: Use redux-persist with encryption:</a:t>
            </a:r>
          </a:p>
          <a:p>
            <a:r>
              <a:rPr lang="en-GB" dirty="0">
                <a:solidFill>
                  <a:schemeClr val="tx1"/>
                </a:solidFill>
              </a:rPr>
              <a:t>import storage from 'redux-persist/lib/storage';</a:t>
            </a:r>
          </a:p>
          <a:p>
            <a:r>
              <a:rPr lang="en-GB" dirty="0">
                <a:solidFill>
                  <a:schemeClr val="tx1"/>
                </a:solidFill>
              </a:rPr>
              <a:t>import { </a:t>
            </a:r>
            <a:r>
              <a:rPr lang="en-GB" dirty="0" err="1">
                <a:solidFill>
                  <a:schemeClr val="tx1"/>
                </a:solidFill>
              </a:rPr>
              <a:t>encryptTransform</a:t>
            </a:r>
            <a:r>
              <a:rPr lang="en-GB" dirty="0">
                <a:solidFill>
                  <a:schemeClr val="tx1"/>
                </a:solidFill>
              </a:rPr>
              <a:t> } from 'redux-persist-transform-encrypt';</a:t>
            </a:r>
          </a:p>
          <a:p>
            <a:endParaRPr lang="en-GB" dirty="0">
              <a:solidFill>
                <a:schemeClr val="tx1"/>
              </a:solidFill>
            </a:endParaRPr>
          </a:p>
          <a:p>
            <a:r>
              <a:rPr lang="en-GB" dirty="0" err="1">
                <a:solidFill>
                  <a:schemeClr val="tx1"/>
                </a:solidFill>
              </a:rPr>
              <a:t>const</a:t>
            </a:r>
            <a:r>
              <a:rPr lang="en-GB" dirty="0">
                <a:solidFill>
                  <a:schemeClr val="tx1"/>
                </a:solidFill>
              </a:rPr>
              <a:t> </a:t>
            </a:r>
            <a:r>
              <a:rPr lang="en-GB" dirty="0" err="1">
                <a:solidFill>
                  <a:schemeClr val="tx1"/>
                </a:solidFill>
              </a:rPr>
              <a:t>persistConfig</a:t>
            </a:r>
            <a:r>
              <a:rPr lang="en-GB" dirty="0">
                <a:solidFill>
                  <a:schemeClr val="tx1"/>
                </a:solidFill>
              </a:rPr>
              <a:t> = {</a:t>
            </a:r>
          </a:p>
          <a:p>
            <a:r>
              <a:rPr lang="en-GB" dirty="0">
                <a:solidFill>
                  <a:schemeClr val="tx1"/>
                </a:solidFill>
              </a:rPr>
              <a:t>  key: 'root',</a:t>
            </a:r>
          </a:p>
          <a:p>
            <a:r>
              <a:rPr lang="en-GB" dirty="0">
                <a:solidFill>
                  <a:schemeClr val="tx1"/>
                </a:solidFill>
              </a:rPr>
              <a:t>  storage,</a:t>
            </a:r>
          </a:p>
          <a:p>
            <a:r>
              <a:rPr lang="en-GB" dirty="0">
                <a:solidFill>
                  <a:schemeClr val="tx1"/>
                </a:solidFill>
              </a:rPr>
              <a:t>  transforms: [</a:t>
            </a:r>
            <a:r>
              <a:rPr lang="en-GB" dirty="0" err="1">
                <a:solidFill>
                  <a:schemeClr val="tx1"/>
                </a:solidFill>
              </a:rPr>
              <a:t>encryptTransform</a:t>
            </a:r>
            <a:r>
              <a:rPr lang="en-GB" dirty="0">
                <a:solidFill>
                  <a:schemeClr val="tx1"/>
                </a:solidFill>
              </a:rPr>
              <a:t>({ </a:t>
            </a:r>
            <a:r>
              <a:rPr lang="en-GB" dirty="0" err="1">
                <a:solidFill>
                  <a:schemeClr val="tx1"/>
                </a:solidFill>
              </a:rPr>
              <a:t>secretKey</a:t>
            </a:r>
            <a:r>
              <a:rPr lang="en-GB" dirty="0">
                <a:solidFill>
                  <a:schemeClr val="tx1"/>
                </a:solidFill>
              </a:rPr>
              <a:t>: 'my-super-secret-key' })],</a:t>
            </a:r>
          </a:p>
          <a:p>
            <a:r>
              <a:rPr lang="en-GB" dirty="0">
                <a:solidFill>
                  <a:schemeClr val="tx1"/>
                </a:solidFill>
              </a:rPr>
              <a:t>};</a:t>
            </a:r>
          </a:p>
          <a:p>
            <a:endParaRPr lang="en-GB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964392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C60F2A-8F82-FA10-3CC7-3089E24627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Salt and Pepper(Server side)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96B9BE-6F1F-5DA6-5B89-31BA189986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salt is a random value unique to each password. It is concatenated with the password before hashing.</a:t>
            </a:r>
          </a:p>
          <a:p>
            <a:r>
              <a:rPr lang="en-US" dirty="0"/>
              <a:t>A pepper is a secret, static value that is kept separate from the hashed password. It is not stored in the database but is used during the hashing process.</a:t>
            </a: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13599672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E4EA68-0055-FBAF-A52D-04FD4104A4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CSP and HTML Encoding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88D11B-2870-30EE-8DD3-D141415B41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Content Security Policy (CSP) and HTML encoding are important security measures to prevent Cross-Site Scripting (XSS) attacks in web applications.</a:t>
            </a:r>
          </a:p>
          <a:p>
            <a:r>
              <a:rPr lang="en-US" dirty="0"/>
              <a:t>CSP is typically on the server side (we have already covered this in dot net core API lecture)</a:t>
            </a:r>
          </a:p>
          <a:p>
            <a:r>
              <a:rPr lang="en-US" dirty="0"/>
              <a:t>Avoid the use of inline scripts and styles whenever possible. </a:t>
            </a:r>
            <a:r>
              <a:rPr lang="en-US" dirty="0">
                <a:solidFill>
                  <a:srgbClr val="FF0000"/>
                </a:solidFill>
              </a:rPr>
              <a:t>CSP may restrict or block inline scripts.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&lt;div style={{ color: 'red' }}&gt;Hello, World!&lt;/div&gt;</a:t>
            </a:r>
            <a:endParaRPr lang="en-PK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917908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E4EA68-0055-FBAF-A52D-04FD4104A4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CSP and HTML Encoding (Coursework)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88D11B-2870-30EE-8DD3-D141415B41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Libraries like </a:t>
            </a:r>
            <a:r>
              <a:rPr lang="en-US" dirty="0" err="1"/>
              <a:t>DOMPurify</a:t>
            </a:r>
            <a:r>
              <a:rPr lang="en-US" dirty="0"/>
              <a:t> help sanitize and encode HTML content, preventing XSS attacks.</a:t>
            </a:r>
          </a:p>
          <a:p>
            <a:r>
              <a:rPr lang="en-US" dirty="0"/>
              <a:t>Example (Using </a:t>
            </a:r>
            <a:r>
              <a:rPr lang="en-US" dirty="0" err="1"/>
              <a:t>DOMPurify</a:t>
            </a:r>
            <a:r>
              <a:rPr lang="en-US" dirty="0"/>
              <a:t>):</a:t>
            </a:r>
          </a:p>
          <a:p>
            <a:r>
              <a:rPr lang="en-US" dirty="0">
                <a:solidFill>
                  <a:srgbClr val="FF0000"/>
                </a:solidFill>
              </a:rPr>
              <a:t>import </a:t>
            </a:r>
            <a:r>
              <a:rPr lang="en-US" dirty="0" err="1">
                <a:solidFill>
                  <a:srgbClr val="FF0000"/>
                </a:solidFill>
              </a:rPr>
              <a:t>DOMPurify</a:t>
            </a:r>
            <a:r>
              <a:rPr lang="en-US" dirty="0">
                <a:solidFill>
                  <a:srgbClr val="FF0000"/>
                </a:solidFill>
              </a:rPr>
              <a:t> from '</a:t>
            </a:r>
            <a:r>
              <a:rPr lang="en-US" dirty="0" err="1">
                <a:solidFill>
                  <a:srgbClr val="FF0000"/>
                </a:solidFill>
              </a:rPr>
              <a:t>dompurify</a:t>
            </a:r>
            <a:r>
              <a:rPr lang="en-US" dirty="0">
                <a:solidFill>
                  <a:srgbClr val="FF0000"/>
                </a:solidFill>
              </a:rPr>
              <a:t>';</a:t>
            </a:r>
          </a:p>
          <a:p>
            <a:endParaRPr lang="en-US" dirty="0">
              <a:solidFill>
                <a:srgbClr val="FF0000"/>
              </a:solidFill>
            </a:endParaRPr>
          </a:p>
          <a:p>
            <a:r>
              <a:rPr lang="en-US" dirty="0">
                <a:solidFill>
                  <a:srgbClr val="FF0000"/>
                </a:solidFill>
              </a:rPr>
              <a:t>const Comment = ({ text }) =&gt; {</a:t>
            </a:r>
          </a:p>
          <a:p>
            <a:r>
              <a:rPr lang="en-US" dirty="0">
                <a:solidFill>
                  <a:srgbClr val="FF0000"/>
                </a:solidFill>
              </a:rPr>
              <a:t>  const </a:t>
            </a:r>
            <a:r>
              <a:rPr lang="en-US" dirty="0" err="1">
                <a:solidFill>
                  <a:srgbClr val="FF0000"/>
                </a:solidFill>
              </a:rPr>
              <a:t>sanitizedText</a:t>
            </a:r>
            <a:r>
              <a:rPr lang="en-US" dirty="0">
                <a:solidFill>
                  <a:srgbClr val="FF0000"/>
                </a:solidFill>
              </a:rPr>
              <a:t> = </a:t>
            </a:r>
            <a:r>
              <a:rPr lang="en-US" dirty="0" err="1">
                <a:solidFill>
                  <a:srgbClr val="FF0000"/>
                </a:solidFill>
              </a:rPr>
              <a:t>DOMPurify.sanitize</a:t>
            </a:r>
            <a:r>
              <a:rPr lang="en-US" dirty="0">
                <a:solidFill>
                  <a:srgbClr val="FF0000"/>
                </a:solidFill>
              </a:rPr>
              <a:t>(text);</a:t>
            </a:r>
          </a:p>
          <a:p>
            <a:endParaRPr lang="en-US" dirty="0">
              <a:solidFill>
                <a:srgbClr val="FF0000"/>
              </a:solidFill>
            </a:endParaRPr>
          </a:p>
          <a:p>
            <a:r>
              <a:rPr lang="en-US" dirty="0">
                <a:solidFill>
                  <a:srgbClr val="FF0000"/>
                </a:solidFill>
              </a:rPr>
              <a:t>  return &lt;div </a:t>
            </a:r>
            <a:r>
              <a:rPr lang="en-US" dirty="0" err="1">
                <a:solidFill>
                  <a:srgbClr val="FF0000"/>
                </a:solidFill>
              </a:rPr>
              <a:t>dangerouslySetInnerHTML</a:t>
            </a:r>
            <a:r>
              <a:rPr lang="en-US" dirty="0">
                <a:solidFill>
                  <a:srgbClr val="FF0000"/>
                </a:solidFill>
              </a:rPr>
              <a:t>={{ __html: </a:t>
            </a:r>
            <a:r>
              <a:rPr lang="en-US" dirty="0" err="1">
                <a:solidFill>
                  <a:srgbClr val="FF0000"/>
                </a:solidFill>
              </a:rPr>
              <a:t>sanitizedText</a:t>
            </a:r>
            <a:r>
              <a:rPr lang="en-US" dirty="0">
                <a:solidFill>
                  <a:srgbClr val="FF0000"/>
                </a:solidFill>
              </a:rPr>
              <a:t> }} /&gt;;</a:t>
            </a:r>
          </a:p>
          <a:p>
            <a:r>
              <a:rPr lang="en-US" dirty="0">
                <a:solidFill>
                  <a:srgbClr val="FF0000"/>
                </a:solidFill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126205657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12E442-FA07-833E-3629-A399EE9876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dangerouslySetInnerHTML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1681FC-78F8-1CB9-F6A3-6D62F4837D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While </a:t>
            </a:r>
            <a:r>
              <a:rPr lang="en-US" dirty="0" err="1"/>
              <a:t>dangerouslySetInnerHTML</a:t>
            </a:r>
            <a:r>
              <a:rPr lang="en-US" dirty="0"/>
              <a:t> should be used cautiously, there are legitimate use cases where it might be necessary, such as </a:t>
            </a:r>
            <a:r>
              <a:rPr lang="en-US" dirty="0">
                <a:solidFill>
                  <a:srgbClr val="00B050"/>
                </a:solidFill>
              </a:rPr>
              <a:t>when integrating with third-party libraries that generate HTML content or when rendering HTML content that is known to be safe and under your control</a:t>
            </a:r>
            <a:r>
              <a:rPr lang="en-US" dirty="0"/>
              <a:t>.</a:t>
            </a:r>
          </a:p>
          <a:p>
            <a:r>
              <a:rPr lang="en-US" dirty="0"/>
              <a:t>Always prioritize security and follow best practices to mitigate potential risks when using </a:t>
            </a:r>
            <a:r>
              <a:rPr lang="en-US" dirty="0" err="1"/>
              <a:t>dangerouslySetInnerHTML</a:t>
            </a:r>
            <a:r>
              <a:rPr lang="en-US" dirty="0"/>
              <a:t>.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99428257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100</TotalTime>
  <Words>1471</Words>
  <Application>Microsoft Office PowerPoint</Application>
  <PresentationFormat>Widescreen</PresentationFormat>
  <Paragraphs>151</Paragraphs>
  <Slides>28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2" baseType="lpstr">
      <vt:lpstr>Aptos</vt:lpstr>
      <vt:lpstr>Arial</vt:lpstr>
      <vt:lpstr>Garamond</vt:lpstr>
      <vt:lpstr>Organic</vt:lpstr>
      <vt:lpstr>Advanced Client-Side Development</vt:lpstr>
      <vt:lpstr>Intro to client-side security</vt:lpstr>
      <vt:lpstr>Importance of Securing Client-Side Applications:</vt:lpstr>
      <vt:lpstr>Common Threats: Cross-Site Scripting (XSS), Cross-Site Request Forgery (CSRF)</vt:lpstr>
      <vt:lpstr>Cross-Site Scripting (XSS)</vt:lpstr>
      <vt:lpstr>Cross-Site Request Forgery (CSRF)</vt:lpstr>
      <vt:lpstr>Other Common Threats:</vt:lpstr>
      <vt:lpstr>How they work?</vt:lpstr>
      <vt:lpstr>Bad Example</vt:lpstr>
      <vt:lpstr>Secure Example</vt:lpstr>
      <vt:lpstr>How they work?</vt:lpstr>
      <vt:lpstr>Bad Example</vt:lpstr>
      <vt:lpstr>Secure Example</vt:lpstr>
      <vt:lpstr>Sanitizing Inputs (Bad Example)</vt:lpstr>
      <vt:lpstr>Secure Form Handling</vt:lpstr>
      <vt:lpstr>How they work?</vt:lpstr>
      <vt:lpstr>Authentication and Authorization</vt:lpstr>
      <vt:lpstr>Authentication and Authorization</vt:lpstr>
      <vt:lpstr>Secure Data Handling</vt:lpstr>
      <vt:lpstr>Securing API Requests</vt:lpstr>
      <vt:lpstr>Safe API Communication</vt:lpstr>
      <vt:lpstr>React-Specific Security Features</vt:lpstr>
      <vt:lpstr>Security Considerations in Deployment</vt:lpstr>
      <vt:lpstr>Secure State Management</vt:lpstr>
      <vt:lpstr>Salt and Pepper(Server side)</vt:lpstr>
      <vt:lpstr>CSP and HTML Encoding</vt:lpstr>
      <vt:lpstr>CSP and HTML Encoding (Coursework)</vt:lpstr>
      <vt:lpstr>dangerouslySetInnerHTML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Advanced Client-Side Development</dc:title>
  <dc:creator>Ebad Majeed</dc:creator>
  <cp:lastModifiedBy>Ebad Majeed</cp:lastModifiedBy>
  <cp:revision>3</cp:revision>
  <dcterms:created xsi:type="dcterms:W3CDTF">2023-12-12T05:24:33Z</dcterms:created>
  <dcterms:modified xsi:type="dcterms:W3CDTF">2024-12-03T08:46:06Z</dcterms:modified>
</cp:coreProperties>
</file>