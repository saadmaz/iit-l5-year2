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8"/>
  </p:notesMasterIdLst>
  <p:sldIdLst>
    <p:sldId id="256" r:id="rId2"/>
    <p:sldId id="269" r:id="rId3"/>
    <p:sldId id="270" r:id="rId4"/>
    <p:sldId id="271" r:id="rId5"/>
    <p:sldId id="275" r:id="rId6"/>
    <p:sldId id="276" r:id="rId7"/>
    <p:sldId id="274" r:id="rId8"/>
    <p:sldId id="280" r:id="rId9"/>
    <p:sldId id="281" r:id="rId10"/>
    <p:sldId id="272" r:id="rId11"/>
    <p:sldId id="282" r:id="rId12"/>
    <p:sldId id="283" r:id="rId13"/>
    <p:sldId id="273" r:id="rId14"/>
    <p:sldId id="277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6208"/>
  </p:normalViewPr>
  <p:slideViewPr>
    <p:cSldViewPr snapToGrid="0" snapToObjects="1">
      <p:cViewPr varScale="1">
        <p:scale>
          <a:sx n="128" d="100"/>
          <a:sy n="128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5CCEC-3A71-1F4D-907C-935A842EB865}" type="datetimeFigureOut">
              <a:rPr lang="en-US" smtClean="0"/>
              <a:t>10/5/22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3C066-11B7-084B-A60A-0B7FD2601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7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3C066-11B7-084B-A60A-0B7FD2601E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2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5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1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5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0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25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3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2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91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25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46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76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14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4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402167E-E61D-1847-BC4B-4D2EB42AA19B}" type="datetimeFigureOut">
              <a:rPr lang="en-US" smtClean="0"/>
              <a:t>10/5/22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97EF96F-4B3C-0F49-8DD4-BAE71A126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93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stelle.github.io/CSS/gradients/files/base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ndardista.com/cssgradients/" TargetMode="External"/><Relationship Id="rId2" Type="http://schemas.openxmlformats.org/officeDocument/2006/relationships/hyperlink" Target="https://projects.verou.me/css3patter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8EE-2762-894C-B348-6A1EF5F336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53FA9-00B7-4C43-92DC-77743C695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CSS</a:t>
            </a:r>
          </a:p>
        </p:txBody>
      </p:sp>
    </p:spTree>
    <p:extLst>
      <p:ext uri="{BB962C8B-B14F-4D97-AF65-F5344CB8AC3E}">
        <p14:creationId xmlns:p14="http://schemas.microsoft.com/office/powerpoint/2010/main" val="205596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4" name="Rectangle 13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622187-E3B4-F04B-BBE5-E4D08D67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71" y="1169773"/>
            <a:ext cx="8825658" cy="28701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Gradients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999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22ED-9A15-8347-997C-3B319BD8D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9238-F49C-7C48-8630-35F3B0B4A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Anywhere an image can be used (theoretically)</a:t>
            </a:r>
          </a:p>
          <a:p>
            <a:pPr lvl="1"/>
            <a:r>
              <a:rPr lang="en-GB" dirty="0"/>
              <a:t>background-image, list-style-type, border-image, content, cursor</a:t>
            </a:r>
          </a:p>
          <a:p>
            <a:r>
              <a:rPr lang="en-GB" dirty="0"/>
              <a:t>6 Gradient Types</a:t>
            </a:r>
          </a:p>
          <a:p>
            <a:pPr lvl="1"/>
            <a:r>
              <a:rPr lang="en-GB" dirty="0"/>
              <a:t>linear-gradient();</a:t>
            </a:r>
          </a:p>
          <a:p>
            <a:pPr lvl="1"/>
            <a:r>
              <a:rPr lang="en-GB" dirty="0"/>
              <a:t>radial-gradient();</a:t>
            </a:r>
          </a:p>
          <a:p>
            <a:pPr lvl="1"/>
            <a:r>
              <a:rPr lang="en-GB" dirty="0"/>
              <a:t>conic-gradient();</a:t>
            </a:r>
          </a:p>
          <a:p>
            <a:pPr lvl="1"/>
            <a:r>
              <a:rPr lang="en-GB" dirty="0"/>
              <a:t>repeating-linear-gradient()</a:t>
            </a:r>
          </a:p>
          <a:p>
            <a:pPr lvl="1"/>
            <a:r>
              <a:rPr lang="en-GB" dirty="0"/>
              <a:t>repeating-radial-gradient()</a:t>
            </a:r>
          </a:p>
          <a:p>
            <a:pPr lvl="1"/>
            <a:r>
              <a:rPr lang="en-GB" dirty="0"/>
              <a:t>repeating-conic-gradient()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9A6A4-DF94-8142-86CD-A9E169FE72EB}"/>
              </a:ext>
            </a:extLst>
          </p:cNvPr>
          <p:cNvSpPr/>
          <p:nvPr/>
        </p:nvSpPr>
        <p:spPr>
          <a:xfrm>
            <a:off x="6544743" y="4965558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6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3530-C720-404A-9A04-DEB731C1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Gradient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9E6FF-D636-7F42-A216-81210596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98" y="2603500"/>
            <a:ext cx="11632602" cy="34163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linear-gradient( [ &lt;angle&gt; | to &lt;side-or-corner&gt; ,]?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-stop-list&gt; )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 [&lt;angle&gt; | to &lt;side-or-corner&gt;, ] ? [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[ ,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-hint&gt;]?, ]#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)</a:t>
            </a:r>
          </a:p>
          <a:p>
            <a:endParaRPr lang="en-GB" dirty="0"/>
          </a:p>
          <a:p>
            <a:r>
              <a:rPr lang="en-GB" dirty="0"/>
              <a:t>Things to remember:</a:t>
            </a:r>
          </a:p>
          <a:p>
            <a:pPr lvl="1"/>
            <a:r>
              <a:rPr lang="en-GB" dirty="0"/>
              <a:t>&lt;</a:t>
            </a:r>
            <a:r>
              <a:rPr lang="en-GB" dirty="0" err="1"/>
              <a:t>color</a:t>
            </a:r>
            <a:r>
              <a:rPr lang="en-GB" dirty="0"/>
              <a:t>-stop&gt; includes </a:t>
            </a:r>
            <a:r>
              <a:rPr lang="en-GB" dirty="0" err="1"/>
              <a:t>color</a:t>
            </a:r>
            <a:r>
              <a:rPr lang="en-GB" dirty="0"/>
              <a:t> and 0, 1, or 2 &lt;length-percentage&gt;</a:t>
            </a:r>
          </a:p>
          <a:p>
            <a:pPr lvl="1"/>
            <a:r>
              <a:rPr lang="en-GB" dirty="0"/>
              <a:t>Use 'to' with </a:t>
            </a:r>
            <a:r>
              <a:rPr lang="en-GB" dirty="0" err="1"/>
              <a:t>keyterms</a:t>
            </a:r>
            <a:endParaRPr lang="en-GB" dirty="0"/>
          </a:p>
          <a:p>
            <a:pPr lvl="1"/>
            <a:r>
              <a:rPr lang="en-GB" dirty="0"/>
              <a:t>0deg is to top</a:t>
            </a:r>
          </a:p>
          <a:p>
            <a:pPr lvl="1"/>
            <a:r>
              <a:rPr lang="en-GB" dirty="0"/>
              <a:t>Angles go clockwise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43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3530-C720-404A-9A04-DEB731C1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Gradient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9E6FF-D636-7F42-A216-81210596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98" y="2603500"/>
            <a:ext cx="11632602" cy="34163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linear-gradient( [ &lt;angle&gt; | to </a:t>
            </a:r>
            <a:r>
              <a:rPr lang="en-GB" b="1" dirty="0">
                <a:solidFill>
                  <a:schemeClr val="accent1"/>
                </a:solidFill>
              </a:rPr>
              <a:t>&lt;side-or-corner&gt; </a:t>
            </a:r>
            <a:r>
              <a:rPr lang="en-GB" dirty="0">
                <a:solidFill>
                  <a:schemeClr val="accent1"/>
                </a:solidFill>
              </a:rPr>
              <a:t>,]?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-stop-list&gt; )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 [&lt;angle&gt; | to </a:t>
            </a:r>
            <a:r>
              <a:rPr lang="en-GB" b="1" dirty="0">
                <a:solidFill>
                  <a:schemeClr val="accent1"/>
                </a:solidFill>
              </a:rPr>
              <a:t>&lt;side-or-corner&gt;</a:t>
            </a:r>
            <a:r>
              <a:rPr lang="en-GB" dirty="0">
                <a:solidFill>
                  <a:schemeClr val="accent1"/>
                </a:solidFill>
              </a:rPr>
              <a:t>, ] ? [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[ ,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-hint&gt;]?, ]#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)</a:t>
            </a:r>
          </a:p>
          <a:p>
            <a:endParaRPr lang="en-GB" dirty="0"/>
          </a:p>
          <a:p>
            <a:r>
              <a:rPr lang="en-GB" dirty="0"/>
              <a:t>Gradient progresses toward the declared side or corner.</a:t>
            </a:r>
          </a:p>
          <a:p>
            <a:r>
              <a:rPr lang="en-GB" dirty="0">
                <a:solidFill>
                  <a:schemeClr val="accent1"/>
                </a:solidFill>
              </a:rPr>
              <a:t>to [left | right] || [top | bottom]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D24095-28CE-6848-A6E4-F5C3084EF0F0}"/>
              </a:ext>
            </a:extLst>
          </p:cNvPr>
          <p:cNvSpPr/>
          <p:nvPr/>
        </p:nvSpPr>
        <p:spPr>
          <a:xfrm>
            <a:off x="5401235" y="4311650"/>
            <a:ext cx="1948927" cy="2308324"/>
          </a:xfrm>
          <a:prstGeom prst="rect">
            <a:avLst/>
          </a:prstGeom>
          <a:ln w="952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to top </a:t>
            </a:r>
          </a:p>
          <a:p>
            <a:r>
              <a:rPr lang="en-GB" dirty="0">
                <a:solidFill>
                  <a:schemeClr val="accent1"/>
                </a:solidFill>
              </a:rPr>
              <a:t>to bottom </a:t>
            </a:r>
          </a:p>
          <a:p>
            <a:r>
              <a:rPr lang="en-GB" dirty="0">
                <a:solidFill>
                  <a:schemeClr val="accent1"/>
                </a:solidFill>
              </a:rPr>
              <a:t>to left </a:t>
            </a:r>
          </a:p>
          <a:p>
            <a:r>
              <a:rPr lang="en-GB" dirty="0">
                <a:solidFill>
                  <a:schemeClr val="accent1"/>
                </a:solidFill>
              </a:rPr>
              <a:t>to right </a:t>
            </a:r>
          </a:p>
          <a:p>
            <a:r>
              <a:rPr lang="en-GB" dirty="0">
                <a:solidFill>
                  <a:schemeClr val="accent1"/>
                </a:solidFill>
              </a:rPr>
              <a:t>to top left </a:t>
            </a:r>
          </a:p>
          <a:p>
            <a:r>
              <a:rPr lang="en-GB" dirty="0">
                <a:solidFill>
                  <a:schemeClr val="accent1"/>
                </a:solidFill>
              </a:rPr>
              <a:t>to top right </a:t>
            </a:r>
          </a:p>
          <a:p>
            <a:r>
              <a:rPr lang="en-GB" dirty="0">
                <a:solidFill>
                  <a:schemeClr val="accent1"/>
                </a:solidFill>
              </a:rPr>
              <a:t>to bottom left</a:t>
            </a:r>
          </a:p>
          <a:p>
            <a:r>
              <a:rPr lang="en-GB" dirty="0">
                <a:solidFill>
                  <a:schemeClr val="accent1"/>
                </a:solidFill>
              </a:rPr>
              <a:t>to bottom right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79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A3530-C720-404A-9A04-DEB731C1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Gradient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9E6FF-D636-7F42-A216-81210596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98" y="2603500"/>
            <a:ext cx="11632602" cy="3416300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solidFill>
                  <a:schemeClr val="accent1"/>
                </a:solidFill>
              </a:rPr>
              <a:t>linear-gradient( [ </a:t>
            </a:r>
            <a:r>
              <a:rPr lang="en-GB" b="1" dirty="0">
                <a:solidFill>
                  <a:schemeClr val="accent1"/>
                </a:solidFill>
              </a:rPr>
              <a:t>&lt;angle&gt; </a:t>
            </a:r>
            <a:r>
              <a:rPr lang="en-GB" dirty="0">
                <a:solidFill>
                  <a:schemeClr val="accent1"/>
                </a:solidFill>
              </a:rPr>
              <a:t>| to &lt;side-or-corner&gt; ,]?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-stop-list&gt; )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 [</a:t>
            </a:r>
            <a:r>
              <a:rPr lang="en-GB" b="1" dirty="0">
                <a:solidFill>
                  <a:schemeClr val="accent1"/>
                </a:solidFill>
              </a:rPr>
              <a:t>&lt;angle&gt; </a:t>
            </a:r>
            <a:r>
              <a:rPr lang="en-GB" dirty="0">
                <a:solidFill>
                  <a:schemeClr val="accent1"/>
                </a:solidFill>
              </a:rPr>
              <a:t>| to &lt;side-or-corner&gt;, ] ? [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[ ,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-hint&gt;]?, ]#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)</a:t>
            </a:r>
            <a:endParaRPr lang="en-GB" dirty="0"/>
          </a:p>
          <a:p>
            <a:r>
              <a:rPr lang="en-GB" dirty="0"/>
              <a:t>Gradient progresses the declared angle.</a:t>
            </a:r>
          </a:p>
          <a:p>
            <a:r>
              <a:rPr lang="en-GB" dirty="0"/>
              <a:t>Degrees go clockwise, starting at 12:00</a:t>
            </a:r>
          </a:p>
          <a:p>
            <a:pPr lvl="1"/>
            <a:r>
              <a:rPr lang="en-GB" dirty="0"/>
              <a:t>top: 0deg;</a:t>
            </a:r>
          </a:p>
          <a:p>
            <a:pPr lvl="1"/>
            <a:r>
              <a:rPr lang="en-GB" dirty="0"/>
              <a:t>right: 90deg;</a:t>
            </a:r>
          </a:p>
          <a:p>
            <a:pPr lvl="1"/>
            <a:r>
              <a:rPr lang="en-GB" dirty="0"/>
              <a:t>bottom: 180deg;</a:t>
            </a:r>
          </a:p>
          <a:p>
            <a:pPr lvl="1"/>
            <a:r>
              <a:rPr lang="en-GB" dirty="0"/>
              <a:t>left: 270deg;</a:t>
            </a:r>
          </a:p>
          <a:p>
            <a:r>
              <a:rPr lang="en-GB" dirty="0"/>
              <a:t>0deg is the same as to top</a:t>
            </a:r>
          </a:p>
          <a:p>
            <a:r>
              <a:rPr lang="en-GB" dirty="0"/>
              <a:t>45deg is NOT the same as to top right</a:t>
            </a:r>
          </a:p>
          <a:p>
            <a:r>
              <a:rPr lang="en-GB" dirty="0" err="1"/>
              <a:t>deg</a:t>
            </a:r>
            <a:r>
              <a:rPr lang="en-GB" dirty="0"/>
              <a:t> is required</a:t>
            </a:r>
          </a:p>
        </p:txBody>
      </p:sp>
    </p:spTree>
    <p:extLst>
      <p:ext uri="{BB962C8B-B14F-4D97-AF65-F5344CB8AC3E}">
        <p14:creationId xmlns:p14="http://schemas.microsoft.com/office/powerpoint/2010/main" val="1586871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9C41-6907-B14F-B62E-D4F72274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color-stop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054A4-5E15-0C4C-A6B1-E7F9C4CA0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&gt; [ &lt;length&gt; || &lt;percentage&gt; ]</a:t>
            </a:r>
          </a:p>
          <a:p>
            <a:r>
              <a:rPr lang="en-GB" dirty="0"/>
              <a:t>Length? Any length unit</a:t>
            </a:r>
          </a:p>
          <a:p>
            <a:r>
              <a:rPr lang="en-GB" dirty="0"/>
              <a:t>Percent? relative to gradient line which is relative to image size</a:t>
            </a:r>
          </a:p>
          <a:p>
            <a:r>
              <a:rPr lang="en-GB" dirty="0"/>
              <a:t>Omitted? 0%, 100%, or evenly distributed in between</a:t>
            </a:r>
          </a:p>
          <a:p>
            <a:r>
              <a:rPr lang="en-GB" dirty="0"/>
              <a:t>Duplicate? Hard </a:t>
            </a:r>
            <a:r>
              <a:rPr lang="en-GB" dirty="0" err="1"/>
              <a:t>color</a:t>
            </a:r>
            <a:r>
              <a:rPr lang="en-GB" dirty="0"/>
              <a:t> stop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6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44C7-1DA6-0B46-A469-AC74A4C5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gradient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0753-CBD6-D74D-BB3D-E02A4D62A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chemeClr val="accent1"/>
                </a:solidFill>
              </a:rPr>
              <a:t>linear-gradient(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, magenta);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linear-gradient(45deg,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, magenta);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linear-gradient(to top,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, magenta); 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linear-gradient(to top right,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, magenta);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, magenta,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);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25%, magenta 50%,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75%);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25px, magenta 50px,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75px);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, 70%, magenta);</a:t>
            </a:r>
          </a:p>
          <a:p>
            <a:r>
              <a:rPr lang="en-GB" dirty="0">
                <a:solidFill>
                  <a:schemeClr val="accent1"/>
                </a:solidFill>
              </a:rPr>
              <a:t>linear-gradient(to right, blue 33%, white 33% 66%, red 66%);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54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87EB-C21E-404A-9BD2-3F43356F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Repeating linear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D18E4-A59E-9449-8AD3-F8B24340F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repeating-linear-gradient([&lt;angle&gt;| to &lt;side-or-corner&gt;,]? [&lt;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-stop&gt;[,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-hint&gt;]?, ]#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-stop&gt;)</a:t>
            </a:r>
          </a:p>
          <a:p>
            <a:r>
              <a:rPr lang="en-GB" dirty="0"/>
              <a:t>Things to remember:</a:t>
            </a:r>
          </a:p>
          <a:p>
            <a:pPr lvl="1"/>
            <a:r>
              <a:rPr lang="en-GB" dirty="0"/>
              <a:t>Use 'to' with </a:t>
            </a:r>
            <a:r>
              <a:rPr lang="en-GB" dirty="0" err="1"/>
              <a:t>keyterms</a:t>
            </a:r>
            <a:endParaRPr lang="en-GB" dirty="0"/>
          </a:p>
          <a:p>
            <a:pPr lvl="1"/>
            <a:r>
              <a:rPr lang="en-GB" dirty="0"/>
              <a:t>Angles go clockwise</a:t>
            </a:r>
          </a:p>
          <a:p>
            <a:pPr lvl="1"/>
            <a:r>
              <a:rPr lang="en-GB" dirty="0"/>
              <a:t>0deg is from left</a:t>
            </a:r>
          </a:p>
          <a:p>
            <a:pPr lvl="1"/>
            <a:r>
              <a:rPr lang="en-GB" dirty="0"/>
              <a:t>Width is last specified </a:t>
            </a:r>
            <a:r>
              <a:rPr lang="en-GB" dirty="0" err="1"/>
              <a:t>color</a:t>
            </a:r>
            <a:r>
              <a:rPr lang="en-GB" dirty="0"/>
              <a:t>-stop's position minus the first specified </a:t>
            </a:r>
            <a:r>
              <a:rPr lang="en-GB" dirty="0" err="1"/>
              <a:t>color</a:t>
            </a:r>
            <a:r>
              <a:rPr lang="en-GB" dirty="0"/>
              <a:t>-stop's position</a:t>
            </a:r>
          </a:p>
          <a:p>
            <a:pPr lvl="1"/>
            <a:r>
              <a:rPr lang="en-GB" dirty="0" err="1"/>
              <a:t>Color</a:t>
            </a:r>
            <a:r>
              <a:rPr lang="en-GB" dirty="0"/>
              <a:t> stops repeat indefinitely</a:t>
            </a:r>
          </a:p>
          <a:p>
            <a:pPr lvl="1"/>
            <a:r>
              <a:rPr lang="en-GB" dirty="0"/>
              <a:t>border </a:t>
            </a:r>
            <a:r>
              <a:rPr lang="en-GB" dirty="0" err="1"/>
              <a:t>color</a:t>
            </a:r>
            <a:r>
              <a:rPr lang="en-GB" dirty="0"/>
              <a:t>-stops will create hard transitions if gradient doesn't start and end with the same </a:t>
            </a:r>
            <a:r>
              <a:rPr lang="en-GB" dirty="0" err="1"/>
              <a:t>color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Example: </a:t>
            </a:r>
            <a:r>
              <a:rPr lang="en-GB" dirty="0">
                <a:solidFill>
                  <a:schemeClr val="accent1"/>
                </a:solidFill>
              </a:rPr>
              <a:t>repeating-linear-gradient(45deg,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10px, magenta 20px);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182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9641-0C72-A44F-9005-DC2A2A305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Gradient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7B99-289F-5D49-B760-1733134E3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548" y="2603500"/>
            <a:ext cx="11467652" cy="3416300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solidFill>
                  <a:schemeClr val="accent1"/>
                </a:solidFill>
              </a:rPr>
              <a:t>radial-gradient( [ &lt;ending-shape&gt; || &lt;size&gt; ]? [ at &lt;position&gt; ]? ,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-stop-list&gt; )</a:t>
            </a:r>
          </a:p>
          <a:p>
            <a:r>
              <a:rPr lang="en-GB" dirty="0">
                <a:solidFill>
                  <a:schemeClr val="accent1"/>
                </a:solidFill>
              </a:rPr>
              <a:t>radial-gradient( [ &lt;shape&gt; || &lt;size&gt; ]? [ at &lt;position&gt; ]? [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[,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-hint&gt;]?, ]# &lt;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-stop&gt; )</a:t>
            </a:r>
          </a:p>
          <a:p>
            <a:r>
              <a:rPr lang="en-GB" dirty="0"/>
              <a:t>Things to remember:</a:t>
            </a:r>
          </a:p>
          <a:p>
            <a:r>
              <a:rPr lang="en-GB" dirty="0"/>
              <a:t>Shape is circle or default ellipse</a:t>
            </a:r>
          </a:p>
          <a:p>
            <a:r>
              <a:rPr lang="en-GB" dirty="0"/>
              <a:t>Use 'at' with position</a:t>
            </a:r>
          </a:p>
          <a:p>
            <a:r>
              <a:rPr lang="en-GB" dirty="0"/>
              <a:t>position places </a:t>
            </a:r>
            <a:r>
              <a:rPr lang="en-GB" dirty="0" err="1"/>
              <a:t>center</a:t>
            </a:r>
            <a:r>
              <a:rPr lang="en-GB" dirty="0"/>
              <a:t> of gradient (default is </a:t>
            </a:r>
            <a:r>
              <a:rPr lang="en-GB" dirty="0" err="1"/>
              <a:t>center</a:t>
            </a:r>
            <a:r>
              <a:rPr lang="en-GB" dirty="0"/>
              <a:t> </a:t>
            </a:r>
            <a:r>
              <a:rPr lang="en-GB" dirty="0" err="1"/>
              <a:t>center</a:t>
            </a:r>
            <a:r>
              <a:rPr lang="en-GB" dirty="0"/>
              <a:t>)</a:t>
            </a:r>
          </a:p>
          <a:p>
            <a:r>
              <a:rPr lang="en-GB" dirty="0"/>
              <a:t>If shape is specified as circle or omitted, the size can be a length/percent</a:t>
            </a:r>
          </a:p>
          <a:p>
            <a:r>
              <a:rPr lang="en-GB" dirty="0"/>
              <a:t>gradient line starts from </a:t>
            </a:r>
            <a:r>
              <a:rPr lang="en-GB" dirty="0" err="1"/>
              <a:t>center</a:t>
            </a:r>
            <a:endParaRPr lang="en-GB" dirty="0"/>
          </a:p>
          <a:p>
            <a:r>
              <a:rPr lang="en-GB" dirty="0"/>
              <a:t>Shape OR size, not both</a:t>
            </a:r>
          </a:p>
          <a:p>
            <a:r>
              <a:rPr lang="en-GB" dirty="0"/>
              <a:t>&lt;size&gt; == [ &lt;width-height&gt; ] || [ &lt;width&gt; &lt;height&gt; ]</a:t>
            </a:r>
            <a:br>
              <a:rPr lang="en-GB" dirty="0"/>
            </a:br>
            <a:r>
              <a:rPr lang="en-GB" dirty="0"/>
              <a:t>                                  ︎circle                                ellipse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367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C9C6-3960-534E-8939-23693B9F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gradients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24E10-3002-CD42-863A-3F56A4C4A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66486" cy="3416300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radial-gradient(ellipse at </a:t>
            </a:r>
            <a:r>
              <a:rPr lang="en-GB" dirty="0" err="1">
                <a:solidFill>
                  <a:schemeClr val="accent1"/>
                </a:solidFill>
              </a:rPr>
              <a:t>center</a:t>
            </a:r>
            <a:r>
              <a:rPr lang="en-GB" dirty="0">
                <a:solidFill>
                  <a:schemeClr val="accent1"/>
                </a:solidFill>
              </a:rPr>
              <a:t>, magenta 0%,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100% );</a:t>
            </a:r>
          </a:p>
          <a:p>
            <a:r>
              <a:rPr lang="en-GB" dirty="0">
                <a:solidFill>
                  <a:schemeClr val="accent1"/>
                </a:solidFill>
              </a:rPr>
              <a:t>radial-gradient(ellipse at 75% 95%, magenta 10px,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100%);</a:t>
            </a:r>
          </a:p>
          <a:p>
            <a:r>
              <a:rPr lang="en-GB" dirty="0">
                <a:solidFill>
                  <a:schemeClr val="accent1"/>
                </a:solidFill>
              </a:rPr>
              <a:t>radial-gradient(ellipse at right 20px bottom 50px, magenta 10px,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100%);</a:t>
            </a:r>
          </a:p>
          <a:p>
            <a:r>
              <a:rPr lang="en-GB" dirty="0">
                <a:solidFill>
                  <a:schemeClr val="accent1"/>
                </a:solidFill>
              </a:rPr>
              <a:t>radial-gradient(ellipse, black 10px, magenta 10px 50%,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50%);</a:t>
            </a:r>
          </a:p>
          <a:p>
            <a:r>
              <a:rPr lang="en-GB" dirty="0">
                <a:solidFill>
                  <a:schemeClr val="accent1"/>
                </a:solidFill>
              </a:rPr>
              <a:t>radial-gradient(640px 490px, magenta 10px 50%,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50%);</a:t>
            </a:r>
          </a:p>
          <a:p>
            <a:r>
              <a:rPr lang="en-GB" dirty="0">
                <a:solidFill>
                  <a:schemeClr val="accent1"/>
                </a:solidFill>
              </a:rPr>
              <a:t>radial-gradient(640px, magenta 10px 50%,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50%);</a:t>
            </a:r>
          </a:p>
          <a:p>
            <a:r>
              <a:rPr lang="en-GB" dirty="0">
                <a:solidFill>
                  <a:schemeClr val="accent1"/>
                </a:solidFill>
              </a:rPr>
              <a:t>radial-gradient( circle at right 20px bottom 50px, magenta 10px,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 100%);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395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00DF-A67B-804C-9109-E1BCEAEC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Repeating radial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EB405-D6F3-1043-8905-85E58620D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repeating-radial-gradient([&lt;shape&gt;|| &lt;size&gt; at &lt;position&gt;]? [&lt;</a:t>
            </a:r>
            <a:r>
              <a:rPr lang="en-GB" dirty="0" err="1"/>
              <a:t>color</a:t>
            </a:r>
            <a:r>
              <a:rPr lang="en-GB" dirty="0"/>
              <a:t>-stop&gt;[, &lt;</a:t>
            </a:r>
            <a:r>
              <a:rPr lang="en-GB" dirty="0" err="1"/>
              <a:t>color</a:t>
            </a:r>
            <a:r>
              <a:rPr lang="en-GB" dirty="0"/>
              <a:t>-hint&gt;]?, ]# &lt;</a:t>
            </a:r>
            <a:r>
              <a:rPr lang="en-GB" dirty="0" err="1"/>
              <a:t>color</a:t>
            </a:r>
            <a:r>
              <a:rPr lang="en-GB" dirty="0"/>
              <a:t>-stop&gt;)</a:t>
            </a:r>
          </a:p>
          <a:p>
            <a:r>
              <a:rPr lang="en-GB" dirty="0"/>
              <a:t>Things to remember:</a:t>
            </a:r>
          </a:p>
          <a:p>
            <a:pPr lvl="1"/>
            <a:r>
              <a:rPr lang="en-GB" dirty="0"/>
              <a:t>repeat size is the difference </a:t>
            </a:r>
            <a:r>
              <a:rPr lang="en-GB" dirty="0" err="1"/>
              <a:t>beween</a:t>
            </a:r>
            <a:r>
              <a:rPr lang="en-GB" dirty="0"/>
              <a:t> the first </a:t>
            </a:r>
            <a:r>
              <a:rPr lang="en-GB" dirty="0" err="1"/>
              <a:t>color</a:t>
            </a:r>
            <a:r>
              <a:rPr lang="en-GB" dirty="0"/>
              <a:t> stop and the last </a:t>
            </a:r>
            <a:r>
              <a:rPr lang="en-GB" dirty="0" err="1"/>
              <a:t>color</a:t>
            </a:r>
            <a:r>
              <a:rPr lang="en-GB" dirty="0"/>
              <a:t> stop.</a:t>
            </a:r>
          </a:p>
          <a:p>
            <a:pPr lvl="1"/>
            <a:r>
              <a:rPr lang="en-GB" dirty="0"/>
              <a:t>repeats the radial gradient after the 100% mark.</a:t>
            </a:r>
          </a:p>
          <a:p>
            <a:pPr lvl="1"/>
            <a:r>
              <a:rPr lang="en-GB" dirty="0"/>
              <a:t>Has no impact when 'furthest-corner' is used or defaults for gradient size</a:t>
            </a:r>
          </a:p>
          <a:p>
            <a:pPr lvl="1"/>
            <a:r>
              <a:rPr lang="en-GB" dirty="0"/>
              <a:t>Use 'at' with position</a:t>
            </a:r>
          </a:p>
          <a:p>
            <a:pPr lvl="1"/>
            <a:r>
              <a:rPr lang="en-GB" dirty="0"/>
              <a:t>position is </a:t>
            </a:r>
            <a:r>
              <a:rPr lang="en-GB" dirty="0" err="1"/>
              <a:t>center</a:t>
            </a:r>
            <a:r>
              <a:rPr lang="en-GB" dirty="0"/>
              <a:t> of gradient</a:t>
            </a:r>
          </a:p>
          <a:p>
            <a:pPr lvl="1"/>
            <a:r>
              <a:rPr lang="en-GB" dirty="0"/>
              <a:t>If shape is specified as circle or omitted, the size can be a length/percent</a:t>
            </a:r>
          </a:p>
          <a:p>
            <a:pPr lvl="1"/>
            <a:r>
              <a:rPr lang="en-GB" dirty="0"/>
              <a:t>Example: repeating-radial-gradient(circle, magenta 0 40px, orange 40px 80px 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8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F509-C686-B34B-98C6-C8249D4F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Conic Gradient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FEC9A-C5F3-2A49-BE03-CC7DE947E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conic-gradient( [ [ from &lt;angle&gt; ]? [ at &lt;position&gt; ]?, ] &lt;angular-</a:t>
            </a:r>
            <a:r>
              <a:rPr lang="en-GB" dirty="0" err="1"/>
              <a:t>color</a:t>
            </a:r>
            <a:r>
              <a:rPr lang="en-GB" dirty="0"/>
              <a:t>-stop-list&gt; )</a:t>
            </a:r>
          </a:p>
          <a:p>
            <a:r>
              <a:rPr lang="en-GB" dirty="0"/>
              <a:t>angle is the start -&gt; rotates clockwise</a:t>
            </a:r>
          </a:p>
          <a:p>
            <a:r>
              <a:rPr lang="en-GB" dirty="0"/>
              <a:t>position is </a:t>
            </a:r>
            <a:r>
              <a:rPr lang="en-GB" dirty="0" err="1"/>
              <a:t>center</a:t>
            </a:r>
            <a:r>
              <a:rPr lang="en-GB" dirty="0"/>
              <a:t> of gradient</a:t>
            </a:r>
          </a:p>
          <a:p>
            <a:r>
              <a:rPr lang="en-GB" dirty="0"/>
              <a:t>gradient line in an arc circumference</a:t>
            </a:r>
          </a:p>
          <a:p>
            <a:r>
              <a:rPr lang="en-GB" dirty="0" err="1"/>
              <a:t>color</a:t>
            </a:r>
            <a:r>
              <a:rPr lang="en-GB" dirty="0"/>
              <a:t> stops are angles, not lengths</a:t>
            </a:r>
          </a:p>
          <a:p>
            <a:r>
              <a:rPr lang="en-GB" dirty="0"/>
              <a:t>&lt;</a:t>
            </a:r>
            <a:r>
              <a:rPr lang="en-GB" dirty="0" err="1"/>
              <a:t>color</a:t>
            </a:r>
            <a:r>
              <a:rPr lang="en-GB" dirty="0"/>
              <a:t>-stop&gt; includes </a:t>
            </a:r>
            <a:r>
              <a:rPr lang="en-GB" dirty="0" err="1"/>
              <a:t>color</a:t>
            </a:r>
            <a:r>
              <a:rPr lang="en-GB" dirty="0"/>
              <a:t> and 0, 1, or 2 &lt;angles&gt;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14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8C7E-167D-ED44-9CD6-444872060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with background-size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8EE7-6C0B-DF47-ABB6-04E8C2894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background-</a:t>
            </a:r>
            <a:r>
              <a:rPr lang="en-GB" dirty="0" err="1">
                <a:solidFill>
                  <a:schemeClr val="accent1"/>
                </a:solidFill>
              </a:rPr>
              <a:t>color</a:t>
            </a:r>
            <a:r>
              <a:rPr lang="en-GB" dirty="0">
                <a:solidFill>
                  <a:schemeClr val="accent1"/>
                </a:solidFill>
              </a:rPr>
              <a:t>: </a:t>
            </a:r>
            <a:r>
              <a:rPr lang="en-GB" dirty="0" err="1">
                <a:solidFill>
                  <a:schemeClr val="accent1"/>
                </a:solidFill>
              </a:rPr>
              <a:t>rebeccapurple</a:t>
            </a:r>
            <a:r>
              <a:rPr lang="en-GB" dirty="0">
                <a:solidFill>
                  <a:schemeClr val="accent1"/>
                </a:solidFill>
              </a:rPr>
              <a:t>;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background-image: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linear-gradient(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</a:t>
            </a:r>
            <a:r>
              <a:rPr lang="en-GB" dirty="0" err="1">
                <a:solidFill>
                  <a:schemeClr val="accent1"/>
                </a:solidFill>
              </a:rPr>
              <a:t>rgba</a:t>
            </a:r>
            <a:r>
              <a:rPr lang="en-GB" dirty="0">
                <a:solidFill>
                  <a:schemeClr val="accent1"/>
                </a:solidFill>
              </a:rPr>
              <a:t>(255, 255, 255, 0.2) 50%,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</a:t>
            </a:r>
            <a:r>
              <a:rPr lang="en-GB" dirty="0" err="1">
                <a:solidFill>
                  <a:schemeClr val="accent1"/>
                </a:solidFill>
              </a:rPr>
              <a:t>rgba</a:t>
            </a:r>
            <a:r>
              <a:rPr lang="en-GB" dirty="0">
                <a:solidFill>
                  <a:schemeClr val="accent1"/>
                </a:solidFill>
              </a:rPr>
              <a:t>(255, 255, 255, 0) 50%),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linear-gradient(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to right, </a:t>
            </a:r>
            <a:r>
              <a:rPr lang="en-GB" dirty="0" err="1">
                <a:solidFill>
                  <a:schemeClr val="accent1"/>
                </a:solidFill>
              </a:rPr>
              <a:t>rgba</a:t>
            </a:r>
            <a:r>
              <a:rPr lang="en-GB" dirty="0">
                <a:solidFill>
                  <a:schemeClr val="accent1"/>
                </a:solidFill>
              </a:rPr>
              <a:t>(255, 255, 255, 0.2) 50%,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	</a:t>
            </a:r>
            <a:r>
              <a:rPr lang="en-GB" dirty="0" err="1">
                <a:solidFill>
                  <a:schemeClr val="accent1"/>
                </a:solidFill>
              </a:rPr>
              <a:t>rgba</a:t>
            </a:r>
            <a:r>
              <a:rPr lang="en-GB" dirty="0">
                <a:solidFill>
                  <a:schemeClr val="accent1"/>
                </a:solidFill>
              </a:rPr>
              <a:t>(255, 255, 255, 0) 50%);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background-size: 100px 100px, 100px 100px;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693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F8E0-2EEA-2B42-B3DB-8394A929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Stripes with background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9F190-082A-6F4A-BB83-C92D4E522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#</a:t>
            </a:r>
            <a:r>
              <a:rPr lang="en-GB" dirty="0" err="1">
                <a:solidFill>
                  <a:schemeClr val="accent1"/>
                </a:solidFill>
              </a:rPr>
              <a:t>angledStripes</a:t>
            </a:r>
            <a:r>
              <a:rPr lang="en-GB" dirty="0">
                <a:solidFill>
                  <a:schemeClr val="accent1"/>
                </a:solidFill>
              </a:rPr>
              <a:t> { </a:t>
            </a:r>
          </a:p>
          <a:p>
            <a:pPr marL="457200" lvl="1" indent="0">
              <a:buNone/>
            </a:pPr>
            <a:r>
              <a:rPr lang="en-GB" sz="1800" dirty="0">
                <a:solidFill>
                  <a:schemeClr val="accent1"/>
                </a:solidFill>
              </a:rPr>
              <a:t>background-</a:t>
            </a:r>
            <a:r>
              <a:rPr lang="en-GB" sz="1800" dirty="0" err="1">
                <a:solidFill>
                  <a:schemeClr val="accent1"/>
                </a:solidFill>
              </a:rPr>
              <a:t>color</a:t>
            </a:r>
            <a:r>
              <a:rPr lang="en-GB" sz="1800" dirty="0">
                <a:solidFill>
                  <a:schemeClr val="accent1"/>
                </a:solidFill>
              </a:rPr>
              <a:t>: </a:t>
            </a:r>
            <a:r>
              <a:rPr lang="en-GB" sz="1800" dirty="0" err="1">
                <a:solidFill>
                  <a:schemeClr val="accent1"/>
                </a:solidFill>
              </a:rPr>
              <a:t>rebeccapurple</a:t>
            </a:r>
            <a:r>
              <a:rPr lang="en-GB" sz="1800" dirty="0">
                <a:solidFill>
                  <a:schemeClr val="accent1"/>
                </a:solidFill>
              </a:rPr>
              <a:t>; </a:t>
            </a:r>
          </a:p>
          <a:p>
            <a:pPr marL="457200" lvl="1" indent="0">
              <a:buNone/>
            </a:pPr>
            <a:r>
              <a:rPr lang="en-GB" sz="1800" dirty="0">
                <a:solidFill>
                  <a:schemeClr val="accent1"/>
                </a:solidFill>
              </a:rPr>
              <a:t>background-image: linear-gradient(135deg, </a:t>
            </a:r>
          </a:p>
          <a:p>
            <a:pPr marL="457200" lvl="1" indent="0">
              <a:buNone/>
            </a:pPr>
            <a:r>
              <a:rPr lang="en-GB" sz="1800" dirty="0">
                <a:solidFill>
                  <a:schemeClr val="accent1"/>
                </a:solidFill>
              </a:rPr>
              <a:t>	</a:t>
            </a:r>
            <a:r>
              <a:rPr lang="en-GB" sz="1800" dirty="0" err="1">
                <a:solidFill>
                  <a:schemeClr val="accent1"/>
                </a:solidFill>
              </a:rPr>
              <a:t>rgba</a:t>
            </a:r>
            <a:r>
              <a:rPr lang="en-GB" sz="1800" dirty="0">
                <a:solidFill>
                  <a:schemeClr val="accent1"/>
                </a:solidFill>
              </a:rPr>
              <a:t>(255, 255, 255, 0.2) 0 25%, </a:t>
            </a:r>
          </a:p>
          <a:p>
            <a:pPr marL="457200" lvl="1" indent="0">
              <a:buNone/>
            </a:pPr>
            <a:r>
              <a:rPr lang="en-GB" sz="1800" dirty="0">
                <a:solidFill>
                  <a:schemeClr val="accent1"/>
                </a:solidFill>
              </a:rPr>
              <a:t>	</a:t>
            </a:r>
            <a:r>
              <a:rPr lang="en-GB" sz="1800" dirty="0" err="1">
                <a:solidFill>
                  <a:schemeClr val="accent1"/>
                </a:solidFill>
              </a:rPr>
              <a:t>rgba</a:t>
            </a:r>
            <a:r>
              <a:rPr lang="en-GB" sz="1800" dirty="0">
                <a:solidFill>
                  <a:schemeClr val="accent1"/>
                </a:solidFill>
              </a:rPr>
              <a:t>(255, 255, 255, 0) 25% 50%, </a:t>
            </a:r>
          </a:p>
          <a:p>
            <a:pPr marL="457200" lvl="1" indent="0">
              <a:buNone/>
            </a:pPr>
            <a:r>
              <a:rPr lang="en-GB" sz="1800" dirty="0">
                <a:solidFill>
                  <a:schemeClr val="accent1"/>
                </a:solidFill>
              </a:rPr>
              <a:t>	</a:t>
            </a:r>
            <a:r>
              <a:rPr lang="en-GB" sz="1800" dirty="0" err="1">
                <a:solidFill>
                  <a:schemeClr val="accent1"/>
                </a:solidFill>
              </a:rPr>
              <a:t>rgba</a:t>
            </a:r>
            <a:r>
              <a:rPr lang="en-GB" sz="1800" dirty="0">
                <a:solidFill>
                  <a:schemeClr val="accent1"/>
                </a:solidFill>
              </a:rPr>
              <a:t>(255, 255, 255, 0.2) 50% 75%, </a:t>
            </a:r>
          </a:p>
          <a:p>
            <a:pPr marL="457200" lvl="1" indent="0">
              <a:buNone/>
            </a:pPr>
            <a:r>
              <a:rPr lang="en-GB" sz="1800" dirty="0">
                <a:solidFill>
                  <a:schemeClr val="accent1"/>
                </a:solidFill>
              </a:rPr>
              <a:t>	</a:t>
            </a:r>
            <a:r>
              <a:rPr lang="en-GB" sz="1800" dirty="0" err="1">
                <a:solidFill>
                  <a:schemeClr val="accent1"/>
                </a:solidFill>
              </a:rPr>
              <a:t>rgba</a:t>
            </a:r>
            <a:r>
              <a:rPr lang="en-GB" sz="1800" dirty="0">
                <a:solidFill>
                  <a:schemeClr val="accent1"/>
                </a:solidFill>
              </a:rPr>
              <a:t>(255, 255, 255, 0) 75% 100% ); </a:t>
            </a:r>
          </a:p>
          <a:p>
            <a:pPr marL="57150" indent="0">
              <a:buNone/>
            </a:pPr>
            <a:r>
              <a:rPr lang="en-GB" dirty="0">
                <a:solidFill>
                  <a:schemeClr val="accent1"/>
                </a:solidFill>
              </a:rPr>
              <a:t>background-size: 100px 100px; </a:t>
            </a:r>
          </a:p>
          <a:p>
            <a:pPr marL="57150" indent="0">
              <a:buNone/>
            </a:pPr>
            <a:r>
              <a:rPr lang="en-GB" dirty="0">
                <a:solidFill>
                  <a:schemeClr val="accent1"/>
                </a:solidFill>
              </a:rPr>
              <a:t>background-repeat: repeat;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095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FE67-286A-6D4E-B874-9994AD23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ADF68-18D7-2D4F-9C3D-0719A0B38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https://projects.verou.me/css3patterns/</a:t>
            </a:r>
            <a:endParaRPr lang="en-US" dirty="0"/>
          </a:p>
          <a:p>
            <a:r>
              <a:rPr lang="en-US" dirty="0">
                <a:hlinkClick r:id="rId3"/>
              </a:rPr>
              <a:t>http://www.standardista.com/cssgradients/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8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18579</TotalTime>
  <Words>1098</Words>
  <Application>Microsoft Macintosh PowerPoint</Application>
  <PresentationFormat>Widescreen</PresentationFormat>
  <Paragraphs>135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Ion Boardroom</vt:lpstr>
      <vt:lpstr>Advanced CSS</vt:lpstr>
      <vt:lpstr>Gradients</vt:lpstr>
      <vt:lpstr>Gradients</vt:lpstr>
      <vt:lpstr>Linear Gradient Syntax</vt:lpstr>
      <vt:lpstr>Linear Gradient Syntax</vt:lpstr>
      <vt:lpstr>Linear Gradient Syntax</vt:lpstr>
      <vt:lpstr>color-stop</vt:lpstr>
      <vt:lpstr>Linear gradient examples</vt:lpstr>
      <vt:lpstr>Repeating linear gradients</vt:lpstr>
      <vt:lpstr>Radial Gradient Syntax</vt:lpstr>
      <vt:lpstr>Radial gradients examples</vt:lpstr>
      <vt:lpstr>Repeating radial gradients</vt:lpstr>
      <vt:lpstr>Conic Gradient Syntax</vt:lpstr>
      <vt:lpstr>Multiple with background-size </vt:lpstr>
      <vt:lpstr>Stripes with background size</vt:lpstr>
      <vt:lpstr>Patterns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5COSC015W Lecture 3</dc:title>
  <dc:creator>Anne-Gaelle Colom</dc:creator>
  <cp:lastModifiedBy>Anne-Gaelle Colom</cp:lastModifiedBy>
  <cp:revision>9</cp:revision>
  <dcterms:created xsi:type="dcterms:W3CDTF">2020-10-02T16:10:09Z</dcterms:created>
  <dcterms:modified xsi:type="dcterms:W3CDTF">2022-10-05T11:11:15Z</dcterms:modified>
</cp:coreProperties>
</file>