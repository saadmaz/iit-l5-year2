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EECCA-FE0A-47FC-833B-EB1762122006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F268C-C658-4DAA-ACE7-E8D133950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5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classes above can be combined to create more dynamic and flexible layouts.</a:t>
            </a:r>
          </a:p>
          <a:p>
            <a:pPr lv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Tip: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Each class scales up, so if you wish to set the same widths for 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md, you only need to specify sm.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17213-DE8F-49E6-8D62-739F8F6925D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369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example: create a row (</a:t>
            </a:r>
            <a:r>
              <a:rPr lang="en-US" dirty="0"/>
              <a:t>&lt;div class="row"&gt;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Then, add the desired number of columns (tags with appropriate </a:t>
            </a:r>
            <a:r>
              <a:rPr lang="en-US" dirty="0"/>
              <a:t>.col-*-*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classes). The first star (*) represents the responsiveness: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md,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xl, while the second star represents a number, which should add up to 12 for each row.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 example: instead of adding a number to each </a:t>
            </a:r>
            <a:r>
              <a:rPr lang="en-US" dirty="0"/>
              <a:t>col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let bootstrap handle the layout, to create equal width columns: two </a:t>
            </a:r>
            <a:r>
              <a:rPr lang="en-US" dirty="0"/>
              <a:t>"col"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elements = 50% width to each col. three cols = 33.33% width to each col. four cols = 25% width, etc. You can also use </a:t>
            </a:r>
            <a:r>
              <a:rPr lang="en-US" dirty="0"/>
              <a:t>.</a:t>
            </a:r>
            <a:r>
              <a:rPr lang="en-US" dirty="0" err="1"/>
              <a:t>col-sm|md|lg|xl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make the columns responsive.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17213-DE8F-49E6-8D62-739F8F6925D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28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17213-DE8F-49E6-8D62-739F8F6925D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947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Tip: Instead of applying button sizes to every button in a group, use class .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-group-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 large button group or the .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-group-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 small button group: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17213-DE8F-49E6-8D62-739F8F6925D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598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17213-DE8F-49E6-8D62-739F8F6925D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42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forget</a:t>
            </a:r>
            <a:r>
              <a:rPr lang="en-US" baseline="0" dirty="0"/>
              <a:t> to add appropriate reference libraries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17213-DE8F-49E6-8D62-739F8F6925D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85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Client-Side Development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Lecture: 5 (part 02)</a:t>
            </a:r>
          </a:p>
          <a:p>
            <a:r>
              <a:rPr lang="en-US" dirty="0"/>
              <a:t>Bootstrap (Cont’d)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316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5 Grid 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Bootstrap's grid system is built with flexbox and allows up to 12 columns across the page.</a:t>
            </a:r>
          </a:p>
          <a:p>
            <a:r>
              <a:rPr lang="en-US" dirty="0"/>
              <a:t>If you do not want to use all 12 columns individually, you can group the columns together to create wider columns.</a:t>
            </a:r>
          </a:p>
          <a:p>
            <a:r>
              <a:rPr lang="en-US" dirty="0"/>
              <a:t>The grid system is responsive, and the columns will re-arrange automatically depending on the screen size.</a:t>
            </a:r>
          </a:p>
          <a:p>
            <a:r>
              <a:rPr lang="en-US" dirty="0"/>
              <a:t>Make sure that the sum adds up to 12 or fewer (it is not required that you use all 12 available columns).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008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Grid Classes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Bootstrap 5 grid system has five classes:</a:t>
            </a:r>
          </a:p>
          <a:p>
            <a:pPr lvl="1"/>
            <a:r>
              <a:rPr lang="en-GB" dirty="0"/>
              <a:t>.col- (extra small devices - screen width less than 576px)</a:t>
            </a:r>
            <a:endParaRPr lang="en-GB" sz="1600" dirty="0"/>
          </a:p>
          <a:p>
            <a:pPr lvl="1"/>
            <a:r>
              <a:rPr lang="en-GB" dirty="0"/>
              <a:t>.col-</a:t>
            </a:r>
            <a:r>
              <a:rPr lang="en-GB" dirty="0" err="1"/>
              <a:t>sm</a:t>
            </a:r>
            <a:r>
              <a:rPr lang="en-GB" dirty="0"/>
              <a:t>- (small devices - screen width equal to or greater than 576px)</a:t>
            </a:r>
            <a:endParaRPr lang="en-GB" sz="1600" dirty="0"/>
          </a:p>
          <a:p>
            <a:pPr lvl="1"/>
            <a:r>
              <a:rPr lang="en-GB" dirty="0"/>
              <a:t>.col-md- (medium devices - screen width equal to or greater than 768px)</a:t>
            </a:r>
            <a:endParaRPr lang="en-GB" sz="1600" dirty="0"/>
          </a:p>
          <a:p>
            <a:pPr lvl="1"/>
            <a:r>
              <a:rPr lang="en-GB" dirty="0"/>
              <a:t>.col-</a:t>
            </a:r>
            <a:r>
              <a:rPr lang="en-GB" dirty="0" err="1"/>
              <a:t>lg</a:t>
            </a:r>
            <a:r>
              <a:rPr lang="en-GB" dirty="0"/>
              <a:t>- (large devices - screen width equal to or greater than 992px)</a:t>
            </a:r>
            <a:endParaRPr lang="en-GB" sz="1600" dirty="0"/>
          </a:p>
          <a:p>
            <a:pPr lvl="1"/>
            <a:r>
              <a:rPr lang="en-GB" dirty="0"/>
              <a:t>.col-xl- (</a:t>
            </a:r>
            <a:r>
              <a:rPr lang="en-GB" dirty="0" err="1"/>
              <a:t>xlarge</a:t>
            </a:r>
            <a:r>
              <a:rPr lang="en-GB" dirty="0"/>
              <a:t> devices - screen width equal to or greater than 1200px)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540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Structure of a Bootstrap 5 Grid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&lt;div class="row"&gt;</a:t>
            </a:r>
            <a:br>
              <a:rPr lang="en-US" dirty="0"/>
            </a:br>
            <a:r>
              <a:rPr lang="en-US" dirty="0"/>
              <a:t>  &lt;div class="col-*-*"&gt;&lt;/div&gt;</a:t>
            </a:r>
            <a:br>
              <a:rPr lang="en-US" dirty="0"/>
            </a:br>
            <a:r>
              <a:rPr lang="en-US" dirty="0"/>
              <a:t>  &lt;div class="col-*-*"&gt;&lt;/div&gt;</a:t>
            </a:r>
            <a:br>
              <a:rPr lang="en-US" dirty="0"/>
            </a:br>
            <a:r>
              <a:rPr lang="en-US" dirty="0"/>
              <a:t>  &lt;div class="col-*-*"&gt;&lt;/div&gt;</a:t>
            </a:r>
            <a:br>
              <a:rPr lang="en-US" dirty="0"/>
            </a:br>
            <a:r>
              <a:rPr lang="en-US" dirty="0"/>
              <a:t>&lt;/div&gt;</a:t>
            </a:r>
          </a:p>
          <a:p>
            <a:r>
              <a:rPr lang="en-US" dirty="0"/>
              <a:t>&lt;div class="row"&gt;</a:t>
            </a:r>
            <a:br>
              <a:rPr lang="en-US" dirty="0"/>
            </a:br>
            <a:r>
              <a:rPr lang="en-US" dirty="0"/>
              <a:t>  &lt;div class="col"&gt;&lt;/div&gt;</a:t>
            </a:r>
            <a:br>
              <a:rPr lang="en-US" dirty="0"/>
            </a:br>
            <a:r>
              <a:rPr lang="en-US" dirty="0"/>
              <a:t>  &lt;div class="col"&gt;&lt;/div&gt;</a:t>
            </a:r>
            <a:br>
              <a:rPr lang="en-US" dirty="0"/>
            </a:br>
            <a:r>
              <a:rPr lang="en-US" dirty="0"/>
              <a:t>  &lt;div class="col"&gt;&lt;/div&gt;</a:t>
            </a:r>
            <a:br>
              <a:rPr lang="en-US" dirty="0"/>
            </a:br>
            <a:r>
              <a:rPr lang="en-US" dirty="0"/>
              <a:t>&lt;/div&gt;</a:t>
            </a:r>
          </a:p>
          <a:p>
            <a:pPr marL="0" indent="0" algn="r">
              <a:buNone/>
            </a:pPr>
            <a:r>
              <a:rPr lang="en-US" dirty="0"/>
              <a:t>See Example 4 and 5</a:t>
            </a:r>
          </a:p>
          <a:p>
            <a:pPr marL="0" indent="0" algn="r">
              <a:buNone/>
            </a:pPr>
            <a:r>
              <a:rPr lang="en-US" dirty="0"/>
              <a:t>(Bootstrap Examples) </a:t>
            </a:r>
          </a:p>
        </p:txBody>
      </p:sp>
    </p:spTree>
    <p:extLst>
      <p:ext uri="{BB962C8B-B14F-4D97-AF65-F5344CB8AC3E}">
        <p14:creationId xmlns:p14="http://schemas.microsoft.com/office/powerpoint/2010/main" val="117102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Unequal responsive Column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&lt;div class="row"&gt;</a:t>
            </a:r>
            <a:br>
              <a:rPr lang="en-US" dirty="0"/>
            </a:br>
            <a:r>
              <a:rPr lang="en-US" dirty="0"/>
              <a:t>  &lt;div class="col-sm-4"&gt;.col-sm-4&lt;/div&gt;</a:t>
            </a:r>
            <a:br>
              <a:rPr lang="en-US" dirty="0"/>
            </a:br>
            <a:r>
              <a:rPr lang="en-US" dirty="0"/>
              <a:t>  &lt;div class="col-sm-8"&gt;.col-sm-8&lt;/div&gt;</a:t>
            </a:r>
            <a:br>
              <a:rPr lang="en-US" dirty="0"/>
            </a:br>
            <a:r>
              <a:rPr lang="en-US" dirty="0"/>
              <a:t>&lt;/div&gt;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050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Text Defaults</a:t>
            </a:r>
            <a:endParaRPr lang="en-GB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95401" y="2588031"/>
            <a:ext cx="9601197" cy="1871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tabLst/>
            </a:pPr>
            <a:r>
              <a:rPr lang="en-GB" altLang="en-US" dirty="0"/>
              <a:t>Bootstrap 5 uses a default font-size of 16px, and its line-height is 1.5.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GB" altLang="en-US" dirty="0"/>
              <a:t>The default font-family is "Helvetica </a:t>
            </a:r>
            <a:r>
              <a:rPr lang="en-GB" altLang="en-US" dirty="0" err="1"/>
              <a:t>Neue</a:t>
            </a:r>
            <a:r>
              <a:rPr lang="en-GB" altLang="en-US" dirty="0"/>
              <a:t>", Helvetica, Arial, sans-serif.</a:t>
            </a:r>
          </a:p>
          <a:p>
            <a:pPr marR="0" lvl="0" fontAlgn="base">
              <a:lnSpc>
                <a:spcPct val="100000"/>
              </a:lnSpc>
              <a:tabLst/>
            </a:pPr>
            <a:r>
              <a:rPr lang="en-GB" altLang="en-US" dirty="0"/>
              <a:t>In addition, all &lt;p&gt; elements have margin-top: 0 and margin-bottom: 1rem (16px by default). </a:t>
            </a:r>
          </a:p>
        </p:txBody>
      </p:sp>
    </p:spTree>
    <p:extLst>
      <p:ext uri="{BB962C8B-B14F-4D97-AF65-F5344CB8AC3E}">
        <p14:creationId xmlns:p14="http://schemas.microsoft.com/office/powerpoint/2010/main" val="207911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5 Images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203" y="2964873"/>
            <a:ext cx="9259594" cy="227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5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syntax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Rounded Corners</a:t>
            </a:r>
          </a:p>
          <a:p>
            <a:pPr lvl="1"/>
            <a:r>
              <a:rPr lang="en-GB" dirty="0"/>
              <a:t>&lt;</a:t>
            </a:r>
            <a:r>
              <a:rPr lang="en-GB" dirty="0" err="1"/>
              <a:t>img</a:t>
            </a:r>
            <a:r>
              <a:rPr lang="en-GB" dirty="0"/>
              <a:t> </a:t>
            </a:r>
            <a:r>
              <a:rPr lang="en-GB" dirty="0" err="1"/>
              <a:t>src</a:t>
            </a:r>
            <a:r>
              <a:rPr lang="en-GB" dirty="0"/>
              <a:t>=“img.jpg" class="rounded" alt=“image 1"&gt;</a:t>
            </a:r>
            <a:endParaRPr lang="en-US" dirty="0"/>
          </a:p>
          <a:p>
            <a:r>
              <a:rPr lang="en-US" dirty="0"/>
              <a:t>Circle</a:t>
            </a:r>
          </a:p>
          <a:p>
            <a:pPr lvl="1"/>
            <a:r>
              <a:rPr lang="en-GB" dirty="0"/>
              <a:t>&lt;</a:t>
            </a:r>
            <a:r>
              <a:rPr lang="en-GB" dirty="0" err="1"/>
              <a:t>img</a:t>
            </a:r>
            <a:r>
              <a:rPr lang="en-GB" dirty="0"/>
              <a:t> </a:t>
            </a:r>
            <a:r>
              <a:rPr lang="en-GB" dirty="0" err="1"/>
              <a:t>src</a:t>
            </a:r>
            <a:r>
              <a:rPr lang="en-GB" dirty="0"/>
              <a:t>=“img.jpg" class="rounded-circle" alt=“image 1"&gt;</a:t>
            </a:r>
            <a:endParaRPr lang="en-US" dirty="0"/>
          </a:p>
          <a:p>
            <a:r>
              <a:rPr lang="en-US" dirty="0"/>
              <a:t>Thumbnail</a:t>
            </a:r>
          </a:p>
          <a:p>
            <a:pPr lvl="1"/>
            <a:r>
              <a:rPr lang="en-GB" dirty="0"/>
              <a:t>&lt;</a:t>
            </a:r>
            <a:r>
              <a:rPr lang="en-GB" dirty="0" err="1"/>
              <a:t>img</a:t>
            </a:r>
            <a:r>
              <a:rPr lang="en-GB" dirty="0"/>
              <a:t> </a:t>
            </a:r>
            <a:r>
              <a:rPr lang="en-GB" dirty="0" err="1"/>
              <a:t>src</a:t>
            </a:r>
            <a:r>
              <a:rPr lang="en-GB" dirty="0"/>
              <a:t>=“img.jpg" class="</a:t>
            </a:r>
            <a:r>
              <a:rPr lang="en-GB" dirty="0" err="1"/>
              <a:t>img</a:t>
            </a:r>
            <a:r>
              <a:rPr lang="en-GB" dirty="0"/>
              <a:t>-thumbnail" alt=“image 1"&gt;</a:t>
            </a:r>
          </a:p>
        </p:txBody>
      </p:sp>
    </p:spTree>
    <p:extLst>
      <p:ext uri="{BB962C8B-B14F-4D97-AF65-F5344CB8AC3E}">
        <p14:creationId xmlns:p14="http://schemas.microsoft.com/office/powerpoint/2010/main" val="4007996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Aligning Images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Floating</a:t>
            </a:r>
          </a:p>
          <a:p>
            <a:pPr lvl="1"/>
            <a:r>
              <a:rPr lang="en-GB" dirty="0"/>
              <a:t>&lt;</a:t>
            </a:r>
            <a:r>
              <a:rPr lang="en-GB" dirty="0" err="1"/>
              <a:t>img</a:t>
            </a:r>
            <a:r>
              <a:rPr lang="en-GB" dirty="0"/>
              <a:t> </a:t>
            </a:r>
            <a:r>
              <a:rPr lang="en-GB" dirty="0" err="1"/>
              <a:t>src</a:t>
            </a:r>
            <a:r>
              <a:rPr lang="en-GB" dirty="0"/>
              <a:t>=“car.jpg" class="float-left"&gt;</a:t>
            </a:r>
          </a:p>
          <a:p>
            <a:pPr lvl="1"/>
            <a:r>
              <a:rPr lang="en-GB" dirty="0"/>
              <a:t>&lt;</a:t>
            </a:r>
            <a:r>
              <a:rPr lang="en-GB" dirty="0" err="1"/>
              <a:t>img</a:t>
            </a:r>
            <a:r>
              <a:rPr lang="en-GB" dirty="0"/>
              <a:t> </a:t>
            </a:r>
            <a:r>
              <a:rPr lang="en-GB" dirty="0" err="1"/>
              <a:t>src</a:t>
            </a:r>
            <a:r>
              <a:rPr lang="en-GB" dirty="0"/>
              <a:t>=“car.jpg" class="float-right"&gt;</a:t>
            </a:r>
            <a:endParaRPr lang="en-US" dirty="0"/>
          </a:p>
          <a:p>
            <a:r>
              <a:rPr lang="en-US" dirty="0"/>
              <a:t>Centering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 </a:t>
            </a:r>
            <a:r>
              <a:rPr lang="en-US" dirty="0" err="1"/>
              <a:t>src</a:t>
            </a:r>
            <a:r>
              <a:rPr lang="en-US" dirty="0"/>
              <a:t>=“car.jpg" class="mx-auto d-block"&gt;</a:t>
            </a:r>
          </a:p>
          <a:p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19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Images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Images come in all sizes. So do screens. Responsive images automatically adjust to fit the size of the screen.</a:t>
            </a:r>
          </a:p>
          <a:p>
            <a:r>
              <a:rPr lang="en-GB" dirty="0"/>
              <a:t>Create responsive images by adding an .</a:t>
            </a:r>
            <a:r>
              <a:rPr lang="en-GB" dirty="0" err="1"/>
              <a:t>img</a:t>
            </a:r>
            <a:r>
              <a:rPr lang="en-GB" dirty="0"/>
              <a:t>-fluid class to the &lt;</a:t>
            </a:r>
            <a:r>
              <a:rPr lang="en-GB" dirty="0" err="1"/>
              <a:t>img</a:t>
            </a:r>
            <a:r>
              <a:rPr lang="en-GB" dirty="0"/>
              <a:t>&gt; tag. The image will then scale nicely to the parent element.</a:t>
            </a:r>
          </a:p>
          <a:p>
            <a:r>
              <a:rPr lang="en-GB" dirty="0"/>
              <a:t>The .</a:t>
            </a:r>
            <a:r>
              <a:rPr lang="en-GB" dirty="0" err="1"/>
              <a:t>img</a:t>
            </a:r>
            <a:r>
              <a:rPr lang="en-GB" dirty="0"/>
              <a:t>-fluid class applies max-width: 100%; and height: auto; to the image:</a:t>
            </a:r>
          </a:p>
          <a:p>
            <a:pPr lvl="1"/>
            <a:r>
              <a:rPr lang="en-GB" dirty="0"/>
              <a:t>&lt;</a:t>
            </a:r>
            <a:r>
              <a:rPr lang="en-GB" dirty="0" err="1"/>
              <a:t>img</a:t>
            </a:r>
            <a:r>
              <a:rPr lang="en-GB" dirty="0"/>
              <a:t> class="</a:t>
            </a:r>
            <a:r>
              <a:rPr lang="en-GB" dirty="0" err="1"/>
              <a:t>img</a:t>
            </a:r>
            <a:r>
              <a:rPr lang="en-GB" dirty="0"/>
              <a:t>-fluid" </a:t>
            </a:r>
            <a:r>
              <a:rPr lang="en-GB" dirty="0" err="1"/>
              <a:t>src</a:t>
            </a:r>
            <a:r>
              <a:rPr lang="en-GB" dirty="0"/>
              <a:t>=“car.jpg" alt="Car image"&gt;</a:t>
            </a:r>
          </a:p>
        </p:txBody>
      </p:sp>
    </p:spTree>
    <p:extLst>
      <p:ext uri="{BB962C8B-B14F-4D97-AF65-F5344CB8AC3E}">
        <p14:creationId xmlns:p14="http://schemas.microsoft.com/office/powerpoint/2010/main" val="2708361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Bootstrap 5 Jumbotron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jumbotron</a:t>
            </a:r>
            <a:r>
              <a:rPr lang="en-US" dirty="0"/>
              <a:t> indicates a big grey box for calling extra attention to some special content or information.</a:t>
            </a:r>
          </a:p>
          <a:p>
            <a:r>
              <a:rPr lang="en-US" b="1" dirty="0"/>
              <a:t>Tip:</a:t>
            </a:r>
            <a:r>
              <a:rPr lang="en-US" dirty="0"/>
              <a:t> Inside a </a:t>
            </a:r>
            <a:r>
              <a:rPr lang="en-US" dirty="0" err="1"/>
              <a:t>jumbotron</a:t>
            </a:r>
            <a:r>
              <a:rPr lang="en-US" dirty="0"/>
              <a:t> you can put nearly any valid HTML, including other Bootstrap elements/classes.</a:t>
            </a:r>
          </a:p>
          <a:p>
            <a:pPr lvl="1"/>
            <a:r>
              <a:rPr lang="en-GB" dirty="0"/>
              <a:t>&lt;div class="</a:t>
            </a:r>
            <a:r>
              <a:rPr lang="en-GB" dirty="0" err="1"/>
              <a:t>jumbotron</a:t>
            </a:r>
            <a:r>
              <a:rPr lang="en-GB" dirty="0"/>
              <a:t>"&gt;</a:t>
            </a:r>
            <a:br>
              <a:rPr lang="en-GB" dirty="0"/>
            </a:br>
            <a:r>
              <a:rPr lang="en-GB" dirty="0"/>
              <a:t>  &lt;h1&gt;Bootstrap Tutorial&lt;/h1&gt;</a:t>
            </a:r>
            <a:br>
              <a:rPr lang="en-GB" dirty="0"/>
            </a:br>
            <a:r>
              <a:rPr lang="en-GB" dirty="0"/>
              <a:t>  &lt;p&gt;Bootstrap is the most popular HTML, CSS...&lt;/p&gt;</a:t>
            </a:r>
            <a:br>
              <a:rPr lang="en-GB" dirty="0"/>
            </a:br>
            <a:r>
              <a:rPr lang="en-GB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1906167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Full-width </a:t>
            </a:r>
            <a:r>
              <a:rPr lang="en-GB" dirty="0" err="1"/>
              <a:t>Jumbotron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you want a full-width </a:t>
            </a:r>
            <a:r>
              <a:rPr lang="en-GB" dirty="0" err="1"/>
              <a:t>jumbotron</a:t>
            </a:r>
            <a:r>
              <a:rPr lang="en-GB" dirty="0"/>
              <a:t> without rounded borders, add the .</a:t>
            </a:r>
            <a:r>
              <a:rPr lang="en-GB" dirty="0" err="1"/>
              <a:t>jumbotron</a:t>
            </a:r>
            <a:r>
              <a:rPr lang="en-GB" dirty="0"/>
              <a:t>-fluid class and a .container or .container-fluid inside of it:</a:t>
            </a:r>
          </a:p>
          <a:p>
            <a:pPr lvl="1"/>
            <a:r>
              <a:rPr lang="en-GB" dirty="0"/>
              <a:t>&lt;div class="</a:t>
            </a:r>
            <a:r>
              <a:rPr lang="en-GB" dirty="0" err="1"/>
              <a:t>jumbotron</a:t>
            </a:r>
            <a:r>
              <a:rPr lang="en-GB" dirty="0"/>
              <a:t> </a:t>
            </a:r>
            <a:r>
              <a:rPr lang="en-GB" dirty="0" err="1"/>
              <a:t>jumbotron</a:t>
            </a:r>
            <a:r>
              <a:rPr lang="en-GB" dirty="0"/>
              <a:t>-fluid"&gt;</a:t>
            </a:r>
            <a:br>
              <a:rPr lang="en-GB" dirty="0"/>
            </a:br>
            <a:r>
              <a:rPr lang="en-GB" dirty="0"/>
              <a:t>  &lt;div class="container"&gt;</a:t>
            </a:r>
            <a:br>
              <a:rPr lang="en-GB" dirty="0"/>
            </a:br>
            <a:r>
              <a:rPr lang="en-GB" dirty="0"/>
              <a:t>    &lt;h1&gt;Bootstrap Tutorial&lt;/h1&gt;</a:t>
            </a:r>
            <a:br>
              <a:rPr lang="en-GB" dirty="0"/>
            </a:br>
            <a:r>
              <a:rPr lang="en-GB" dirty="0"/>
              <a:t>    &lt;p&gt;Bootstrap is the most popular HTML, CSS...&lt;/p&gt;</a:t>
            </a:r>
            <a:br>
              <a:rPr lang="en-GB" dirty="0"/>
            </a:br>
            <a:r>
              <a:rPr lang="en-GB" dirty="0"/>
              <a:t>  &lt;/div&gt;</a:t>
            </a:r>
            <a:br>
              <a:rPr lang="en-GB" dirty="0"/>
            </a:br>
            <a:r>
              <a:rPr lang="en-GB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74653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5 Button Groups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Bootstrap 5 allows you to group a series of buttons together (on a single line) in a button group. </a:t>
            </a:r>
          </a:p>
          <a:p>
            <a:r>
              <a:rPr lang="en-GB" dirty="0"/>
              <a:t>Use a &lt;div&gt; element with class .</a:t>
            </a:r>
            <a:r>
              <a:rPr lang="en-GB" dirty="0" err="1"/>
              <a:t>btn</a:t>
            </a:r>
            <a:r>
              <a:rPr lang="en-GB" dirty="0"/>
              <a:t>-group to create a button group:</a:t>
            </a:r>
          </a:p>
          <a:p>
            <a:pPr lvl="1"/>
            <a:r>
              <a:rPr lang="en-GB" dirty="0"/>
              <a:t>&lt;div class="</a:t>
            </a:r>
            <a:r>
              <a:rPr lang="en-GB" dirty="0" err="1"/>
              <a:t>btn</a:t>
            </a:r>
            <a:r>
              <a:rPr lang="en-GB" dirty="0"/>
              <a:t>-group"&gt;</a:t>
            </a:r>
            <a:br>
              <a:rPr lang="en-GB" dirty="0"/>
            </a:br>
            <a:r>
              <a:rPr lang="en-GB" dirty="0"/>
              <a:t>  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-primary"&gt;Apple&lt;/button&gt;</a:t>
            </a:r>
            <a:br>
              <a:rPr lang="en-GB" dirty="0"/>
            </a:br>
            <a:r>
              <a:rPr lang="en-GB" dirty="0"/>
              <a:t>  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-primary"&gt;Samsung&lt;/button&gt;</a:t>
            </a:r>
            <a:br>
              <a:rPr lang="en-GB" dirty="0"/>
            </a:br>
            <a:r>
              <a:rPr lang="en-GB" dirty="0"/>
              <a:t>  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-primary"&gt;Sony&lt;/button&gt;</a:t>
            </a:r>
            <a:br>
              <a:rPr lang="en-GB" dirty="0"/>
            </a:br>
            <a:r>
              <a:rPr lang="en-GB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2116003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Button Groups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Bootstrap 5 also supports vertical button groups. </a:t>
            </a:r>
          </a:p>
          <a:p>
            <a:r>
              <a:rPr lang="en-GB" dirty="0"/>
              <a:t>Use the class .</a:t>
            </a:r>
            <a:r>
              <a:rPr lang="en-GB" dirty="0" err="1"/>
              <a:t>btn</a:t>
            </a:r>
            <a:r>
              <a:rPr lang="en-GB" dirty="0"/>
              <a:t>-group-vertical to create a vertical button group:</a:t>
            </a:r>
          </a:p>
          <a:p>
            <a:pPr lvl="1"/>
            <a:r>
              <a:rPr lang="en-GB" dirty="0"/>
              <a:t>&lt;div class="</a:t>
            </a:r>
            <a:r>
              <a:rPr lang="en-GB" dirty="0" err="1"/>
              <a:t>btn</a:t>
            </a:r>
            <a:r>
              <a:rPr lang="en-GB" dirty="0"/>
              <a:t>-group-vertical"&gt;</a:t>
            </a:r>
            <a:br>
              <a:rPr lang="en-GB" dirty="0"/>
            </a:br>
            <a:r>
              <a:rPr lang="en-GB" dirty="0"/>
              <a:t>  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-primary"&gt;Apple&lt;/button&gt;</a:t>
            </a:r>
            <a:br>
              <a:rPr lang="en-GB" dirty="0"/>
            </a:br>
            <a:r>
              <a:rPr lang="en-GB" dirty="0"/>
              <a:t>  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-primary"&gt;Samsung&lt;/button&gt;</a:t>
            </a:r>
            <a:br>
              <a:rPr lang="en-GB" dirty="0"/>
            </a:br>
            <a:r>
              <a:rPr lang="en-GB" dirty="0"/>
              <a:t>  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-primary"&gt;Sony&lt;/button&gt;</a:t>
            </a:r>
            <a:br>
              <a:rPr lang="en-GB" dirty="0"/>
            </a:br>
            <a:r>
              <a:rPr lang="en-GB" dirty="0"/>
              <a:t>&lt;/div&gt;</a:t>
            </a:r>
          </a:p>
          <a:p>
            <a:r>
              <a:rPr lang="en-US" dirty="0"/>
              <a:t>We can also have drop down menus in these buttons.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730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progress bar can be used to show a user how far along he/she is in a process.</a:t>
            </a:r>
          </a:p>
          <a:p>
            <a:r>
              <a:rPr lang="en-GB" dirty="0"/>
              <a:t>To create a default progress bar, add a .progress class to a container element and add the .progress-bar class to its child element. Use the CSS width property to set the width of the progress bar:</a:t>
            </a:r>
          </a:p>
          <a:p>
            <a:pPr lvl="1"/>
            <a:r>
              <a:rPr lang="en-US" dirty="0"/>
              <a:t>&lt;div class="progress"&gt;</a:t>
            </a:r>
            <a:br>
              <a:rPr lang="en-US" dirty="0"/>
            </a:br>
            <a:r>
              <a:rPr lang="en-US" dirty="0"/>
              <a:t>  &lt;div class="progress-bar" style="width:70%"&gt;&lt;/div&gt;</a:t>
            </a:r>
            <a:br>
              <a:rPr lang="en-US" dirty="0"/>
            </a:br>
            <a:r>
              <a:rPr lang="en-US" dirty="0"/>
              <a:t>&lt;/div&gt;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583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Spinners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create a spinner/loader, use the .spinner-border class.</a:t>
            </a:r>
          </a:p>
          <a:p>
            <a:pPr lvl="1"/>
            <a:r>
              <a:rPr lang="en-GB" dirty="0"/>
              <a:t>&lt;div class="spinner-border"&gt;&lt;/div&gt;</a:t>
            </a:r>
          </a:p>
        </p:txBody>
      </p:sp>
    </p:spTree>
    <p:extLst>
      <p:ext uri="{BB962C8B-B14F-4D97-AF65-F5344CB8AC3E}">
        <p14:creationId xmlns:p14="http://schemas.microsoft.com/office/powerpoint/2010/main" val="2483020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Spinner Buttons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&lt;button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</a:t>
            </a:r>
            <a:br>
              <a:rPr lang="en-GB" dirty="0"/>
            </a:br>
            <a:r>
              <a:rPr lang="en-GB" dirty="0"/>
              <a:t>  &lt;span class="spinner-border spinner-border-</a:t>
            </a:r>
            <a:r>
              <a:rPr lang="en-GB" dirty="0" err="1"/>
              <a:t>sm</a:t>
            </a:r>
            <a:r>
              <a:rPr lang="en-GB" dirty="0"/>
              <a:t>"&gt;&lt;/span&gt;</a:t>
            </a:r>
            <a:br>
              <a:rPr lang="en-GB" dirty="0"/>
            </a:br>
            <a:r>
              <a:rPr lang="en-GB" dirty="0"/>
              <a:t>&lt;/button&gt;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&lt;button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-primary"&gt;</a:t>
            </a:r>
            <a:br>
              <a:rPr lang="en-GB" dirty="0"/>
            </a:br>
            <a:r>
              <a:rPr lang="en-GB" dirty="0"/>
              <a:t>  &lt;span class="spinner-border spinner-border-</a:t>
            </a:r>
            <a:r>
              <a:rPr lang="en-GB" dirty="0" err="1"/>
              <a:t>sm</a:t>
            </a:r>
            <a:r>
              <a:rPr lang="en-GB" dirty="0"/>
              <a:t>"&gt;&lt;/span&gt;</a:t>
            </a:r>
            <a:br>
              <a:rPr lang="en-GB" dirty="0"/>
            </a:br>
            <a:r>
              <a:rPr lang="en-GB" dirty="0"/>
              <a:t>  Loading..</a:t>
            </a:r>
            <a:br>
              <a:rPr lang="en-GB" dirty="0"/>
            </a:br>
            <a:r>
              <a:rPr lang="en-GB" dirty="0"/>
              <a:t>&lt;/button&gt;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&lt;button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 disabled&gt;</a:t>
            </a:r>
            <a:br>
              <a:rPr lang="en-GB" dirty="0"/>
            </a:br>
            <a:r>
              <a:rPr lang="en-GB" dirty="0"/>
              <a:t>  &lt;span class="spinner-border spinner-border-</a:t>
            </a:r>
            <a:r>
              <a:rPr lang="en-GB" dirty="0" err="1"/>
              <a:t>sm</a:t>
            </a:r>
            <a:r>
              <a:rPr lang="en-GB" dirty="0"/>
              <a:t>"&gt;&lt;/span&gt;</a:t>
            </a:r>
            <a:br>
              <a:rPr lang="en-GB" dirty="0"/>
            </a:br>
            <a:r>
              <a:rPr lang="en-GB" dirty="0"/>
              <a:t>  Loading..</a:t>
            </a:r>
            <a:br>
              <a:rPr lang="en-GB" dirty="0"/>
            </a:br>
            <a:r>
              <a:rPr lang="en-GB" dirty="0"/>
              <a:t>&lt;/button&gt;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&lt;button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-primary" disabled&gt;</a:t>
            </a:r>
            <a:br>
              <a:rPr lang="en-GB" dirty="0"/>
            </a:br>
            <a:r>
              <a:rPr lang="en-GB" dirty="0"/>
              <a:t>  &lt;span class="spinner-grow spinner-grow-</a:t>
            </a:r>
            <a:r>
              <a:rPr lang="en-GB" dirty="0" err="1"/>
              <a:t>sm</a:t>
            </a:r>
            <a:r>
              <a:rPr lang="en-GB" dirty="0"/>
              <a:t>"&gt;&lt;/span&gt;</a:t>
            </a:r>
            <a:br>
              <a:rPr lang="en-GB" dirty="0"/>
            </a:br>
            <a:r>
              <a:rPr lang="en-GB" dirty="0"/>
              <a:t>  Loading..</a:t>
            </a:r>
            <a:br>
              <a:rPr lang="en-GB" dirty="0"/>
            </a:br>
            <a:r>
              <a:rPr lang="en-GB" dirty="0"/>
              <a:t>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1842761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 Pagination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If you have a web site with lots of pages, you may wish to add some sort of pagination to each page.</a:t>
            </a:r>
          </a:p>
          <a:p>
            <a:r>
              <a:rPr lang="en-GB" dirty="0"/>
              <a:t>To create a basic pagination, add the .pagination class to an &lt;</a:t>
            </a:r>
            <a:r>
              <a:rPr lang="en-GB" dirty="0" err="1"/>
              <a:t>ul</a:t>
            </a:r>
            <a:r>
              <a:rPr lang="en-GB" dirty="0"/>
              <a:t>&gt; element. Then add the .page-item to each &lt;li&gt; element and a .page-link class to each link inside &lt;li&gt;.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064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 Pagination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&lt;</a:t>
            </a:r>
            <a:r>
              <a:rPr lang="en-GB" dirty="0" err="1"/>
              <a:t>ul</a:t>
            </a:r>
            <a:r>
              <a:rPr lang="en-GB" dirty="0"/>
              <a:t> class="pagination"&gt;</a:t>
            </a:r>
            <a:br>
              <a:rPr lang="en-GB" dirty="0"/>
            </a:br>
            <a:r>
              <a:rPr lang="en-GB" dirty="0"/>
              <a:t>  &lt;li class="page-item"&gt;</a:t>
            </a:r>
          </a:p>
          <a:p>
            <a:pPr lvl="1"/>
            <a:r>
              <a:rPr lang="en-GB" dirty="0"/>
              <a:t>&lt;a class="page-link" </a:t>
            </a:r>
            <a:r>
              <a:rPr lang="en-GB" dirty="0" err="1"/>
              <a:t>href</a:t>
            </a:r>
            <a:r>
              <a:rPr lang="en-GB" dirty="0"/>
              <a:t>="#"&gt;Previous&lt;/a&gt;</a:t>
            </a:r>
          </a:p>
          <a:p>
            <a:r>
              <a:rPr lang="en-GB" dirty="0"/>
              <a:t>&lt;/li&gt;</a:t>
            </a:r>
            <a:br>
              <a:rPr lang="en-GB" dirty="0"/>
            </a:br>
            <a:r>
              <a:rPr lang="en-GB" dirty="0"/>
              <a:t>  &lt;li class="page-item"&gt;&lt;a class="page-link" </a:t>
            </a:r>
            <a:r>
              <a:rPr lang="en-GB" dirty="0" err="1"/>
              <a:t>href</a:t>
            </a:r>
            <a:r>
              <a:rPr lang="en-GB" dirty="0"/>
              <a:t>="#"&gt;1&lt;/a&gt;&lt;/li&gt;</a:t>
            </a:r>
            <a:br>
              <a:rPr lang="en-GB" dirty="0"/>
            </a:br>
            <a:r>
              <a:rPr lang="en-GB" dirty="0"/>
              <a:t>  &lt;li class="page-item"&gt;&lt;a class="page-link" </a:t>
            </a:r>
            <a:r>
              <a:rPr lang="en-GB" dirty="0" err="1"/>
              <a:t>href</a:t>
            </a:r>
            <a:r>
              <a:rPr lang="en-GB" dirty="0"/>
              <a:t>="#"&gt;2&lt;/a&gt;&lt;/li&gt;</a:t>
            </a:r>
            <a:br>
              <a:rPr lang="en-GB" dirty="0"/>
            </a:br>
            <a:r>
              <a:rPr lang="en-GB" dirty="0"/>
              <a:t>  &lt;li class="page-item"&gt;&lt;a class="page-link" </a:t>
            </a:r>
            <a:r>
              <a:rPr lang="en-GB" dirty="0" err="1"/>
              <a:t>href</a:t>
            </a:r>
            <a:r>
              <a:rPr lang="en-GB" dirty="0"/>
              <a:t>="#"&gt;3&lt;/a&gt;&lt;/li&gt;</a:t>
            </a:r>
            <a:br>
              <a:rPr lang="en-GB" dirty="0"/>
            </a:br>
            <a:r>
              <a:rPr lang="en-GB" dirty="0"/>
              <a:t>  &lt;li class="page-item"&gt;&lt;a class="page-link" </a:t>
            </a:r>
            <a:r>
              <a:rPr lang="en-GB" dirty="0" err="1"/>
              <a:t>href</a:t>
            </a:r>
            <a:r>
              <a:rPr lang="en-GB" dirty="0"/>
              <a:t>="#"&gt;Next&lt;/a&gt;&lt;/li&gt;</a:t>
            </a:r>
            <a:br>
              <a:rPr lang="en-GB" dirty="0"/>
            </a:br>
            <a:r>
              <a:rPr lang="en-GB" dirty="0"/>
              <a:t>&lt;/</a:t>
            </a:r>
            <a:r>
              <a:rPr lang="en-GB" dirty="0" err="1"/>
              <a:t>ul</a:t>
            </a:r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43435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Dropdowns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&lt;div class="dropdown"&gt;</a:t>
            </a:r>
            <a:br>
              <a:rPr lang="en-GB" dirty="0"/>
            </a:br>
            <a:r>
              <a:rPr lang="en-GB" dirty="0"/>
              <a:t>  &lt;button type="button" class="</a:t>
            </a:r>
            <a:r>
              <a:rPr lang="en-GB" dirty="0" err="1"/>
              <a:t>btn</a:t>
            </a:r>
            <a:r>
              <a:rPr lang="en-GB" dirty="0"/>
              <a:t> </a:t>
            </a:r>
            <a:r>
              <a:rPr lang="en-GB" dirty="0" err="1"/>
              <a:t>btn</a:t>
            </a:r>
            <a:r>
              <a:rPr lang="en-GB" dirty="0"/>
              <a:t>-primary dropdown-toggle" data-toggle="dropdown"&gt;</a:t>
            </a:r>
            <a:br>
              <a:rPr lang="en-GB" dirty="0"/>
            </a:br>
            <a:r>
              <a:rPr lang="en-GB" dirty="0"/>
              <a:t>    Dropdown button</a:t>
            </a:r>
            <a:br>
              <a:rPr lang="en-GB" dirty="0"/>
            </a:br>
            <a:r>
              <a:rPr lang="en-GB" dirty="0"/>
              <a:t>  &lt;/button&gt;</a:t>
            </a:r>
            <a:br>
              <a:rPr lang="en-GB" dirty="0"/>
            </a:br>
            <a:r>
              <a:rPr lang="en-GB" dirty="0"/>
              <a:t>  &lt;div class="dropdown-menu"&gt;</a:t>
            </a:r>
            <a:br>
              <a:rPr lang="en-GB" dirty="0"/>
            </a:br>
            <a:r>
              <a:rPr lang="en-GB" dirty="0"/>
              <a:t>    &lt;a class="dropdown-item" </a:t>
            </a:r>
            <a:r>
              <a:rPr lang="en-GB" dirty="0" err="1"/>
              <a:t>href</a:t>
            </a:r>
            <a:r>
              <a:rPr lang="en-GB" dirty="0"/>
              <a:t>="#"&gt;Link 1&lt;/a&gt;</a:t>
            </a:r>
            <a:br>
              <a:rPr lang="en-GB" dirty="0"/>
            </a:br>
            <a:r>
              <a:rPr lang="en-GB" dirty="0"/>
              <a:t>    &lt;a class="dropdown-item" </a:t>
            </a:r>
            <a:r>
              <a:rPr lang="en-GB" dirty="0" err="1"/>
              <a:t>href</a:t>
            </a:r>
            <a:r>
              <a:rPr lang="en-GB" dirty="0"/>
              <a:t>="#"&gt;Link 2&lt;/a&gt;</a:t>
            </a:r>
            <a:br>
              <a:rPr lang="en-GB" dirty="0"/>
            </a:br>
            <a:r>
              <a:rPr lang="en-GB" dirty="0"/>
              <a:t>    &lt;a class="dropdown-item" </a:t>
            </a:r>
            <a:r>
              <a:rPr lang="en-GB" dirty="0" err="1"/>
              <a:t>href</a:t>
            </a:r>
            <a:r>
              <a:rPr lang="en-GB" dirty="0"/>
              <a:t>="#"&gt;Link 3&lt;/a&gt;</a:t>
            </a:r>
            <a:br>
              <a:rPr lang="en-GB" dirty="0"/>
            </a:br>
            <a:r>
              <a:rPr lang="en-GB" dirty="0"/>
              <a:t>  &lt;/div&gt;</a:t>
            </a:r>
            <a:br>
              <a:rPr lang="en-GB" dirty="0"/>
            </a:br>
            <a:r>
              <a:rPr lang="en-GB" dirty="0"/>
              <a:t>&lt;/div&gt;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798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Positioning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also create a "</a:t>
            </a:r>
            <a:r>
              <a:rPr lang="en-GB" dirty="0" err="1"/>
              <a:t>dropright</a:t>
            </a:r>
            <a:r>
              <a:rPr lang="en-GB" dirty="0"/>
              <a:t>" or "</a:t>
            </a:r>
            <a:r>
              <a:rPr lang="en-GB" dirty="0" err="1"/>
              <a:t>dropleft</a:t>
            </a:r>
            <a:r>
              <a:rPr lang="en-GB" dirty="0"/>
              <a:t>" menu, by adding the .</a:t>
            </a:r>
            <a:r>
              <a:rPr lang="en-GB" dirty="0" err="1"/>
              <a:t>dropright</a:t>
            </a:r>
            <a:r>
              <a:rPr lang="en-GB" dirty="0"/>
              <a:t> or .</a:t>
            </a:r>
            <a:r>
              <a:rPr lang="en-GB" dirty="0" err="1"/>
              <a:t>dropleft</a:t>
            </a:r>
            <a:r>
              <a:rPr lang="en-GB" dirty="0"/>
              <a:t> class to the dropdown element. Note that the caret/arrow is added automatically.</a:t>
            </a:r>
          </a:p>
          <a:p>
            <a:pPr lvl="1"/>
            <a:r>
              <a:rPr lang="en-GB" dirty="0"/>
              <a:t>&lt;div class="dropdown </a:t>
            </a:r>
            <a:r>
              <a:rPr lang="en-GB" dirty="0" err="1"/>
              <a:t>dropright</a:t>
            </a:r>
            <a:r>
              <a:rPr lang="en-GB" dirty="0"/>
              <a:t>"&gt;</a:t>
            </a:r>
          </a:p>
          <a:p>
            <a:pPr lvl="1"/>
            <a:r>
              <a:rPr lang="en-GB" dirty="0"/>
              <a:t>&lt;div class="dropdown </a:t>
            </a:r>
            <a:r>
              <a:rPr lang="en-GB" dirty="0" err="1"/>
              <a:t>dropleft</a:t>
            </a:r>
            <a:r>
              <a:rPr lang="en-GB" dirty="0"/>
              <a:t>"&gt;</a:t>
            </a:r>
          </a:p>
          <a:p>
            <a:pPr lvl="1"/>
            <a:endParaRPr lang="en-US" dirty="0"/>
          </a:p>
          <a:p>
            <a:pPr lvl="1"/>
            <a:r>
              <a:rPr lang="en-GB" dirty="0"/>
              <a:t>&lt;div class="</a:t>
            </a:r>
            <a:r>
              <a:rPr lang="en-GB" dirty="0" err="1"/>
              <a:t>dropup</a:t>
            </a:r>
            <a:r>
              <a:rPr lang="en-GB" dirty="0"/>
              <a:t>"&gt;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0095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https://www.w3schools.com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6258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</TotalTime>
  <Words>1709</Words>
  <Application>Microsoft Office PowerPoint</Application>
  <PresentationFormat>Widescreen</PresentationFormat>
  <Paragraphs>100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Garamond</vt:lpstr>
      <vt:lpstr>Organic</vt:lpstr>
      <vt:lpstr>Advanced Client-Side Development</vt:lpstr>
      <vt:lpstr>Bootstrap 5 Grid System</vt:lpstr>
      <vt:lpstr>Grid Classes</vt:lpstr>
      <vt:lpstr>Basic Structure of a Bootstrap 5 Grid</vt:lpstr>
      <vt:lpstr>Unequal responsive Column</vt:lpstr>
      <vt:lpstr>Bootstrap Text Defaults</vt:lpstr>
      <vt:lpstr>Bootstrap 5 Images</vt:lpstr>
      <vt:lpstr>Image syntax</vt:lpstr>
      <vt:lpstr>Aligning Images</vt:lpstr>
      <vt:lpstr>Responsive Images</vt:lpstr>
      <vt:lpstr>Bootstrap 5 Jumbotron</vt:lpstr>
      <vt:lpstr>Full-width Jumbotron</vt:lpstr>
      <vt:lpstr>Bootstrap 5 Button Groups</vt:lpstr>
      <vt:lpstr>Vertical Button Groups</vt:lpstr>
      <vt:lpstr>Progress Bar</vt:lpstr>
      <vt:lpstr>Spinners</vt:lpstr>
      <vt:lpstr>Spinner Buttons</vt:lpstr>
      <vt:lpstr>Basic Pagination</vt:lpstr>
      <vt:lpstr>Basic Pagination</vt:lpstr>
      <vt:lpstr>Dropdowns</vt:lpstr>
      <vt:lpstr>Drop Positioning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</dc:title>
  <dc:creator>Ebad Majeed</dc:creator>
  <cp:lastModifiedBy>Ebad Majeed</cp:lastModifiedBy>
  <cp:revision>6</cp:revision>
  <dcterms:created xsi:type="dcterms:W3CDTF">2020-05-01T03:50:16Z</dcterms:created>
  <dcterms:modified xsi:type="dcterms:W3CDTF">2023-10-23T23:27:02Z</dcterms:modified>
</cp:coreProperties>
</file>