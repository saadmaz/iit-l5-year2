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1614C-4684-498D-8CBC-0A36BB3EE809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70B22-1311-42E7-A617-4E8F1E4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width=device-width part sets the width of the page to follow the screen-width of the device (which will vary depending on the device).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initial-scale=1 part sets the initial zoom level when the page is first loaded by the browser.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3526-6A59-4C3C-9930-CADF7259CFA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234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attribute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specifies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element's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content. Common examples are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for English,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for Spanish,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for French, and so 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&lt;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about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document. ...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elements are typically used to specify page description, keywords, author of the document, last modified, and other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be used by browsers (how to display content or reload page), search engines (keywords), or other web services.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3526-6A59-4C3C-9930-CADF7259CFA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3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3526-6A59-4C3C-9930-CADF7259CFA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6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Client-Side Development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Lecture: 5 (part: 01)</a:t>
            </a:r>
          </a:p>
          <a:p>
            <a:r>
              <a:rPr lang="en-US" dirty="0"/>
              <a:t>Bootstrap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119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Bootstrap</a:t>
            </a:r>
            <a:r>
              <a:rPr lang="en-US" dirty="0"/>
              <a:t> is one of the most popular if not the most popular </a:t>
            </a:r>
            <a:r>
              <a:rPr lang="en-US" b="1" dirty="0"/>
              <a:t>CSS Framework</a:t>
            </a:r>
            <a:r>
              <a:rPr lang="en-US" dirty="0"/>
              <a:t> for developing responsive and mobile-first websites.</a:t>
            </a:r>
          </a:p>
          <a:p>
            <a:pPr algn="just"/>
            <a:r>
              <a:rPr lang="en-US" b="1" dirty="0"/>
              <a:t>Bootstrap 5</a:t>
            </a:r>
            <a:r>
              <a:rPr lang="en-US" dirty="0"/>
              <a:t> is the latest version of Bootstrap.</a:t>
            </a:r>
          </a:p>
          <a:p>
            <a:pPr algn="just"/>
            <a:r>
              <a:rPr lang="en-US" b="1" dirty="0"/>
              <a:t>Bootstrap</a:t>
            </a:r>
            <a:r>
              <a:rPr lang="en-US" dirty="0"/>
              <a:t> is a </a:t>
            </a:r>
            <a:r>
              <a:rPr lang="en-US" b="1" dirty="0"/>
              <a:t>free and open-source</a:t>
            </a:r>
            <a:r>
              <a:rPr lang="en-US" dirty="0"/>
              <a:t> CSS framework directed at responsive, mobile-first front-end web development. It contains CSS- and JavaScript-based design templates for typography, forms, buttons, navigation and other interface components.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599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Browser Support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Bootstrap 5 supports all major browsers (Check for IE 9).</a:t>
            </a:r>
          </a:p>
          <a:p>
            <a:pPr lvl="1" algn="just"/>
            <a:r>
              <a:rPr lang="en-US" dirty="0"/>
              <a:t>If you require support for IE9 or IE8, my recommendation would be to use Bootstrap 3.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075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get Bootstrap?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There are two ways to start using Bootstrap 5 on your own web site.</a:t>
            </a:r>
          </a:p>
          <a:p>
            <a:pPr algn="just"/>
            <a:r>
              <a:rPr lang="en-US" dirty="0"/>
              <a:t>You can:</a:t>
            </a:r>
          </a:p>
          <a:p>
            <a:pPr lvl="1" algn="just"/>
            <a:r>
              <a:rPr lang="en-US" dirty="0"/>
              <a:t>Include Bootstrap 5 from a CDN</a:t>
            </a:r>
          </a:p>
          <a:p>
            <a:pPr lvl="1" algn="just"/>
            <a:r>
              <a:rPr lang="en-US" dirty="0"/>
              <a:t>Download Bootstrap 5 from getbootstrap.com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0131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Bootstrap 5 CDN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If you don't want to download and host Bootstrap 5 yourself, you can include it from a CDN (Content Delivery Network).</a:t>
            </a:r>
          </a:p>
          <a:p>
            <a:pPr algn="just"/>
            <a:r>
              <a:rPr lang="en-US" dirty="0" err="1"/>
              <a:t>MaxCDN</a:t>
            </a:r>
            <a:r>
              <a:rPr lang="en-US" dirty="0"/>
              <a:t> provides CDN support for Bootstrap's CSS and JavaScript. You must also include jQuery:</a:t>
            </a:r>
          </a:p>
          <a:p>
            <a:pPr algn="just"/>
            <a:r>
              <a:rPr lang="en-US" dirty="0"/>
              <a:t>Many users already have downloaded Bootstrap 5 from </a:t>
            </a:r>
            <a:r>
              <a:rPr lang="en-US" dirty="0" err="1"/>
              <a:t>MaxCDN</a:t>
            </a:r>
            <a:r>
              <a:rPr lang="en-US" dirty="0"/>
              <a:t> when visiting another site. As a result, it will be loaded from cache when they visit your site, which leads to faster loading time. Also, most CDN's will make sure that once a user requests a file from it, it will be served from the server closest to them, which also leads to faster loading time.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7550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and Popper?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Bootstrap 5 uses jQuery and Popper.js for JavaScript components (like modals, tooltips, popovers </a:t>
            </a:r>
            <a:r>
              <a:rPr lang="en-US" dirty="0" err="1"/>
              <a:t>etc</a:t>
            </a:r>
            <a:r>
              <a:rPr lang="en-US" dirty="0"/>
              <a:t>). However, if you just use the CSS part of Bootstrap, you don't need them.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791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that require jQuery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GB" dirty="0"/>
              <a:t>Closable alerts</a:t>
            </a:r>
          </a:p>
          <a:p>
            <a:pPr algn="just"/>
            <a:r>
              <a:rPr lang="en-GB" dirty="0"/>
              <a:t>Buttons and checkboxes/radio buttons for toggling states</a:t>
            </a:r>
          </a:p>
          <a:p>
            <a:pPr algn="just"/>
            <a:r>
              <a:rPr lang="en-GB" dirty="0"/>
              <a:t>Carousel for slides, controls, and indicators</a:t>
            </a:r>
          </a:p>
          <a:p>
            <a:pPr algn="just"/>
            <a:r>
              <a:rPr lang="en-GB" dirty="0"/>
              <a:t>Collapse for toggling content</a:t>
            </a:r>
          </a:p>
          <a:p>
            <a:pPr algn="just"/>
            <a:r>
              <a:rPr lang="en-GB" dirty="0"/>
              <a:t>Dropdowns (also requires Popper.js for perfect positioning)</a:t>
            </a:r>
          </a:p>
          <a:p>
            <a:pPr algn="just"/>
            <a:r>
              <a:rPr lang="en-GB" dirty="0"/>
              <a:t>Modals (open and close)</a:t>
            </a:r>
          </a:p>
          <a:p>
            <a:pPr algn="just"/>
            <a:r>
              <a:rPr lang="en-GB" dirty="0" err="1"/>
              <a:t>Navbar</a:t>
            </a:r>
            <a:r>
              <a:rPr lang="en-GB" dirty="0"/>
              <a:t> (for collapsible menus)</a:t>
            </a:r>
          </a:p>
          <a:p>
            <a:pPr algn="just"/>
            <a:r>
              <a:rPr lang="en-GB" dirty="0"/>
              <a:t>Tooltips and popovers (also requires Popper.js for perfect positioning)</a:t>
            </a:r>
          </a:p>
          <a:p>
            <a:pPr algn="just"/>
            <a:r>
              <a:rPr lang="en-GB" dirty="0" err="1"/>
              <a:t>Scrollspy</a:t>
            </a:r>
            <a:r>
              <a:rPr lang="en-GB" dirty="0"/>
              <a:t> for scroll </a:t>
            </a:r>
            <a:r>
              <a:rPr lang="en-GB" dirty="0" err="1"/>
              <a:t>behavior</a:t>
            </a:r>
            <a:r>
              <a:rPr lang="en-GB" dirty="0"/>
              <a:t> and navigation updates</a:t>
            </a:r>
          </a:p>
        </p:txBody>
      </p:sp>
    </p:spTree>
    <p:extLst>
      <p:ext uri="{BB962C8B-B14F-4D97-AF65-F5344CB8AC3E}">
        <p14:creationId xmlns:p14="http://schemas.microsoft.com/office/powerpoint/2010/main" val="214941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Bootstrap 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you want to download and host Bootstrap 5 yourself, go to </a:t>
            </a:r>
            <a:r>
              <a:rPr lang="en-US" dirty="0">
                <a:hlinkClick r:id="rId2"/>
              </a:rPr>
              <a:t>https://getbootstrap.com/</a:t>
            </a:r>
            <a:r>
              <a:rPr lang="en-US" dirty="0"/>
              <a:t>, and follow the instructions there.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13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Checks for Bootstrap 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Mobile first approach</a:t>
            </a:r>
          </a:p>
          <a:p>
            <a:pPr lvl="1" algn="just"/>
            <a:r>
              <a:rPr lang="en-US" dirty="0"/>
              <a:t>Meta tag inside head element</a:t>
            </a:r>
          </a:p>
          <a:p>
            <a:pPr lvl="1" algn="just"/>
            <a:r>
              <a:rPr lang="en-US" dirty="0"/>
              <a:t>&lt;meta name="viewport" content="width=device-width, initial-scale=1"&gt;</a:t>
            </a:r>
          </a:p>
          <a:p>
            <a:pPr algn="just"/>
            <a:r>
              <a:rPr lang="en-US" dirty="0"/>
              <a:t>HTML5 </a:t>
            </a:r>
            <a:r>
              <a:rPr lang="en-US" dirty="0" err="1"/>
              <a:t>Doctype</a:t>
            </a:r>
            <a:endParaRPr lang="en-US" dirty="0"/>
          </a:p>
          <a:p>
            <a:pPr lvl="1" algn="just"/>
            <a:r>
              <a:rPr lang="en-GB" dirty="0"/>
              <a:t>&lt;!DOCTYPE html&gt;</a:t>
            </a:r>
          </a:p>
          <a:p>
            <a:pPr lvl="1"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95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Description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Bootstrap Containers</a:t>
            </a:r>
          </a:p>
          <a:p>
            <a:pPr algn="just"/>
            <a:r>
              <a:rPr lang="en-US" dirty="0"/>
              <a:t>Bootstrap Colors</a:t>
            </a:r>
          </a:p>
          <a:p>
            <a:pPr algn="just"/>
            <a:r>
              <a:rPr lang="en-US" dirty="0"/>
              <a:t>Bootstrap Text Colors</a:t>
            </a:r>
          </a:p>
          <a:p>
            <a:pPr algn="just"/>
            <a:r>
              <a:rPr lang="en-US" dirty="0"/>
              <a:t>Bootstrap Columns</a:t>
            </a:r>
          </a:p>
          <a:p>
            <a:pPr algn="just"/>
            <a:r>
              <a:rPr lang="en-US" dirty="0"/>
              <a:t>Responsive Columns</a:t>
            </a:r>
          </a:p>
          <a:p>
            <a:pPr algn="just"/>
            <a:r>
              <a:rPr lang="en-US" dirty="0"/>
              <a:t>Bootstrap Tables</a:t>
            </a:r>
          </a:p>
          <a:p>
            <a:pPr algn="just"/>
            <a:r>
              <a:rPr lang="en-US" dirty="0"/>
              <a:t>Bootstrap Alerts</a:t>
            </a:r>
          </a:p>
          <a:p>
            <a:pPr algn="just"/>
            <a:r>
              <a:rPr lang="en-US" dirty="0"/>
              <a:t>Bootstrap Buttons</a:t>
            </a:r>
          </a:p>
          <a:p>
            <a:pPr algn="just"/>
            <a:r>
              <a:rPr lang="en-US" dirty="0"/>
              <a:t>Bootstrap Cards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85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Bootstrap Containers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container class is one of the most important Bootstrap classes.</a:t>
            </a:r>
          </a:p>
          <a:p>
            <a:r>
              <a:rPr lang="en-US" dirty="0"/>
              <a:t>Bootstrap 5 requires a containing element to wrap site contents.</a:t>
            </a:r>
          </a:p>
          <a:p>
            <a:r>
              <a:rPr lang="en-US" dirty="0"/>
              <a:t>There are two container classes to choose from:</a:t>
            </a:r>
          </a:p>
          <a:p>
            <a:pPr lvl="1"/>
            <a:r>
              <a:rPr lang="en-US" dirty="0"/>
              <a:t>.container (fixed width)</a:t>
            </a:r>
          </a:p>
          <a:p>
            <a:pPr lvl="1"/>
            <a:r>
              <a:rPr lang="en-US" dirty="0"/>
              <a:t>.container-fluid (spans the entire width of the viewport)</a:t>
            </a:r>
          </a:p>
          <a:p>
            <a:r>
              <a:rPr lang="en-US" dirty="0"/>
              <a:t>It provides margins, padding, alignments, and more, to HTML elements.</a:t>
            </a:r>
            <a:endParaRPr lang="en-GB" dirty="0"/>
          </a:p>
          <a:p>
            <a:pPr lvl="1"/>
            <a:r>
              <a:rPr lang="en-US" dirty="0"/>
              <a:t>&lt;div class="container"&gt;</a:t>
            </a:r>
            <a:br>
              <a:rPr lang="en-US" dirty="0"/>
            </a:br>
            <a:r>
              <a:rPr lang="en-US" dirty="0"/>
              <a:t>    &lt;h1&gt;This is a paragraph&lt;/h1&gt;</a:t>
            </a:r>
            <a:br>
              <a:rPr lang="en-US" dirty="0"/>
            </a:br>
            <a:r>
              <a:rPr lang="en-US" dirty="0"/>
              <a:t>    &lt;p&gt;This is a paragraph&lt;/p&gt;</a:t>
            </a:r>
            <a:br>
              <a:rPr lang="en-US" dirty="0"/>
            </a:br>
            <a:r>
              <a:rPr lang="en-US" dirty="0"/>
              <a:t>&lt;/div&gt;</a:t>
            </a:r>
          </a:p>
          <a:p>
            <a:pPr marL="457200" lvl="1" indent="0" algn="r">
              <a:buNone/>
            </a:pPr>
            <a:r>
              <a:rPr lang="en-US" dirty="0"/>
              <a:t>See Example 01</a:t>
            </a:r>
          </a:p>
        </p:txBody>
      </p:sp>
    </p:spTree>
    <p:extLst>
      <p:ext uri="{BB962C8B-B14F-4D97-AF65-F5344CB8AC3E}">
        <p14:creationId xmlns:p14="http://schemas.microsoft.com/office/powerpoint/2010/main" val="412215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Colors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&lt;div class="container </a:t>
            </a:r>
            <a:r>
              <a:rPr lang="en-US" dirty="0" err="1"/>
              <a:t>bg</a:t>
            </a:r>
            <a:r>
              <a:rPr lang="en-US" dirty="0"/>
              <a:t>-primary text-white py-4"&gt;</a:t>
            </a:r>
            <a:br>
              <a:rPr lang="en-US" dirty="0"/>
            </a:br>
            <a:r>
              <a:rPr lang="en-US" dirty="0"/>
              <a:t>&lt;p&gt;London is the most populous city in the United Kingdom, with a metropolitan area of over 9 million inhabitants.&lt;/p&gt;</a:t>
            </a:r>
            <a:br>
              <a:rPr lang="en-US" dirty="0"/>
            </a:br>
            <a:r>
              <a:rPr lang="en-US" dirty="0"/>
              <a:t>&lt;/div&gt;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&lt;div class="container </a:t>
            </a:r>
            <a:r>
              <a:rPr lang="en-US" dirty="0" err="1"/>
              <a:t>bg</a:t>
            </a:r>
            <a:r>
              <a:rPr lang="en-US" dirty="0"/>
              <a:t>-success text-white py-4"&gt;</a:t>
            </a:r>
            <a:br>
              <a:rPr lang="en-US" dirty="0"/>
            </a:br>
            <a:r>
              <a:rPr lang="en-US" dirty="0"/>
              <a:t>&lt;p&gt;London is the most populous city in the United Kingdom, with a metropolitan area of over 9 million inhabitants.&lt;/p&gt;</a:t>
            </a:r>
            <a:br>
              <a:rPr lang="en-US" dirty="0"/>
            </a:br>
            <a:r>
              <a:rPr lang="en-US" dirty="0"/>
              <a:t>&lt;/div&gt;</a:t>
            </a:r>
          </a:p>
          <a:p>
            <a:pPr marL="0" indent="0" algn="r">
              <a:buNone/>
            </a:pPr>
            <a:r>
              <a:rPr lang="en-US" dirty="0"/>
              <a:t>See Example 02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3755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Text Colors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&lt;div class="container"&gt;</a:t>
            </a:r>
            <a:br>
              <a:rPr lang="en-US" dirty="0"/>
            </a:br>
            <a:r>
              <a:rPr lang="en-US" dirty="0"/>
              <a:t>    &lt;p class="text-muted"&gt;This text is muted.&lt;/p&gt;</a:t>
            </a:r>
            <a:br>
              <a:rPr lang="en-US" dirty="0"/>
            </a:br>
            <a:r>
              <a:rPr lang="en-US" dirty="0"/>
              <a:t>    &lt;p class="text-primary"&gt;This text is important.&lt;/p&gt;</a:t>
            </a:r>
            <a:br>
              <a:rPr lang="en-US" dirty="0"/>
            </a:br>
            <a:r>
              <a:rPr lang="en-US" dirty="0"/>
              <a:t>    &lt;p class="text-success"&gt;This text indicates success.&lt;/p&gt;</a:t>
            </a:r>
            <a:br>
              <a:rPr lang="en-US" dirty="0"/>
            </a:br>
            <a:r>
              <a:rPr lang="en-US" dirty="0"/>
              <a:t>    &lt;p class="text-info"&gt;This text represents some information.&lt;/p&gt;</a:t>
            </a:r>
            <a:br>
              <a:rPr lang="en-US" dirty="0"/>
            </a:br>
            <a:r>
              <a:rPr lang="en-US" dirty="0"/>
              <a:t>    &lt;p class="text-warning"&gt;This text represents a warning.&lt;/p&gt;</a:t>
            </a:r>
            <a:br>
              <a:rPr lang="en-US" dirty="0"/>
            </a:br>
            <a:r>
              <a:rPr lang="en-US" dirty="0"/>
              <a:t>    &lt;p class="text-danger"&gt;This text represents danger.&lt;/p&gt;</a:t>
            </a:r>
            <a:br>
              <a:rPr lang="en-US" dirty="0"/>
            </a:br>
            <a:r>
              <a:rPr lang="en-US" dirty="0"/>
              <a:t>&lt;/div&gt;</a:t>
            </a:r>
            <a:endParaRPr lang="en-GB" dirty="0"/>
          </a:p>
          <a:p>
            <a:pPr marL="0" indent="0" algn="r">
              <a:buNone/>
            </a:pPr>
            <a:r>
              <a:rPr lang="en-US" dirty="0"/>
              <a:t>See Example 03</a:t>
            </a:r>
          </a:p>
        </p:txBody>
      </p:sp>
    </p:spTree>
    <p:extLst>
      <p:ext uri="{BB962C8B-B14F-4D97-AF65-F5344CB8AC3E}">
        <p14:creationId xmlns:p14="http://schemas.microsoft.com/office/powerpoint/2010/main" val="3809441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Columns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Three equal-width columns, on all devices and screen widths:</a:t>
            </a:r>
          </a:p>
          <a:p>
            <a:pPr lvl="1"/>
            <a:r>
              <a:rPr lang="en-GB" dirty="0"/>
              <a:t>&lt;div class="row"&gt;</a:t>
            </a:r>
            <a:br>
              <a:rPr lang="en-GB" dirty="0"/>
            </a:br>
            <a:r>
              <a:rPr lang="en-GB" dirty="0"/>
              <a:t>  &lt;div class="col"&gt;.col&lt;/div&gt;</a:t>
            </a:r>
            <a:br>
              <a:rPr lang="en-GB" dirty="0"/>
            </a:br>
            <a:r>
              <a:rPr lang="en-GB" dirty="0"/>
              <a:t>  &lt;div class="col"&gt;.col&lt;/div&gt;</a:t>
            </a:r>
            <a:br>
              <a:rPr lang="en-GB" dirty="0"/>
            </a:br>
            <a:r>
              <a:rPr lang="en-GB" dirty="0"/>
              <a:t>  &lt;div class="col"&gt;.col&lt;/div&gt;</a:t>
            </a:r>
            <a:br>
              <a:rPr lang="en-GB" dirty="0"/>
            </a:br>
            <a:r>
              <a:rPr lang="en-GB" dirty="0"/>
              <a:t>&lt;/div&gt;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 algn="r">
              <a:buNone/>
            </a:pPr>
            <a:r>
              <a:rPr lang="en-US" dirty="0"/>
              <a:t>See Example 04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9757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Columns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Three equal-width columns scaling to stack on top of each other on small screens:</a:t>
            </a:r>
          </a:p>
          <a:p>
            <a:pPr lvl="1"/>
            <a:r>
              <a:rPr lang="en-US" dirty="0"/>
              <a:t>&lt;div class="row"&gt;</a:t>
            </a:r>
            <a:br>
              <a:rPr lang="en-US" dirty="0"/>
            </a:br>
            <a:r>
              <a:rPr lang="en-US" dirty="0"/>
              <a:t>  &lt;div class="col-sm-4"&gt;.col-sm-4&lt;/div&gt;</a:t>
            </a:r>
            <a:br>
              <a:rPr lang="en-US" dirty="0"/>
            </a:br>
            <a:r>
              <a:rPr lang="en-US" dirty="0"/>
              <a:t>  &lt;div class="col-sm-4"&gt;.col-sm-4&lt;/div&gt;</a:t>
            </a:r>
            <a:br>
              <a:rPr lang="en-US" dirty="0"/>
            </a:br>
            <a:r>
              <a:rPr lang="en-US" dirty="0"/>
              <a:t>  &lt;div class="col-sm-4"&gt;.col-sm-4&lt;/div&gt;</a:t>
            </a:r>
            <a:br>
              <a:rPr lang="en-US" dirty="0"/>
            </a:br>
            <a:r>
              <a:rPr lang="en-US" dirty="0"/>
              <a:t>&lt;/div&gt;</a:t>
            </a:r>
          </a:p>
          <a:p>
            <a:pPr lvl="1"/>
            <a:endParaRPr lang="en-US" dirty="0"/>
          </a:p>
          <a:p>
            <a:pPr marL="457200" lvl="1" indent="0" algn="r">
              <a:buNone/>
            </a:pPr>
            <a:r>
              <a:rPr lang="en-US" dirty="0"/>
              <a:t>See Example 05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3539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Tables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 </a:t>
            </a:r>
            <a:r>
              <a:rPr lang="en-GB" dirty="0" err="1"/>
              <a:t>boredered</a:t>
            </a:r>
            <a:r>
              <a:rPr lang="en-GB" dirty="0"/>
              <a:t> zebra-striped table:</a:t>
            </a:r>
          </a:p>
          <a:p>
            <a:pPr lvl="1"/>
            <a:r>
              <a:rPr lang="en-US" dirty="0"/>
              <a:t>&lt;table class="table table-striped table-bordered"&gt;</a:t>
            </a:r>
            <a:br>
              <a:rPr lang="en-US" dirty="0"/>
            </a:br>
            <a:r>
              <a:rPr lang="en-US" dirty="0"/>
              <a:t>  &lt;</a:t>
            </a:r>
            <a:r>
              <a:rPr lang="en-US" dirty="0" err="1"/>
              <a:t>thead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&lt;</a:t>
            </a:r>
            <a:r>
              <a:rPr lang="en-US" dirty="0" err="1"/>
              <a:t>tr</a:t>
            </a:r>
            <a:r>
              <a:rPr lang="en-US" dirty="0"/>
              <a:t>&gt;…</a:t>
            </a:r>
            <a:br>
              <a:rPr lang="en-US" dirty="0"/>
            </a:br>
            <a:r>
              <a:rPr lang="en-US" dirty="0"/>
              <a:t>    &lt;/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&lt;/</a:t>
            </a:r>
            <a:r>
              <a:rPr lang="en-US" dirty="0" err="1"/>
              <a:t>thead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&lt;</a:t>
            </a:r>
            <a:r>
              <a:rPr lang="en-US" dirty="0" err="1"/>
              <a:t>tbody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&lt;</a:t>
            </a:r>
            <a:r>
              <a:rPr lang="en-US" dirty="0" err="1"/>
              <a:t>tr</a:t>
            </a:r>
            <a:r>
              <a:rPr lang="en-US" dirty="0"/>
              <a:t>&gt;…</a:t>
            </a:r>
            <a:br>
              <a:rPr lang="en-US" dirty="0"/>
            </a:br>
            <a:r>
              <a:rPr lang="en-US" dirty="0"/>
              <a:t>    &lt;/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&lt;</a:t>
            </a:r>
            <a:r>
              <a:rPr lang="en-US" dirty="0" err="1"/>
              <a:t>tr</a:t>
            </a:r>
            <a:r>
              <a:rPr lang="en-US" dirty="0"/>
              <a:t>&gt;…</a:t>
            </a:r>
            <a:br>
              <a:rPr lang="en-US" dirty="0"/>
            </a:br>
            <a:r>
              <a:rPr lang="en-US" dirty="0"/>
              <a:t>    &lt;/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&lt;</a:t>
            </a:r>
            <a:r>
              <a:rPr lang="en-US" dirty="0" err="1"/>
              <a:t>tr</a:t>
            </a:r>
            <a:r>
              <a:rPr lang="en-US" dirty="0"/>
              <a:t>&gt;…</a:t>
            </a:r>
            <a:br>
              <a:rPr lang="en-US" dirty="0"/>
            </a:br>
            <a:r>
              <a:rPr lang="en-US" dirty="0"/>
              <a:t>    &lt;/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&lt;/</a:t>
            </a:r>
            <a:r>
              <a:rPr lang="en-US" dirty="0" err="1"/>
              <a:t>tbody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&lt;/table&gt;</a:t>
            </a:r>
          </a:p>
          <a:p>
            <a:pPr marL="457200" lvl="1" indent="0" algn="r">
              <a:buNone/>
            </a:pPr>
            <a:r>
              <a:rPr lang="en-US" dirty="0"/>
              <a:t>See Example 06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1955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Bootstrap Alerts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provides an easy way to create predefined alert messages:</a:t>
            </a:r>
          </a:p>
          <a:p>
            <a:pPr lvl="1"/>
            <a:r>
              <a:rPr lang="en-US" dirty="0"/>
              <a:t>&lt;div class="alert alert-success"&gt;</a:t>
            </a:r>
            <a:br>
              <a:rPr lang="en-US" dirty="0"/>
            </a:br>
            <a:r>
              <a:rPr lang="en-US" dirty="0"/>
              <a:t>  &lt;strong&gt;Success!&lt;/strong&gt; Indicates a successful or positive action.</a:t>
            </a:r>
            <a:br>
              <a:rPr lang="en-US" dirty="0"/>
            </a:br>
            <a:r>
              <a:rPr lang="en-US" dirty="0"/>
              <a:t>&lt;/div&gt;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 algn="r">
              <a:buNone/>
            </a:pPr>
            <a:r>
              <a:rPr lang="en-US" dirty="0"/>
              <a:t>See Example 07</a:t>
            </a:r>
          </a:p>
        </p:txBody>
      </p:sp>
    </p:spTree>
    <p:extLst>
      <p:ext uri="{BB962C8B-B14F-4D97-AF65-F5344CB8AC3E}">
        <p14:creationId xmlns:p14="http://schemas.microsoft.com/office/powerpoint/2010/main" val="1059479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Buttons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Bootstrap provides different styles of buttons:</a:t>
            </a:r>
          </a:p>
          <a:p>
            <a:pPr lvl="1"/>
            <a:r>
              <a:rPr lang="en-GB" dirty="0"/>
              <a:t>&lt;button type="button" class="</a:t>
            </a:r>
            <a:r>
              <a:rPr lang="en-GB" dirty="0" err="1"/>
              <a:t>btn</a:t>
            </a:r>
            <a:r>
              <a:rPr lang="en-GB" dirty="0"/>
              <a:t>"&gt;Basic&lt;/button&gt;</a:t>
            </a:r>
            <a:br>
              <a:rPr lang="en-GB" dirty="0"/>
            </a:br>
            <a:r>
              <a:rPr lang="en-GB" dirty="0"/>
              <a:t>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-primary"&gt;Primary&lt;/button&gt;</a:t>
            </a:r>
            <a:br>
              <a:rPr lang="en-GB" dirty="0"/>
            </a:br>
            <a:r>
              <a:rPr lang="en-GB" dirty="0"/>
              <a:t>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-secondary"&gt;Secondary&lt;/button&gt;</a:t>
            </a:r>
            <a:br>
              <a:rPr lang="en-GB" dirty="0"/>
            </a:br>
            <a:r>
              <a:rPr lang="en-GB" dirty="0"/>
              <a:t>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-success"&gt;Success&lt;/button&gt;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 algn="r">
              <a:buNone/>
            </a:pPr>
            <a:r>
              <a:rPr lang="en-US" dirty="0"/>
              <a:t>See Example 08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0009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Cards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&lt;div class="card" style="width:400px"&gt;</a:t>
            </a:r>
            <a:br>
              <a:rPr lang="en-US" dirty="0"/>
            </a:br>
            <a:r>
              <a:rPr lang="en-US" dirty="0"/>
              <a:t>  &lt;</a:t>
            </a:r>
            <a:r>
              <a:rPr lang="en-US" dirty="0" err="1"/>
              <a:t>img</a:t>
            </a:r>
            <a:r>
              <a:rPr lang="en-US" dirty="0"/>
              <a:t> </a:t>
            </a:r>
            <a:r>
              <a:rPr lang="en-US" dirty="0" err="1"/>
              <a:t>src</a:t>
            </a:r>
            <a:r>
              <a:rPr lang="en-US" dirty="0"/>
              <a:t>="img_avatar1.png" alt="Card image"&gt;</a:t>
            </a:r>
            <a:br>
              <a:rPr lang="en-US" dirty="0"/>
            </a:br>
            <a:r>
              <a:rPr lang="en-US" dirty="0"/>
              <a:t>  &lt;div class="card-body"&gt;</a:t>
            </a:r>
            <a:br>
              <a:rPr lang="en-US" dirty="0"/>
            </a:br>
            <a:r>
              <a:rPr lang="en-US" dirty="0"/>
              <a:t>    &lt;h4 class="card-title"&gt;John Doe&lt;/h4&gt;</a:t>
            </a:r>
            <a:br>
              <a:rPr lang="en-US" dirty="0"/>
            </a:br>
            <a:r>
              <a:rPr lang="en-US" dirty="0"/>
              <a:t>    &lt;p class="card-text"&gt;Some example text.&lt;/p&gt;</a:t>
            </a:r>
            <a:br>
              <a:rPr lang="en-US" dirty="0"/>
            </a:br>
            <a:r>
              <a:rPr lang="en-US" dirty="0"/>
              <a:t>    &lt;a </a:t>
            </a:r>
            <a:r>
              <a:rPr lang="en-US" dirty="0" err="1"/>
              <a:t>href</a:t>
            </a:r>
            <a:r>
              <a:rPr lang="en-US" dirty="0"/>
              <a:t>="#" 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-primary"&gt;See Profile&lt;/a&gt;</a:t>
            </a:r>
            <a:br>
              <a:rPr lang="en-US" dirty="0"/>
            </a:br>
            <a:r>
              <a:rPr lang="en-US" dirty="0"/>
              <a:t>  &lt;/div&gt;</a:t>
            </a:r>
            <a:br>
              <a:rPr lang="en-US" dirty="0"/>
            </a:br>
            <a:r>
              <a:rPr lang="en-US" dirty="0"/>
              <a:t>&lt;/div&gt;</a:t>
            </a:r>
            <a:endParaRPr lang="en-GB" dirty="0"/>
          </a:p>
          <a:p>
            <a:pPr marL="0" indent="0" algn="r">
              <a:buNone/>
            </a:pPr>
            <a:r>
              <a:rPr lang="en-US"/>
              <a:t>See Example 09</a:t>
            </a:r>
          </a:p>
        </p:txBody>
      </p:sp>
    </p:spTree>
    <p:extLst>
      <p:ext uri="{BB962C8B-B14F-4D97-AF65-F5344CB8AC3E}">
        <p14:creationId xmlns:p14="http://schemas.microsoft.com/office/powerpoint/2010/main" val="3966883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https://www.w3schools.com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259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</TotalTime>
  <Words>1335</Words>
  <Application>Microsoft Office PowerPoint</Application>
  <PresentationFormat>Widescreen</PresentationFormat>
  <Paragraphs>106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Garamond</vt:lpstr>
      <vt:lpstr>Organic</vt:lpstr>
      <vt:lpstr>Advanced Client-Side Development</vt:lpstr>
      <vt:lpstr>Bootstrap</vt:lpstr>
      <vt:lpstr>Browser Support</vt:lpstr>
      <vt:lpstr>Where to get Bootstrap?</vt:lpstr>
      <vt:lpstr>Bootstrap 5 CDN</vt:lpstr>
      <vt:lpstr>jQuery and Popper?</vt:lpstr>
      <vt:lpstr>Components that require jQuery</vt:lpstr>
      <vt:lpstr>Downloading Bootstrap 5</vt:lpstr>
      <vt:lpstr>Some Checks for Bootstrap 5</vt:lpstr>
      <vt:lpstr>Short Description</vt:lpstr>
      <vt:lpstr>Bootstrap Containers</vt:lpstr>
      <vt:lpstr>Bootstrap Colors</vt:lpstr>
      <vt:lpstr>Bootstrap Text Colors</vt:lpstr>
      <vt:lpstr>Bootstrap Columns</vt:lpstr>
      <vt:lpstr>Responsive Columns</vt:lpstr>
      <vt:lpstr>Bootstrap Tables</vt:lpstr>
      <vt:lpstr>Bootstrap Alerts</vt:lpstr>
      <vt:lpstr>Bootstrap Buttons</vt:lpstr>
      <vt:lpstr>Bootstrap Cards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</dc:title>
  <dc:creator>Ebad Majeed</dc:creator>
  <cp:lastModifiedBy>Ebad Majeed</cp:lastModifiedBy>
  <cp:revision>9</cp:revision>
  <dcterms:created xsi:type="dcterms:W3CDTF">2020-04-28T01:04:32Z</dcterms:created>
  <dcterms:modified xsi:type="dcterms:W3CDTF">2023-10-23T23:27:39Z</dcterms:modified>
</cp:coreProperties>
</file>