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2" r:id="rId7"/>
    <p:sldId id="263" r:id="rId8"/>
    <p:sldId id="264" r:id="rId9"/>
    <p:sldId id="265" r:id="rId10"/>
    <p:sldId id="261"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6" d="100"/>
          <a:sy n="86" d="100"/>
        </p:scale>
        <p:origin x="562"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GB"/>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B61BEF0D-F0BB-DE4B-95CE-6DB70DBA9567}" type="datetimeFigureOut">
              <a:rPr lang="en-US" dirty="0"/>
              <a:pPr/>
              <a:t>11/7/2023</a:t>
            </a:fld>
            <a:endParaRPr lang="en-US" dirty="0"/>
          </a:p>
        </p:txBody>
      </p:sp>
      <p:sp>
        <p:nvSpPr>
          <p:cNvPr id="5" name="Footer Placeholder 4"/>
          <p:cNvSpPr>
            <a:spLocks noGrp="1"/>
          </p:cNvSpPr>
          <p:nvPr>
            <p:ph type="ftr" sz="quarter" idx="11"/>
          </p:nvPr>
        </p:nvSpPr>
        <p:spPr>
          <a:xfrm>
            <a:off x="2692397" y="5037663"/>
            <a:ext cx="5214635" cy="279400"/>
          </a:xfrm>
        </p:spPr>
        <p:txBody>
          <a:bodyPr/>
          <a:lstStyle/>
          <a:p>
            <a:endParaRPr lang="en-US" dirty="0"/>
          </a:p>
        </p:txBody>
      </p:sp>
      <p:sp>
        <p:nvSpPr>
          <p:cNvPr id="6" name="Slide Number Placeholder 5"/>
          <p:cNvSpPr>
            <a:spLocks noGrp="1"/>
          </p:cNvSpPr>
          <p:nvPr>
            <p:ph type="sldNum" sz="quarter" idx="12"/>
          </p:nvPr>
        </p:nvSpPr>
        <p:spPr>
          <a:xfrm>
            <a:off x="8956900" y="5037663"/>
            <a:ext cx="551167" cy="279400"/>
          </a:xfrm>
        </p:spPr>
        <p:txBody>
          <a:bodyPr/>
          <a:lstStyle/>
          <a:p>
            <a:fld id="{D57F1E4F-1CFF-5643-939E-217C01CDF565}" type="slidenum">
              <a:rPr lang="en-US" dirty="0"/>
              <a:pPr/>
              <a:t>‹#›</a:t>
            </a:fld>
            <a:endParaRPr lang="en-US" dirty="0"/>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52647F38-B617-4D2F-AE0A-013F0C4D2C57}" type="datetimeFigureOut">
              <a:rPr lang="en-US" dirty="0"/>
              <a:t>11/7/2023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97799C9-84D9-46D2-A11E-BCF8A720529D}"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GB"/>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11/7/2023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dirty="0"/>
              <a:t>11/7/2023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11/7/2023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11/7/2023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11/7/2023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GB"/>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11/7/2023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GB"/>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11/7/2023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11/7/2023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GB"/>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11/7/2023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GB"/>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11/7/2023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GB"/>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11/7/2023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GB"/>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11/7/2023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GB"/>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11/7/2023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11/7/2023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11/7/2023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11/7/2023</a:t>
            </a:fld>
            <a:endParaRPr lang="en-US"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8" r:id="rId2"/>
    <p:sldLayoutId id="2147483651" r:id="rId3"/>
    <p:sldLayoutId id="2147483669"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B70EB-EC49-B849-6D1E-4C8893718E0E}"/>
              </a:ext>
            </a:extLst>
          </p:cNvPr>
          <p:cNvSpPr>
            <a:spLocks noGrp="1"/>
          </p:cNvSpPr>
          <p:nvPr>
            <p:ph type="ctrTitle"/>
          </p:nvPr>
        </p:nvSpPr>
        <p:spPr/>
        <p:txBody>
          <a:bodyPr/>
          <a:lstStyle/>
          <a:p>
            <a:r>
              <a:rPr lang="en-GB" dirty="0"/>
              <a:t>Bootstrap – part 03</a:t>
            </a:r>
          </a:p>
        </p:txBody>
      </p:sp>
      <p:sp>
        <p:nvSpPr>
          <p:cNvPr id="3" name="Subtitle 2">
            <a:extLst>
              <a:ext uri="{FF2B5EF4-FFF2-40B4-BE49-F238E27FC236}">
                <a16:creationId xmlns:a16="http://schemas.microsoft.com/office/drawing/2014/main" id="{670342AB-144A-B1E8-4350-5B84D81FA717}"/>
              </a:ext>
            </a:extLst>
          </p:cNvPr>
          <p:cNvSpPr>
            <a:spLocks noGrp="1"/>
          </p:cNvSpPr>
          <p:nvPr>
            <p:ph type="subTitle" idx="1"/>
          </p:nvPr>
        </p:nvSpPr>
        <p:spPr/>
        <p:txBody>
          <a:bodyPr/>
          <a:lstStyle/>
          <a:p>
            <a:r>
              <a:rPr lang="en-GB" dirty="0"/>
              <a:t>Utilities, Customization, Responsive Design, Optimization and best practices</a:t>
            </a:r>
          </a:p>
        </p:txBody>
      </p:sp>
    </p:spTree>
    <p:extLst>
      <p:ext uri="{BB962C8B-B14F-4D97-AF65-F5344CB8AC3E}">
        <p14:creationId xmlns:p14="http://schemas.microsoft.com/office/powerpoint/2010/main" val="3404133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375B5-301C-2A6E-B8C3-4C5A71B9EF6D}"/>
              </a:ext>
            </a:extLst>
          </p:cNvPr>
          <p:cNvSpPr>
            <a:spLocks noGrp="1"/>
          </p:cNvSpPr>
          <p:nvPr>
            <p:ph type="title"/>
          </p:nvPr>
        </p:nvSpPr>
        <p:spPr/>
        <p:txBody>
          <a:bodyPr>
            <a:normAutofit/>
          </a:bodyPr>
          <a:lstStyle/>
          <a:p>
            <a:r>
              <a:rPr lang="en-GB" b="0" i="0" dirty="0">
                <a:effectLst/>
                <a:latin typeface="Söhne"/>
              </a:rPr>
              <a:t>Bootstrap Utilities</a:t>
            </a:r>
            <a:endParaRPr lang="en-GB" dirty="0"/>
          </a:p>
        </p:txBody>
      </p:sp>
      <p:sp>
        <p:nvSpPr>
          <p:cNvPr id="3" name="Content Placeholder 2">
            <a:extLst>
              <a:ext uri="{FF2B5EF4-FFF2-40B4-BE49-F238E27FC236}">
                <a16:creationId xmlns:a16="http://schemas.microsoft.com/office/drawing/2014/main" id="{B3BB4DCB-9EAC-E070-305F-890FC069B8CB}"/>
              </a:ext>
            </a:extLst>
          </p:cNvPr>
          <p:cNvSpPr>
            <a:spLocks noGrp="1"/>
          </p:cNvSpPr>
          <p:nvPr>
            <p:ph idx="1"/>
          </p:nvPr>
        </p:nvSpPr>
        <p:spPr/>
        <p:txBody>
          <a:bodyPr>
            <a:normAutofit fontScale="92500" lnSpcReduction="10000"/>
          </a:bodyPr>
          <a:lstStyle/>
          <a:p>
            <a:pPr algn="l">
              <a:buFont typeface="Arial" panose="020B0604020202020204" pitchFamily="34" charset="0"/>
              <a:buChar char="•"/>
            </a:pPr>
            <a:r>
              <a:rPr lang="en-GB" b="0" i="0" dirty="0">
                <a:solidFill>
                  <a:srgbClr val="374151"/>
                </a:solidFill>
                <a:effectLst/>
                <a:latin typeface="Söhne"/>
              </a:rPr>
              <a:t>Understanding Bootstrap utility classes:</a:t>
            </a:r>
          </a:p>
          <a:p>
            <a:pPr lvl="1">
              <a:buFont typeface="Arial" panose="020B0604020202020204" pitchFamily="34" charset="0"/>
              <a:buChar char="•"/>
            </a:pPr>
            <a:r>
              <a:rPr lang="en-GB" b="0" i="0" dirty="0">
                <a:solidFill>
                  <a:srgbClr val="374151"/>
                </a:solidFill>
                <a:effectLst/>
                <a:latin typeface="Söhne"/>
              </a:rPr>
              <a:t>Text alignment</a:t>
            </a:r>
          </a:p>
          <a:p>
            <a:pPr lvl="1">
              <a:buFont typeface="Arial" panose="020B0604020202020204" pitchFamily="34" charset="0"/>
              <a:buChar char="•"/>
            </a:pPr>
            <a:r>
              <a:rPr lang="en-GB" b="0" i="0" dirty="0">
                <a:solidFill>
                  <a:srgbClr val="374151"/>
                </a:solidFill>
                <a:effectLst/>
                <a:latin typeface="Söhne"/>
              </a:rPr>
              <a:t>Spacing</a:t>
            </a:r>
          </a:p>
          <a:p>
            <a:pPr lvl="1">
              <a:buFont typeface="Arial" panose="020B0604020202020204" pitchFamily="34" charset="0"/>
              <a:buChar char="•"/>
            </a:pPr>
            <a:r>
              <a:rPr lang="en-GB" b="0" i="0" dirty="0">
                <a:solidFill>
                  <a:srgbClr val="374151"/>
                </a:solidFill>
                <a:effectLst/>
                <a:latin typeface="Söhne"/>
              </a:rPr>
              <a:t>Colours</a:t>
            </a:r>
          </a:p>
          <a:p>
            <a:pPr lvl="1">
              <a:buFont typeface="Arial" panose="020B0604020202020204" pitchFamily="34" charset="0"/>
              <a:buChar char="•"/>
            </a:pPr>
            <a:r>
              <a:rPr lang="en-GB" b="0" i="0" dirty="0">
                <a:solidFill>
                  <a:srgbClr val="374151"/>
                </a:solidFill>
                <a:effectLst/>
                <a:latin typeface="Söhne"/>
              </a:rPr>
              <a:t>Display properties</a:t>
            </a:r>
          </a:p>
          <a:p>
            <a:pPr lvl="1">
              <a:buFont typeface="Arial" panose="020B0604020202020204" pitchFamily="34" charset="0"/>
              <a:buChar char="•"/>
            </a:pPr>
            <a:r>
              <a:rPr lang="en-GB" b="0" i="0" dirty="0">
                <a:solidFill>
                  <a:srgbClr val="374151"/>
                </a:solidFill>
                <a:effectLst/>
                <a:latin typeface="Söhne"/>
              </a:rPr>
              <a:t>Flexbox utilities (flex, row, column, justify, alignment and axis)</a:t>
            </a:r>
          </a:p>
          <a:p>
            <a:pPr lvl="1">
              <a:buFont typeface="Arial" panose="020B0604020202020204" pitchFamily="34" charset="0"/>
              <a:buChar char="•"/>
            </a:pPr>
            <a:r>
              <a:rPr lang="en-GB" b="0" i="0" dirty="0">
                <a:solidFill>
                  <a:srgbClr val="374151"/>
                </a:solidFill>
                <a:effectLst/>
                <a:latin typeface="Söhne"/>
              </a:rPr>
              <a:t>Responsive classes</a:t>
            </a:r>
          </a:p>
          <a:p>
            <a:pPr marL="3657600" lvl="8" indent="0">
              <a:buNone/>
            </a:pPr>
            <a:r>
              <a:rPr lang="en-GB" b="0" i="0" dirty="0">
                <a:solidFill>
                  <a:srgbClr val="374151"/>
                </a:solidFill>
                <a:effectLst/>
                <a:latin typeface="Söhne"/>
              </a:rPr>
              <a:t>									</a:t>
            </a:r>
            <a:r>
              <a:rPr lang="en-GB" sz="1800" b="0" i="0" dirty="0">
                <a:solidFill>
                  <a:srgbClr val="374151"/>
                </a:solidFill>
                <a:effectLst/>
                <a:latin typeface="Söhne"/>
              </a:rPr>
              <a:t>See example 01</a:t>
            </a:r>
            <a:endParaRPr lang="en-GB" b="0" i="0" dirty="0">
              <a:solidFill>
                <a:srgbClr val="374151"/>
              </a:solidFill>
              <a:effectLst/>
              <a:latin typeface="Söhne"/>
            </a:endParaRPr>
          </a:p>
          <a:p>
            <a:endParaRPr lang="en-GB" dirty="0"/>
          </a:p>
        </p:txBody>
      </p:sp>
    </p:spTree>
    <p:extLst>
      <p:ext uri="{BB962C8B-B14F-4D97-AF65-F5344CB8AC3E}">
        <p14:creationId xmlns:p14="http://schemas.microsoft.com/office/powerpoint/2010/main" val="20332814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A2CC1-39B6-4135-A9DB-838323C6AB34}"/>
              </a:ext>
            </a:extLst>
          </p:cNvPr>
          <p:cNvSpPr>
            <a:spLocks noGrp="1"/>
          </p:cNvSpPr>
          <p:nvPr>
            <p:ph type="title"/>
          </p:nvPr>
        </p:nvSpPr>
        <p:spPr/>
        <p:txBody>
          <a:bodyPr>
            <a:normAutofit/>
          </a:bodyPr>
          <a:lstStyle/>
          <a:p>
            <a:r>
              <a:rPr lang="en-GB" b="0" i="0" dirty="0">
                <a:effectLst/>
                <a:latin typeface="Söhne"/>
              </a:rPr>
              <a:t>Customizing Bootstrap</a:t>
            </a:r>
            <a:endParaRPr lang="en-GB" dirty="0"/>
          </a:p>
        </p:txBody>
      </p:sp>
      <p:sp>
        <p:nvSpPr>
          <p:cNvPr id="3" name="Content Placeholder 2">
            <a:extLst>
              <a:ext uri="{FF2B5EF4-FFF2-40B4-BE49-F238E27FC236}">
                <a16:creationId xmlns:a16="http://schemas.microsoft.com/office/drawing/2014/main" id="{2C9A151C-29DB-306E-E3C6-34F2E49D1C75}"/>
              </a:ext>
            </a:extLst>
          </p:cNvPr>
          <p:cNvSpPr>
            <a:spLocks noGrp="1"/>
          </p:cNvSpPr>
          <p:nvPr>
            <p:ph idx="1"/>
          </p:nvPr>
        </p:nvSpPr>
        <p:spPr/>
        <p:txBody>
          <a:bodyPr/>
          <a:lstStyle/>
          <a:p>
            <a:pPr algn="l">
              <a:buFont typeface="Arial" panose="020B0604020202020204" pitchFamily="34" charset="0"/>
              <a:buChar char="•"/>
            </a:pPr>
            <a:r>
              <a:rPr lang="en-GB" b="0" i="0" dirty="0">
                <a:solidFill>
                  <a:srgbClr val="374151"/>
                </a:solidFill>
                <a:effectLst/>
                <a:latin typeface="Söhne"/>
              </a:rPr>
              <a:t>Exploring ways to customize Bootstrap:</a:t>
            </a:r>
          </a:p>
          <a:p>
            <a:pPr marL="742950" lvl="1" indent="-285750" algn="l">
              <a:buFont typeface="Arial" panose="020B0604020202020204" pitchFamily="34" charset="0"/>
              <a:buChar char="•"/>
            </a:pPr>
            <a:r>
              <a:rPr lang="en-GB" b="0" i="0" dirty="0">
                <a:solidFill>
                  <a:srgbClr val="374151"/>
                </a:solidFill>
                <a:effectLst/>
                <a:latin typeface="Söhne"/>
              </a:rPr>
              <a:t>Overriding default styles</a:t>
            </a:r>
          </a:p>
          <a:p>
            <a:pPr marL="742950" lvl="1" indent="-285750" algn="l">
              <a:buFont typeface="Arial" panose="020B0604020202020204" pitchFamily="34" charset="0"/>
              <a:buChar char="•"/>
            </a:pPr>
            <a:r>
              <a:rPr lang="en-GB" b="0" i="0" dirty="0">
                <a:solidFill>
                  <a:srgbClr val="374151"/>
                </a:solidFill>
                <a:effectLst/>
                <a:latin typeface="Söhne"/>
              </a:rPr>
              <a:t>Customizing components and utilities</a:t>
            </a:r>
          </a:p>
          <a:p>
            <a:pPr marL="742950" lvl="1" indent="-285750" algn="l">
              <a:buFont typeface="Arial" panose="020B0604020202020204" pitchFamily="34" charset="0"/>
              <a:buChar char="•"/>
            </a:pPr>
            <a:r>
              <a:rPr lang="en-GB" b="0" i="0" dirty="0">
                <a:solidFill>
                  <a:srgbClr val="374151"/>
                </a:solidFill>
                <a:effectLst/>
                <a:latin typeface="Söhne"/>
              </a:rPr>
              <a:t>Theming with Bootstrap variables</a:t>
            </a:r>
          </a:p>
          <a:p>
            <a:pPr marL="742950" lvl="1" indent="-285750" algn="l">
              <a:buFont typeface="Arial" panose="020B0604020202020204" pitchFamily="34" charset="0"/>
              <a:buChar char="•"/>
            </a:pPr>
            <a:r>
              <a:rPr lang="en-GB" b="0" i="0" dirty="0">
                <a:solidFill>
                  <a:srgbClr val="374151"/>
                </a:solidFill>
                <a:effectLst/>
                <a:latin typeface="Söhne"/>
              </a:rPr>
              <a:t>Adding custom CSS (Same as normal styles)</a:t>
            </a:r>
          </a:p>
          <a:p>
            <a:pPr marL="3657600" lvl="8" indent="0" algn="r">
              <a:buNone/>
            </a:pPr>
            <a:r>
              <a:rPr lang="en-GB" sz="2000" dirty="0">
                <a:solidFill>
                  <a:srgbClr val="374151"/>
                </a:solidFill>
                <a:latin typeface="Söhne"/>
              </a:rPr>
              <a:t>See example 2</a:t>
            </a:r>
            <a:endParaRPr lang="en-GB" sz="2000" b="0" i="0" dirty="0">
              <a:solidFill>
                <a:srgbClr val="374151"/>
              </a:solidFill>
              <a:effectLst/>
              <a:latin typeface="Söhne"/>
            </a:endParaRPr>
          </a:p>
          <a:p>
            <a:endParaRPr lang="en-GB" dirty="0"/>
          </a:p>
        </p:txBody>
      </p:sp>
    </p:spTree>
    <p:extLst>
      <p:ext uri="{BB962C8B-B14F-4D97-AF65-F5344CB8AC3E}">
        <p14:creationId xmlns:p14="http://schemas.microsoft.com/office/powerpoint/2010/main" val="41323672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2EA2F-9F80-EA28-2802-AEDAC9A13E37}"/>
              </a:ext>
            </a:extLst>
          </p:cNvPr>
          <p:cNvSpPr>
            <a:spLocks noGrp="1"/>
          </p:cNvSpPr>
          <p:nvPr>
            <p:ph type="title"/>
          </p:nvPr>
        </p:nvSpPr>
        <p:spPr/>
        <p:txBody>
          <a:bodyPr>
            <a:normAutofit/>
          </a:bodyPr>
          <a:lstStyle/>
          <a:p>
            <a:r>
              <a:rPr lang="en-GB" b="0" i="0" dirty="0">
                <a:effectLst/>
                <a:latin typeface="Söhne"/>
              </a:rPr>
              <a:t>Responsive Design with Bootstrap</a:t>
            </a:r>
            <a:endParaRPr lang="en-GB" dirty="0"/>
          </a:p>
        </p:txBody>
      </p:sp>
      <p:sp>
        <p:nvSpPr>
          <p:cNvPr id="3" name="Content Placeholder 2">
            <a:extLst>
              <a:ext uri="{FF2B5EF4-FFF2-40B4-BE49-F238E27FC236}">
                <a16:creationId xmlns:a16="http://schemas.microsoft.com/office/drawing/2014/main" id="{E5704932-FC41-6567-B11C-DF34187659A8}"/>
              </a:ext>
            </a:extLst>
          </p:cNvPr>
          <p:cNvSpPr>
            <a:spLocks noGrp="1"/>
          </p:cNvSpPr>
          <p:nvPr>
            <p:ph idx="1"/>
          </p:nvPr>
        </p:nvSpPr>
        <p:spPr/>
        <p:txBody>
          <a:bodyPr/>
          <a:lstStyle/>
          <a:p>
            <a:pPr algn="l">
              <a:buFont typeface="Arial" panose="020B0604020202020204" pitchFamily="34" charset="0"/>
              <a:buChar char="•"/>
            </a:pPr>
            <a:r>
              <a:rPr lang="en-GB" b="0" i="0" dirty="0">
                <a:solidFill>
                  <a:srgbClr val="374151"/>
                </a:solidFill>
                <a:effectLst/>
                <a:latin typeface="Söhne"/>
              </a:rPr>
              <a:t>Importance of responsive design (You should know this by now)</a:t>
            </a:r>
          </a:p>
          <a:p>
            <a:pPr algn="l">
              <a:buFont typeface="Arial" panose="020B0604020202020204" pitchFamily="34" charset="0"/>
              <a:buChar char="•"/>
            </a:pPr>
            <a:r>
              <a:rPr lang="en-GB" b="0" i="0" dirty="0">
                <a:solidFill>
                  <a:srgbClr val="374151"/>
                </a:solidFill>
                <a:effectLst/>
                <a:latin typeface="Söhne"/>
              </a:rPr>
              <a:t>How Bootstrap facilitates responsiveness:</a:t>
            </a:r>
          </a:p>
          <a:p>
            <a:pPr marL="742950" lvl="1" indent="-285750" algn="l">
              <a:buFont typeface="Arial" panose="020B0604020202020204" pitchFamily="34" charset="0"/>
              <a:buChar char="•"/>
            </a:pPr>
            <a:r>
              <a:rPr lang="en-GB" b="0" i="0" dirty="0">
                <a:solidFill>
                  <a:srgbClr val="374151"/>
                </a:solidFill>
                <a:effectLst/>
                <a:latin typeface="Söhne"/>
              </a:rPr>
              <a:t>Media queries and breakpoints (can use but do we really have to?)</a:t>
            </a:r>
          </a:p>
          <a:p>
            <a:pPr marL="742950" lvl="1" indent="-285750" algn="l">
              <a:buFont typeface="Arial" panose="020B0604020202020204" pitchFamily="34" charset="0"/>
              <a:buChar char="•"/>
            </a:pPr>
            <a:r>
              <a:rPr lang="en-GB" b="0" i="0" dirty="0">
                <a:solidFill>
                  <a:srgbClr val="374151"/>
                </a:solidFill>
                <a:effectLst/>
                <a:latin typeface="Söhne"/>
              </a:rPr>
              <a:t>Creating responsive layouts (example 3)</a:t>
            </a:r>
          </a:p>
          <a:p>
            <a:pPr marL="742950" lvl="1" indent="-285750" algn="l">
              <a:buFont typeface="Arial" panose="020B0604020202020204" pitchFamily="34" charset="0"/>
              <a:buChar char="•"/>
            </a:pPr>
            <a:r>
              <a:rPr lang="en-GB" b="0" i="0" dirty="0">
                <a:solidFill>
                  <a:srgbClr val="374151"/>
                </a:solidFill>
                <a:effectLst/>
                <a:latin typeface="Söhne"/>
              </a:rPr>
              <a:t>Handling different device sizes (example 4)</a:t>
            </a:r>
          </a:p>
          <a:p>
            <a:endParaRPr lang="en-GB" dirty="0"/>
          </a:p>
        </p:txBody>
      </p:sp>
    </p:spTree>
    <p:extLst>
      <p:ext uri="{BB962C8B-B14F-4D97-AF65-F5344CB8AC3E}">
        <p14:creationId xmlns:p14="http://schemas.microsoft.com/office/powerpoint/2010/main" val="41782848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6FFDAF-052C-5A45-3E08-384BE7A87622}"/>
              </a:ext>
            </a:extLst>
          </p:cNvPr>
          <p:cNvSpPr>
            <a:spLocks noGrp="1"/>
          </p:cNvSpPr>
          <p:nvPr>
            <p:ph type="title"/>
          </p:nvPr>
        </p:nvSpPr>
        <p:spPr/>
        <p:txBody>
          <a:bodyPr>
            <a:normAutofit/>
          </a:bodyPr>
          <a:lstStyle/>
          <a:p>
            <a:r>
              <a:rPr lang="en-GB" b="0" i="0" dirty="0">
                <a:effectLst/>
                <a:latin typeface="Söhne"/>
              </a:rPr>
              <a:t>Optimization and Best Practices</a:t>
            </a:r>
            <a:endParaRPr lang="en-GB" dirty="0"/>
          </a:p>
        </p:txBody>
      </p:sp>
      <p:sp>
        <p:nvSpPr>
          <p:cNvPr id="3" name="Content Placeholder 2">
            <a:extLst>
              <a:ext uri="{FF2B5EF4-FFF2-40B4-BE49-F238E27FC236}">
                <a16:creationId xmlns:a16="http://schemas.microsoft.com/office/drawing/2014/main" id="{FCBC60DF-86EA-5C90-F785-E2DF321AC256}"/>
              </a:ext>
            </a:extLst>
          </p:cNvPr>
          <p:cNvSpPr>
            <a:spLocks noGrp="1"/>
          </p:cNvSpPr>
          <p:nvPr>
            <p:ph idx="1"/>
          </p:nvPr>
        </p:nvSpPr>
        <p:spPr/>
        <p:txBody>
          <a:bodyPr/>
          <a:lstStyle/>
          <a:p>
            <a:pPr algn="l">
              <a:buFont typeface="Arial" panose="020B0604020202020204" pitchFamily="34" charset="0"/>
              <a:buChar char="•"/>
            </a:pPr>
            <a:r>
              <a:rPr lang="en-GB" b="0" i="0" dirty="0">
                <a:solidFill>
                  <a:srgbClr val="374151"/>
                </a:solidFill>
                <a:effectLst/>
                <a:latin typeface="Söhne"/>
              </a:rPr>
              <a:t>Strategies for optimizing Bootstrap-based projects:</a:t>
            </a:r>
          </a:p>
          <a:p>
            <a:pPr marL="742950" lvl="1" indent="-285750" algn="l">
              <a:buFont typeface="Arial" panose="020B0604020202020204" pitchFamily="34" charset="0"/>
              <a:buChar char="•"/>
            </a:pPr>
            <a:r>
              <a:rPr lang="en-GB" b="0" i="0" dirty="0">
                <a:solidFill>
                  <a:srgbClr val="374151"/>
                </a:solidFill>
                <a:effectLst/>
                <a:latin typeface="Söhne"/>
              </a:rPr>
              <a:t>Minification and bundling of CSS and JavaScript</a:t>
            </a:r>
          </a:p>
          <a:p>
            <a:pPr marL="742950" lvl="1" indent="-285750" algn="l">
              <a:buFont typeface="Arial" panose="020B0604020202020204" pitchFamily="34" charset="0"/>
              <a:buChar char="•"/>
            </a:pPr>
            <a:r>
              <a:rPr lang="en-GB" b="0" i="0" dirty="0">
                <a:solidFill>
                  <a:srgbClr val="374151"/>
                </a:solidFill>
                <a:effectLst/>
                <a:latin typeface="Söhne"/>
              </a:rPr>
              <a:t>Image optimization</a:t>
            </a:r>
          </a:p>
          <a:p>
            <a:pPr marL="742950" lvl="1" indent="-285750" algn="l">
              <a:buFont typeface="Arial" panose="020B0604020202020204" pitchFamily="34" charset="0"/>
              <a:buChar char="•"/>
            </a:pPr>
            <a:r>
              <a:rPr lang="en-GB" b="0" i="0" dirty="0">
                <a:solidFill>
                  <a:srgbClr val="374151"/>
                </a:solidFill>
                <a:effectLst/>
                <a:latin typeface="Söhne"/>
              </a:rPr>
              <a:t>CDN usage</a:t>
            </a:r>
          </a:p>
          <a:p>
            <a:pPr marL="742950" lvl="1" indent="-285750" algn="l">
              <a:buFont typeface="Arial" panose="020B0604020202020204" pitchFamily="34" charset="0"/>
              <a:buChar char="•"/>
            </a:pPr>
            <a:r>
              <a:rPr lang="en-GB" b="0" i="0" dirty="0">
                <a:solidFill>
                  <a:srgbClr val="374151"/>
                </a:solidFill>
                <a:effectLst/>
                <a:latin typeface="Söhne"/>
              </a:rPr>
              <a:t>Lazy loading</a:t>
            </a:r>
          </a:p>
          <a:p>
            <a:endParaRPr lang="en-GB" dirty="0"/>
          </a:p>
        </p:txBody>
      </p:sp>
    </p:spTree>
    <p:extLst>
      <p:ext uri="{BB962C8B-B14F-4D97-AF65-F5344CB8AC3E}">
        <p14:creationId xmlns:p14="http://schemas.microsoft.com/office/powerpoint/2010/main" val="4477508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13976B-C0F1-E0C8-C579-2D3C1D388787}"/>
              </a:ext>
            </a:extLst>
          </p:cNvPr>
          <p:cNvSpPr>
            <a:spLocks noGrp="1"/>
          </p:cNvSpPr>
          <p:nvPr>
            <p:ph type="title"/>
          </p:nvPr>
        </p:nvSpPr>
        <p:spPr/>
        <p:txBody>
          <a:bodyPr/>
          <a:lstStyle/>
          <a:p>
            <a:r>
              <a:rPr lang="en-GB" dirty="0"/>
              <a:t>Minification and Bundling</a:t>
            </a:r>
          </a:p>
        </p:txBody>
      </p:sp>
      <p:sp>
        <p:nvSpPr>
          <p:cNvPr id="3" name="Content Placeholder 2">
            <a:extLst>
              <a:ext uri="{FF2B5EF4-FFF2-40B4-BE49-F238E27FC236}">
                <a16:creationId xmlns:a16="http://schemas.microsoft.com/office/drawing/2014/main" id="{8D689D2B-D0FC-81D7-4159-A3E38C4D8DB3}"/>
              </a:ext>
            </a:extLst>
          </p:cNvPr>
          <p:cNvSpPr>
            <a:spLocks noGrp="1"/>
          </p:cNvSpPr>
          <p:nvPr>
            <p:ph idx="1"/>
          </p:nvPr>
        </p:nvSpPr>
        <p:spPr/>
        <p:txBody>
          <a:bodyPr/>
          <a:lstStyle/>
          <a:p>
            <a:pPr algn="just">
              <a:buFont typeface="Arial" panose="020B0604020202020204" pitchFamily="34" charset="0"/>
              <a:buChar char="•"/>
            </a:pPr>
            <a:r>
              <a:rPr lang="en-GB" b="1" i="0" dirty="0">
                <a:solidFill>
                  <a:srgbClr val="374151"/>
                </a:solidFill>
                <a:effectLst/>
                <a:latin typeface="Söhne"/>
              </a:rPr>
              <a:t>Minification</a:t>
            </a:r>
            <a:r>
              <a:rPr lang="en-GB" b="0" i="0" dirty="0">
                <a:solidFill>
                  <a:srgbClr val="374151"/>
                </a:solidFill>
                <a:effectLst/>
                <a:latin typeface="Söhne"/>
              </a:rPr>
              <a:t>: Use tools like </a:t>
            </a:r>
            <a:r>
              <a:rPr lang="en-GB" b="0" i="0" dirty="0" err="1">
                <a:solidFill>
                  <a:srgbClr val="374151"/>
                </a:solidFill>
                <a:effectLst/>
                <a:latin typeface="Söhne"/>
              </a:rPr>
              <a:t>UglifyJS</a:t>
            </a:r>
            <a:r>
              <a:rPr lang="en-GB" b="0" i="0" dirty="0">
                <a:solidFill>
                  <a:srgbClr val="374151"/>
                </a:solidFill>
                <a:effectLst/>
                <a:latin typeface="Söhne"/>
              </a:rPr>
              <a:t> for JavaScript and </a:t>
            </a:r>
            <a:r>
              <a:rPr lang="en-GB" b="0" i="0" dirty="0" err="1">
                <a:solidFill>
                  <a:srgbClr val="374151"/>
                </a:solidFill>
                <a:effectLst/>
                <a:latin typeface="Söhne"/>
              </a:rPr>
              <a:t>CSSNano</a:t>
            </a:r>
            <a:r>
              <a:rPr lang="en-GB" b="0" i="0" dirty="0">
                <a:solidFill>
                  <a:srgbClr val="374151"/>
                </a:solidFill>
                <a:effectLst/>
                <a:latin typeface="Söhne"/>
              </a:rPr>
              <a:t> for CSS to remove unnecessary characters, white spaces, and comments. There are also build tools like Grunt, Gulp, or Webpack that offer minification plugins.</a:t>
            </a:r>
          </a:p>
          <a:p>
            <a:pPr algn="just">
              <a:buFont typeface="Arial" panose="020B0604020202020204" pitchFamily="34" charset="0"/>
              <a:buChar char="•"/>
            </a:pPr>
            <a:r>
              <a:rPr lang="en-GB" b="1" i="0" dirty="0">
                <a:solidFill>
                  <a:srgbClr val="374151"/>
                </a:solidFill>
                <a:effectLst/>
                <a:latin typeface="Söhne"/>
              </a:rPr>
              <a:t>Bundling</a:t>
            </a:r>
            <a:r>
              <a:rPr lang="en-GB" b="0" i="0" dirty="0">
                <a:solidFill>
                  <a:srgbClr val="374151"/>
                </a:solidFill>
                <a:effectLst/>
                <a:latin typeface="Söhne"/>
              </a:rPr>
              <a:t>: Tools like Webpack, Parcel, or even specific features in task runners like Gulp allow you to combine multiple CSS and JavaScript files into a single file. This reduces the number of HTTP requests, enhancing loading speed.</a:t>
            </a:r>
          </a:p>
          <a:p>
            <a:pPr algn="just"/>
            <a:endParaRPr lang="en-GB" dirty="0"/>
          </a:p>
        </p:txBody>
      </p:sp>
    </p:spTree>
    <p:extLst>
      <p:ext uri="{BB962C8B-B14F-4D97-AF65-F5344CB8AC3E}">
        <p14:creationId xmlns:p14="http://schemas.microsoft.com/office/powerpoint/2010/main" val="40376923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8525B-DD51-2161-457D-B916D77E10AD}"/>
              </a:ext>
            </a:extLst>
          </p:cNvPr>
          <p:cNvSpPr>
            <a:spLocks noGrp="1"/>
          </p:cNvSpPr>
          <p:nvPr>
            <p:ph type="title"/>
          </p:nvPr>
        </p:nvSpPr>
        <p:spPr/>
        <p:txBody>
          <a:bodyPr/>
          <a:lstStyle/>
          <a:p>
            <a:r>
              <a:rPr lang="en-GB" dirty="0"/>
              <a:t>Image Optimization:</a:t>
            </a:r>
          </a:p>
        </p:txBody>
      </p:sp>
      <p:sp>
        <p:nvSpPr>
          <p:cNvPr id="3" name="Content Placeholder 2">
            <a:extLst>
              <a:ext uri="{FF2B5EF4-FFF2-40B4-BE49-F238E27FC236}">
                <a16:creationId xmlns:a16="http://schemas.microsoft.com/office/drawing/2014/main" id="{DEC5C5D2-18E6-DC5F-DE02-2AADF5E23144}"/>
              </a:ext>
            </a:extLst>
          </p:cNvPr>
          <p:cNvSpPr>
            <a:spLocks noGrp="1"/>
          </p:cNvSpPr>
          <p:nvPr>
            <p:ph idx="1"/>
          </p:nvPr>
        </p:nvSpPr>
        <p:spPr/>
        <p:txBody>
          <a:bodyPr/>
          <a:lstStyle/>
          <a:p>
            <a:pPr algn="just"/>
            <a:r>
              <a:rPr lang="en-GB" dirty="0"/>
              <a:t>Use image optimization tools or plugins like </a:t>
            </a:r>
            <a:r>
              <a:rPr lang="en-GB" dirty="0" err="1"/>
              <a:t>ImageMagick</a:t>
            </a:r>
            <a:r>
              <a:rPr lang="en-GB" dirty="0"/>
              <a:t>, </a:t>
            </a:r>
            <a:r>
              <a:rPr lang="en-GB" dirty="0" err="1"/>
              <a:t>TinyPNG</a:t>
            </a:r>
            <a:r>
              <a:rPr lang="en-GB" dirty="0"/>
              <a:t>, or the built-in image optimization tools in design software to compress and resize images before integrating them into your project. For responsive images, utilize the </a:t>
            </a:r>
            <a:r>
              <a:rPr lang="en-GB" dirty="0" err="1"/>
              <a:t>srcset</a:t>
            </a:r>
            <a:r>
              <a:rPr lang="en-GB" dirty="0"/>
              <a:t> attribute to serve different sizes based on the viewport.</a:t>
            </a:r>
          </a:p>
        </p:txBody>
      </p:sp>
    </p:spTree>
    <p:extLst>
      <p:ext uri="{BB962C8B-B14F-4D97-AF65-F5344CB8AC3E}">
        <p14:creationId xmlns:p14="http://schemas.microsoft.com/office/powerpoint/2010/main" val="7952540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772153-120D-3301-A638-DE7872B15659}"/>
              </a:ext>
            </a:extLst>
          </p:cNvPr>
          <p:cNvSpPr>
            <a:spLocks noGrp="1"/>
          </p:cNvSpPr>
          <p:nvPr>
            <p:ph type="title"/>
          </p:nvPr>
        </p:nvSpPr>
        <p:spPr/>
        <p:txBody>
          <a:bodyPr/>
          <a:lstStyle/>
          <a:p>
            <a:r>
              <a:rPr lang="en-GB" dirty="0"/>
              <a:t>CDN Usage:</a:t>
            </a:r>
          </a:p>
        </p:txBody>
      </p:sp>
      <p:sp>
        <p:nvSpPr>
          <p:cNvPr id="3" name="Content Placeholder 2">
            <a:extLst>
              <a:ext uri="{FF2B5EF4-FFF2-40B4-BE49-F238E27FC236}">
                <a16:creationId xmlns:a16="http://schemas.microsoft.com/office/drawing/2014/main" id="{00747482-ACB9-57A6-36CF-9513FB6C335C}"/>
              </a:ext>
            </a:extLst>
          </p:cNvPr>
          <p:cNvSpPr>
            <a:spLocks noGrp="1"/>
          </p:cNvSpPr>
          <p:nvPr>
            <p:ph idx="1"/>
          </p:nvPr>
        </p:nvSpPr>
        <p:spPr/>
        <p:txBody>
          <a:bodyPr/>
          <a:lstStyle/>
          <a:p>
            <a:pPr algn="just"/>
            <a:r>
              <a:rPr lang="en-GB" b="0" i="0" dirty="0">
                <a:solidFill>
                  <a:srgbClr val="374151"/>
                </a:solidFill>
                <a:effectLst/>
                <a:latin typeface="Söhne"/>
              </a:rPr>
              <a:t>Leverage Bootstrap's official CDN or other CDNs like Cloudflare, Amazon CloudFront, or </a:t>
            </a:r>
            <a:r>
              <a:rPr lang="en-GB" b="0" i="0" dirty="0" err="1">
                <a:solidFill>
                  <a:srgbClr val="374151"/>
                </a:solidFill>
                <a:effectLst/>
                <a:latin typeface="Söhne"/>
              </a:rPr>
              <a:t>MaxCDN</a:t>
            </a:r>
            <a:r>
              <a:rPr lang="en-GB" b="0" i="0" dirty="0">
                <a:solidFill>
                  <a:srgbClr val="374151"/>
                </a:solidFill>
                <a:effectLst/>
                <a:latin typeface="Söhne"/>
              </a:rPr>
              <a:t>. Link your Bootstrap CSS and JS files to these CDNs to benefit from their global infrastructure, reducing latency and speeding up load times.</a:t>
            </a:r>
            <a:endParaRPr lang="en-GB" dirty="0"/>
          </a:p>
        </p:txBody>
      </p:sp>
    </p:spTree>
    <p:extLst>
      <p:ext uri="{BB962C8B-B14F-4D97-AF65-F5344CB8AC3E}">
        <p14:creationId xmlns:p14="http://schemas.microsoft.com/office/powerpoint/2010/main" val="4757554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403B81-0A52-E026-3EF0-1F5511A105BB}"/>
              </a:ext>
            </a:extLst>
          </p:cNvPr>
          <p:cNvSpPr>
            <a:spLocks noGrp="1"/>
          </p:cNvSpPr>
          <p:nvPr>
            <p:ph type="title"/>
          </p:nvPr>
        </p:nvSpPr>
        <p:spPr/>
        <p:txBody>
          <a:bodyPr/>
          <a:lstStyle/>
          <a:p>
            <a:r>
              <a:rPr lang="en-GB" dirty="0"/>
              <a:t>Lazy Loading</a:t>
            </a:r>
          </a:p>
        </p:txBody>
      </p:sp>
      <p:sp>
        <p:nvSpPr>
          <p:cNvPr id="3" name="Content Placeholder 2">
            <a:extLst>
              <a:ext uri="{FF2B5EF4-FFF2-40B4-BE49-F238E27FC236}">
                <a16:creationId xmlns:a16="http://schemas.microsoft.com/office/drawing/2014/main" id="{E2F74439-651E-D0C5-43C6-2B01AF47678B}"/>
              </a:ext>
            </a:extLst>
          </p:cNvPr>
          <p:cNvSpPr>
            <a:spLocks noGrp="1"/>
          </p:cNvSpPr>
          <p:nvPr>
            <p:ph idx="1"/>
          </p:nvPr>
        </p:nvSpPr>
        <p:spPr/>
        <p:txBody>
          <a:bodyPr/>
          <a:lstStyle/>
          <a:p>
            <a:pPr algn="just"/>
            <a:r>
              <a:rPr lang="en-GB" dirty="0"/>
              <a:t>For images, use the loading="lazy" attribute in HTML to enable the native browser lazy loading feature, which loads images only when they are about to enter the viewport. For JavaScript, utilize asynchronous loading where possible, or lazy load components using libraries like Intersection Observer or specific lazy loading libraries like </a:t>
            </a:r>
            <a:r>
              <a:rPr lang="en-GB" dirty="0" err="1"/>
              <a:t>lazysizes</a:t>
            </a:r>
            <a:r>
              <a:rPr lang="en-GB" dirty="0"/>
              <a:t>.</a:t>
            </a:r>
          </a:p>
        </p:txBody>
      </p:sp>
    </p:spTree>
    <p:extLst>
      <p:ext uri="{BB962C8B-B14F-4D97-AF65-F5344CB8AC3E}">
        <p14:creationId xmlns:p14="http://schemas.microsoft.com/office/powerpoint/2010/main" val="6013819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E63C9-FEC3-412B-1E6A-60CE4938BCD5}"/>
              </a:ext>
            </a:extLst>
          </p:cNvPr>
          <p:cNvSpPr>
            <a:spLocks noGrp="1"/>
          </p:cNvSpPr>
          <p:nvPr>
            <p:ph type="title"/>
          </p:nvPr>
        </p:nvSpPr>
        <p:spPr/>
        <p:txBody>
          <a:bodyPr>
            <a:normAutofit fontScale="90000"/>
          </a:bodyPr>
          <a:lstStyle/>
          <a:p>
            <a:r>
              <a:rPr lang="en-GB" b="0" i="0" dirty="0">
                <a:solidFill>
                  <a:srgbClr val="374151"/>
                </a:solidFill>
                <a:effectLst/>
                <a:latin typeface="Söhne"/>
              </a:rPr>
              <a:t>Best practices for efficient and maintainable code</a:t>
            </a:r>
            <a:endParaRPr lang="en-GB" dirty="0"/>
          </a:p>
        </p:txBody>
      </p:sp>
      <p:sp>
        <p:nvSpPr>
          <p:cNvPr id="3" name="Content Placeholder 2">
            <a:extLst>
              <a:ext uri="{FF2B5EF4-FFF2-40B4-BE49-F238E27FC236}">
                <a16:creationId xmlns:a16="http://schemas.microsoft.com/office/drawing/2014/main" id="{7B78174A-17AF-0486-40A6-413F15695351}"/>
              </a:ext>
            </a:extLst>
          </p:cNvPr>
          <p:cNvSpPr>
            <a:spLocks noGrp="1"/>
          </p:cNvSpPr>
          <p:nvPr>
            <p:ph idx="1"/>
          </p:nvPr>
        </p:nvSpPr>
        <p:spPr/>
        <p:txBody>
          <a:bodyPr/>
          <a:lstStyle/>
          <a:p>
            <a:pPr algn="just">
              <a:buFont typeface="Arial" panose="020B0604020202020204" pitchFamily="34" charset="0"/>
              <a:buChar char="•"/>
            </a:pPr>
            <a:r>
              <a:rPr lang="en-GB" b="0" i="0" dirty="0">
                <a:solidFill>
                  <a:srgbClr val="374151"/>
                </a:solidFill>
                <a:effectLst/>
                <a:latin typeface="Söhne"/>
              </a:rPr>
              <a:t>Writing clean and semantic HTML</a:t>
            </a:r>
          </a:p>
          <a:p>
            <a:pPr algn="just">
              <a:buFont typeface="Arial" panose="020B0604020202020204" pitchFamily="34" charset="0"/>
              <a:buChar char="•"/>
            </a:pPr>
            <a:r>
              <a:rPr lang="en-GB" b="0" i="0" dirty="0">
                <a:solidFill>
                  <a:srgbClr val="374151"/>
                </a:solidFill>
                <a:effectLst/>
                <a:latin typeface="Söhne"/>
              </a:rPr>
              <a:t>Keeping CSS and JS organized</a:t>
            </a:r>
          </a:p>
          <a:p>
            <a:pPr algn="just">
              <a:buFont typeface="Arial" panose="020B0604020202020204" pitchFamily="34" charset="0"/>
              <a:buChar char="•"/>
            </a:pPr>
            <a:r>
              <a:rPr lang="en-GB" b="0" i="0" dirty="0">
                <a:solidFill>
                  <a:srgbClr val="374151"/>
                </a:solidFill>
                <a:effectLst/>
                <a:latin typeface="Söhne"/>
              </a:rPr>
              <a:t>Accessibility considerations</a:t>
            </a:r>
          </a:p>
          <a:p>
            <a:pPr algn="just"/>
            <a:endParaRPr lang="en-GB" dirty="0"/>
          </a:p>
        </p:txBody>
      </p:sp>
    </p:spTree>
    <p:extLst>
      <p:ext uri="{BB962C8B-B14F-4D97-AF65-F5344CB8AC3E}">
        <p14:creationId xmlns:p14="http://schemas.microsoft.com/office/powerpoint/2010/main" val="635581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AF6AE-AAA3-DD03-8B2E-D24B4AD28EF8}"/>
              </a:ext>
            </a:extLst>
          </p:cNvPr>
          <p:cNvSpPr>
            <a:spLocks noGrp="1"/>
          </p:cNvSpPr>
          <p:nvPr>
            <p:ph type="title"/>
          </p:nvPr>
        </p:nvSpPr>
        <p:spPr/>
        <p:txBody>
          <a:bodyPr>
            <a:normAutofit/>
          </a:bodyPr>
          <a:lstStyle/>
          <a:p>
            <a:r>
              <a:rPr lang="en-GB" dirty="0"/>
              <a:t>Implementation Tips:</a:t>
            </a:r>
          </a:p>
        </p:txBody>
      </p:sp>
      <p:sp>
        <p:nvSpPr>
          <p:cNvPr id="3" name="Content Placeholder 2">
            <a:extLst>
              <a:ext uri="{FF2B5EF4-FFF2-40B4-BE49-F238E27FC236}">
                <a16:creationId xmlns:a16="http://schemas.microsoft.com/office/drawing/2014/main" id="{8C2D4536-94FC-B840-5A17-F2940DBD0A5B}"/>
              </a:ext>
            </a:extLst>
          </p:cNvPr>
          <p:cNvSpPr>
            <a:spLocks noGrp="1"/>
          </p:cNvSpPr>
          <p:nvPr>
            <p:ph idx="1"/>
          </p:nvPr>
        </p:nvSpPr>
        <p:spPr/>
        <p:txBody>
          <a:bodyPr>
            <a:normAutofit fontScale="92500" lnSpcReduction="10000"/>
          </a:bodyPr>
          <a:lstStyle/>
          <a:p>
            <a:pPr algn="just"/>
            <a:r>
              <a:rPr lang="en-GB" dirty="0"/>
              <a:t>HTML: While using Bootstrap components, ensure you nest them within appropriate semantic HTML elements (like putting a navbar inside a &lt;nav&gt; element).</a:t>
            </a:r>
          </a:p>
          <a:p>
            <a:pPr algn="just"/>
            <a:r>
              <a:rPr lang="en-GB" dirty="0"/>
              <a:t>CSS &amp; JS: Utilize preprocessors (like Sass for CSS) to maintain organized and modular code. Comment your code and categorize styles and scripts according to their functions.</a:t>
            </a:r>
          </a:p>
          <a:p>
            <a:pPr algn="just"/>
            <a:r>
              <a:rPr lang="en-GB" dirty="0"/>
              <a:t>Accessibility: Use ARIA (Accessible Rich Internet Applications) attributes and roles if necessary to enhance accessibility in specific components or interactive elements. Ensure sufficient </a:t>
            </a:r>
            <a:r>
              <a:rPr lang="en-GB" dirty="0" err="1"/>
              <a:t>color</a:t>
            </a:r>
            <a:r>
              <a:rPr lang="en-GB" dirty="0"/>
              <a:t> contrast for text and background </a:t>
            </a:r>
            <a:r>
              <a:rPr lang="en-GB" dirty="0" err="1"/>
              <a:t>colors</a:t>
            </a:r>
            <a:r>
              <a:rPr lang="en-GB" dirty="0"/>
              <a:t>.</a:t>
            </a:r>
          </a:p>
        </p:txBody>
      </p:sp>
      <p:sp>
        <p:nvSpPr>
          <p:cNvPr id="5" name="Content Placeholder 2">
            <a:extLst>
              <a:ext uri="{FF2B5EF4-FFF2-40B4-BE49-F238E27FC236}">
                <a16:creationId xmlns:a16="http://schemas.microsoft.com/office/drawing/2014/main" id="{F1EADAF7-E896-232B-46F0-2EC439C1B341}"/>
              </a:ext>
            </a:extLst>
          </p:cNvPr>
          <p:cNvSpPr txBox="1">
            <a:spLocks/>
          </p:cNvSpPr>
          <p:nvPr/>
        </p:nvSpPr>
        <p:spPr>
          <a:xfrm>
            <a:off x="1295402" y="2556932"/>
            <a:ext cx="9601196" cy="3318936"/>
          </a:xfrm>
          <a:prstGeom prst="rect">
            <a:avLst/>
          </a:prstGeom>
        </p:spPr>
        <p:txBody>
          <a:bodyPr vert="horz" lIns="91440" tIns="45720" rIns="91440" bIns="45720" rtlCol="0" anchor="t">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endParaRPr lang="en-GB" dirty="0"/>
          </a:p>
        </p:txBody>
      </p:sp>
    </p:spTree>
    <p:extLst>
      <p:ext uri="{BB962C8B-B14F-4D97-AF65-F5344CB8AC3E}">
        <p14:creationId xmlns:p14="http://schemas.microsoft.com/office/powerpoint/2010/main" val="2018959146"/>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282</TotalTime>
  <Words>522</Words>
  <Application>Microsoft Office PowerPoint</Application>
  <PresentationFormat>Widescreen</PresentationFormat>
  <Paragraphs>47</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Calibri Light</vt:lpstr>
      <vt:lpstr>Söhne</vt:lpstr>
      <vt:lpstr>Organic</vt:lpstr>
      <vt:lpstr>Bootstrap – part 03</vt:lpstr>
      <vt:lpstr>Bootstrap Utilities</vt:lpstr>
      <vt:lpstr>Customizing Bootstrap</vt:lpstr>
      <vt:lpstr>Responsive Design with Bootstrap</vt:lpstr>
      <vt:lpstr>Optimization and Best Practices</vt:lpstr>
      <vt:lpstr>Minification and Bundling</vt:lpstr>
      <vt:lpstr>Image Optimization:</vt:lpstr>
      <vt:lpstr>CDN Usage:</vt:lpstr>
      <vt:lpstr>Lazy Loading</vt:lpstr>
      <vt:lpstr>Best practices for efficient and maintainable code</vt:lpstr>
      <vt:lpstr>Implementation Tips: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Bootstrap – part 03</dc:title>
  <dc:creator>Ebad Majeed</dc:creator>
  <cp:lastModifiedBy>Ebad Majeed</cp:lastModifiedBy>
  <cp:revision>4</cp:revision>
  <dcterms:created xsi:type="dcterms:W3CDTF">2023-11-05T13:09:50Z</dcterms:created>
  <dcterms:modified xsi:type="dcterms:W3CDTF">2023-11-07T06:28:59Z</dcterms:modified>
</cp:coreProperties>
</file>