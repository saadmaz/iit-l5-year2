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5" r:id="rId6"/>
    <p:sldId id="267" r:id="rId7"/>
    <p:sldId id="268" r:id="rId8"/>
    <p:sldId id="269" r:id="rId9"/>
    <p:sldId id="266" r:id="rId10"/>
    <p:sldId id="260" r:id="rId11"/>
    <p:sldId id="261" r:id="rId12"/>
    <p:sldId id="262" r:id="rId13"/>
    <p:sldId id="263" r:id="rId14"/>
    <p:sldId id="264" r:id="rId15"/>
    <p:sldId id="270" r:id="rId16"/>
    <p:sldId id="271" r:id="rId17"/>
    <p:sldId id="272" r:id="rId18"/>
    <p:sldId id="273" r:id="rId19"/>
    <p:sldId id="274" r:id="rId20"/>
    <p:sldId id="275" r:id="rId21"/>
    <p:sldId id="277"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6" d="100"/>
          <a:sy n="86" d="100"/>
        </p:scale>
        <p:origin x="4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11/26/2023</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E2C2-922E-C0A7-7C9E-514015C86A03}"/>
              </a:ext>
            </a:extLst>
          </p:cNvPr>
          <p:cNvSpPr>
            <a:spLocks noGrp="1"/>
          </p:cNvSpPr>
          <p:nvPr>
            <p:ph type="ctrTitle"/>
          </p:nvPr>
        </p:nvSpPr>
        <p:spPr/>
        <p:txBody>
          <a:bodyPr/>
          <a:lstStyle/>
          <a:p>
            <a:r>
              <a:rPr lang="en-US" dirty="0"/>
              <a:t>Advanced Client-Side Development</a:t>
            </a:r>
            <a:endParaRPr lang="en-PK" dirty="0"/>
          </a:p>
        </p:txBody>
      </p:sp>
      <p:sp>
        <p:nvSpPr>
          <p:cNvPr id="3" name="Subtitle 2">
            <a:extLst>
              <a:ext uri="{FF2B5EF4-FFF2-40B4-BE49-F238E27FC236}">
                <a16:creationId xmlns:a16="http://schemas.microsoft.com/office/drawing/2014/main" id="{BBB15436-E666-D767-1F17-67E5FA4507C7}"/>
              </a:ext>
            </a:extLst>
          </p:cNvPr>
          <p:cNvSpPr>
            <a:spLocks noGrp="1"/>
          </p:cNvSpPr>
          <p:nvPr>
            <p:ph type="subTitle" idx="1"/>
          </p:nvPr>
        </p:nvSpPr>
        <p:spPr/>
        <p:txBody>
          <a:bodyPr/>
          <a:lstStyle/>
          <a:p>
            <a:r>
              <a:rPr lang="en-US" dirty="0"/>
              <a:t>Advanced React Concepts</a:t>
            </a:r>
          </a:p>
          <a:p>
            <a:r>
              <a:rPr lang="en-US" dirty="0"/>
              <a:t>Component lifecycle, Forms and Controlled Components, React Router, Managing State with Context API</a:t>
            </a:r>
            <a:endParaRPr lang="en-PK" dirty="0"/>
          </a:p>
        </p:txBody>
      </p:sp>
    </p:spTree>
    <p:extLst>
      <p:ext uri="{BB962C8B-B14F-4D97-AF65-F5344CB8AC3E}">
        <p14:creationId xmlns:p14="http://schemas.microsoft.com/office/powerpoint/2010/main" val="543094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9C67-04C7-C0AD-1496-81811905DD30}"/>
              </a:ext>
            </a:extLst>
          </p:cNvPr>
          <p:cNvSpPr>
            <a:spLocks noGrp="1"/>
          </p:cNvSpPr>
          <p:nvPr>
            <p:ph type="title"/>
          </p:nvPr>
        </p:nvSpPr>
        <p:spPr/>
        <p:txBody>
          <a:bodyPr/>
          <a:lstStyle/>
          <a:p>
            <a:r>
              <a:rPr lang="en-US" dirty="0"/>
              <a:t>Recap:</a:t>
            </a:r>
            <a:endParaRPr lang="en-PK" dirty="0"/>
          </a:p>
        </p:txBody>
      </p:sp>
      <p:sp>
        <p:nvSpPr>
          <p:cNvPr id="3" name="Content Placeholder 2">
            <a:extLst>
              <a:ext uri="{FF2B5EF4-FFF2-40B4-BE49-F238E27FC236}">
                <a16:creationId xmlns:a16="http://schemas.microsoft.com/office/drawing/2014/main" id="{7044FB9B-6D1B-AE21-4C02-D9E7618299D7}"/>
              </a:ext>
            </a:extLst>
          </p:cNvPr>
          <p:cNvSpPr>
            <a:spLocks noGrp="1"/>
          </p:cNvSpPr>
          <p:nvPr>
            <p:ph idx="1"/>
          </p:nvPr>
        </p:nvSpPr>
        <p:spPr/>
        <p:txBody>
          <a:bodyPr>
            <a:normAutofit/>
          </a:bodyPr>
          <a:lstStyle/>
          <a:p>
            <a:r>
              <a:rPr lang="en-US" dirty="0"/>
              <a:t>So far we have learned about:</a:t>
            </a:r>
          </a:p>
          <a:p>
            <a:pPr lvl="1"/>
            <a:r>
              <a:rPr lang="en-US" dirty="0" err="1"/>
              <a:t>Rutime</a:t>
            </a:r>
            <a:r>
              <a:rPr lang="en-US" dirty="0"/>
              <a:t> Environment outside the browser (Node.js and its package manager </a:t>
            </a:r>
            <a:r>
              <a:rPr lang="en-US" dirty="0" err="1"/>
              <a:t>npm</a:t>
            </a:r>
            <a:r>
              <a:rPr lang="en-US" dirty="0"/>
              <a:t>)</a:t>
            </a:r>
          </a:p>
          <a:p>
            <a:pPr lvl="1"/>
            <a:r>
              <a:rPr lang="en-US" dirty="0"/>
              <a:t>React Components (reusable interface components)</a:t>
            </a:r>
          </a:p>
          <a:p>
            <a:pPr lvl="1"/>
            <a:r>
              <a:rPr lang="en-US" dirty="0"/>
              <a:t>React Props</a:t>
            </a:r>
          </a:p>
          <a:p>
            <a:pPr lvl="1"/>
            <a:r>
              <a:rPr lang="en-US" dirty="0"/>
              <a:t>React States</a:t>
            </a:r>
          </a:p>
          <a:p>
            <a:pPr lvl="1"/>
            <a:r>
              <a:rPr lang="en-US" dirty="0"/>
              <a:t>Binding Events to update the state</a:t>
            </a:r>
            <a:endParaRPr lang="en-PK" dirty="0"/>
          </a:p>
        </p:txBody>
      </p:sp>
    </p:spTree>
    <p:extLst>
      <p:ext uri="{BB962C8B-B14F-4D97-AF65-F5344CB8AC3E}">
        <p14:creationId xmlns:p14="http://schemas.microsoft.com/office/powerpoint/2010/main" val="2648252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F7F60-AD08-2CD0-2B65-5C0223E70547}"/>
              </a:ext>
            </a:extLst>
          </p:cNvPr>
          <p:cNvSpPr>
            <a:spLocks noGrp="1"/>
          </p:cNvSpPr>
          <p:nvPr>
            <p:ph type="title"/>
          </p:nvPr>
        </p:nvSpPr>
        <p:spPr/>
        <p:txBody>
          <a:bodyPr/>
          <a:lstStyle/>
          <a:p>
            <a:r>
              <a:rPr lang="en-US" dirty="0"/>
              <a:t>React Component Lifecycle</a:t>
            </a:r>
            <a:endParaRPr lang="en-PK" dirty="0"/>
          </a:p>
        </p:txBody>
      </p:sp>
      <p:sp>
        <p:nvSpPr>
          <p:cNvPr id="3" name="Content Placeholder 2">
            <a:extLst>
              <a:ext uri="{FF2B5EF4-FFF2-40B4-BE49-F238E27FC236}">
                <a16:creationId xmlns:a16="http://schemas.microsoft.com/office/drawing/2014/main" id="{6332C136-F54C-6D45-9C5D-7EF219BA5533}"/>
              </a:ext>
            </a:extLst>
          </p:cNvPr>
          <p:cNvSpPr>
            <a:spLocks noGrp="1"/>
          </p:cNvSpPr>
          <p:nvPr>
            <p:ph idx="1"/>
          </p:nvPr>
        </p:nvSpPr>
        <p:spPr/>
        <p:txBody>
          <a:bodyPr/>
          <a:lstStyle/>
          <a:p>
            <a:r>
              <a:rPr lang="en-US" dirty="0"/>
              <a:t>The React component lifecycle represents the journey of a React component from its birth to its removal from the DOM.</a:t>
            </a:r>
          </a:p>
          <a:p>
            <a:r>
              <a:rPr lang="en-US" dirty="0"/>
              <a:t>It encompasses three main phases: </a:t>
            </a:r>
          </a:p>
          <a:p>
            <a:pPr lvl="1"/>
            <a:r>
              <a:rPr lang="en-US" dirty="0"/>
              <a:t>Mounting </a:t>
            </a:r>
          </a:p>
          <a:p>
            <a:pPr lvl="1"/>
            <a:r>
              <a:rPr lang="en-US" dirty="0"/>
              <a:t>Updating</a:t>
            </a:r>
          </a:p>
          <a:p>
            <a:pPr lvl="1"/>
            <a:r>
              <a:rPr lang="en-US" dirty="0"/>
              <a:t>Unmounting</a:t>
            </a:r>
            <a:endParaRPr lang="en-PK" dirty="0"/>
          </a:p>
        </p:txBody>
      </p:sp>
    </p:spTree>
    <p:extLst>
      <p:ext uri="{BB962C8B-B14F-4D97-AF65-F5344CB8AC3E}">
        <p14:creationId xmlns:p14="http://schemas.microsoft.com/office/powerpoint/2010/main" val="45752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269-AEB1-E5C3-D671-B5DD19428975}"/>
              </a:ext>
            </a:extLst>
          </p:cNvPr>
          <p:cNvSpPr>
            <a:spLocks noGrp="1"/>
          </p:cNvSpPr>
          <p:nvPr>
            <p:ph type="title"/>
          </p:nvPr>
        </p:nvSpPr>
        <p:spPr/>
        <p:txBody>
          <a:bodyPr/>
          <a:lstStyle/>
          <a:p>
            <a:r>
              <a:rPr lang="en-US" dirty="0"/>
              <a:t>Mounting Phase:</a:t>
            </a:r>
            <a:endParaRPr lang="en-PK" dirty="0"/>
          </a:p>
        </p:txBody>
      </p:sp>
      <p:sp>
        <p:nvSpPr>
          <p:cNvPr id="3" name="Content Placeholder 2">
            <a:extLst>
              <a:ext uri="{FF2B5EF4-FFF2-40B4-BE49-F238E27FC236}">
                <a16:creationId xmlns:a16="http://schemas.microsoft.com/office/drawing/2014/main" id="{2C634350-3A92-D220-0F8B-0C1A704B4CA9}"/>
              </a:ext>
            </a:extLst>
          </p:cNvPr>
          <p:cNvSpPr>
            <a:spLocks noGrp="1"/>
          </p:cNvSpPr>
          <p:nvPr>
            <p:ph idx="1"/>
          </p:nvPr>
        </p:nvSpPr>
        <p:spPr/>
        <p:txBody>
          <a:bodyPr>
            <a:normAutofit/>
          </a:bodyPr>
          <a:lstStyle/>
          <a:p>
            <a:r>
              <a:rPr lang="en-US" dirty="0"/>
              <a:t>Occurs when a component is being created and inserted into the DOM.</a:t>
            </a:r>
          </a:p>
          <a:p>
            <a:r>
              <a:rPr lang="en-US" dirty="0"/>
              <a:t>Key methods: </a:t>
            </a:r>
          </a:p>
          <a:p>
            <a:pPr lvl="1"/>
            <a:r>
              <a:rPr lang="en-US" dirty="0"/>
              <a:t>constructor(): Initializing state and binding methods.</a:t>
            </a:r>
          </a:p>
          <a:p>
            <a:pPr lvl="1"/>
            <a:r>
              <a:rPr lang="en-US" dirty="0"/>
              <a:t>static </a:t>
            </a:r>
            <a:r>
              <a:rPr lang="en-US" dirty="0" err="1"/>
              <a:t>getDerivedStateFromProps</a:t>
            </a:r>
            <a:r>
              <a:rPr lang="en-US" dirty="0"/>
              <a:t>(): Used to update state based on </a:t>
            </a:r>
            <a:r>
              <a:rPr lang="en-US" dirty="0">
                <a:solidFill>
                  <a:srgbClr val="00B050"/>
                </a:solidFill>
              </a:rPr>
              <a:t>props</a:t>
            </a:r>
            <a:r>
              <a:rPr lang="en-US" dirty="0"/>
              <a:t>.</a:t>
            </a:r>
          </a:p>
          <a:p>
            <a:pPr lvl="1"/>
            <a:r>
              <a:rPr lang="en-US" dirty="0"/>
              <a:t>render(): Returns the component JSX to be rendered.</a:t>
            </a:r>
          </a:p>
          <a:p>
            <a:pPr lvl="1"/>
            <a:r>
              <a:rPr lang="en-US" dirty="0" err="1"/>
              <a:t>componentDidMount</a:t>
            </a:r>
            <a:r>
              <a:rPr lang="en-US" dirty="0"/>
              <a:t>(): Invoked after the component is mounted. Ideal for </a:t>
            </a:r>
            <a:r>
              <a:rPr lang="en-US" dirty="0">
                <a:solidFill>
                  <a:srgbClr val="00B050"/>
                </a:solidFill>
              </a:rPr>
              <a:t>side effects </a:t>
            </a:r>
            <a:r>
              <a:rPr lang="en-US" dirty="0"/>
              <a:t>like data fetching.</a:t>
            </a:r>
          </a:p>
        </p:txBody>
      </p:sp>
    </p:spTree>
    <p:extLst>
      <p:ext uri="{BB962C8B-B14F-4D97-AF65-F5344CB8AC3E}">
        <p14:creationId xmlns:p14="http://schemas.microsoft.com/office/powerpoint/2010/main" val="4223760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269-AEB1-E5C3-D671-B5DD19428975}"/>
              </a:ext>
            </a:extLst>
          </p:cNvPr>
          <p:cNvSpPr>
            <a:spLocks noGrp="1"/>
          </p:cNvSpPr>
          <p:nvPr>
            <p:ph type="title"/>
          </p:nvPr>
        </p:nvSpPr>
        <p:spPr/>
        <p:txBody>
          <a:bodyPr/>
          <a:lstStyle/>
          <a:p>
            <a:r>
              <a:rPr lang="en-US" dirty="0"/>
              <a:t>Mounting Phase 01: Constructor</a:t>
            </a:r>
            <a:endParaRPr lang="en-PK" dirty="0"/>
          </a:p>
        </p:txBody>
      </p:sp>
      <p:sp>
        <p:nvSpPr>
          <p:cNvPr id="3" name="Content Placeholder 2">
            <a:extLst>
              <a:ext uri="{FF2B5EF4-FFF2-40B4-BE49-F238E27FC236}">
                <a16:creationId xmlns:a16="http://schemas.microsoft.com/office/drawing/2014/main" id="{2C634350-3A92-D220-0F8B-0C1A704B4CA9}"/>
              </a:ext>
            </a:extLst>
          </p:cNvPr>
          <p:cNvSpPr>
            <a:spLocks noGrp="1"/>
          </p:cNvSpPr>
          <p:nvPr>
            <p:ph idx="1"/>
          </p:nvPr>
        </p:nvSpPr>
        <p:spPr/>
        <p:txBody>
          <a:bodyPr>
            <a:normAutofit/>
          </a:bodyPr>
          <a:lstStyle/>
          <a:p>
            <a:pPr algn="just"/>
            <a:r>
              <a:rPr lang="en-US" dirty="0"/>
              <a:t>The constructor() method is called before anything else, when the component is initiated, and it is the natural place to set up the initial state and other initial values.</a:t>
            </a:r>
          </a:p>
          <a:p>
            <a:pPr algn="just"/>
            <a:r>
              <a:rPr lang="en-US" dirty="0"/>
              <a:t>The constructor() method is called with the props, as arguments, and you should always start by calling the </a:t>
            </a:r>
            <a:r>
              <a:rPr lang="en-US" dirty="0">
                <a:solidFill>
                  <a:srgbClr val="00B050"/>
                </a:solidFill>
              </a:rPr>
              <a:t>super(props) </a:t>
            </a:r>
            <a:r>
              <a:rPr lang="en-US" dirty="0"/>
              <a:t>before anything else, this will initiate the parent's constructor method and allows the component to inherit methods from its parent (</a:t>
            </a:r>
            <a:r>
              <a:rPr lang="en-US" dirty="0" err="1"/>
              <a:t>React.Component</a:t>
            </a:r>
            <a:r>
              <a:rPr lang="en-US" dirty="0"/>
              <a:t>).</a:t>
            </a:r>
          </a:p>
        </p:txBody>
      </p:sp>
    </p:spTree>
    <p:extLst>
      <p:ext uri="{BB962C8B-B14F-4D97-AF65-F5344CB8AC3E}">
        <p14:creationId xmlns:p14="http://schemas.microsoft.com/office/powerpoint/2010/main" val="2928529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269-AEB1-E5C3-D671-B5DD19428975}"/>
              </a:ext>
            </a:extLst>
          </p:cNvPr>
          <p:cNvSpPr>
            <a:spLocks noGrp="1"/>
          </p:cNvSpPr>
          <p:nvPr>
            <p:ph type="title"/>
          </p:nvPr>
        </p:nvSpPr>
        <p:spPr/>
        <p:txBody>
          <a:bodyPr>
            <a:normAutofit fontScale="90000"/>
          </a:bodyPr>
          <a:lstStyle/>
          <a:p>
            <a:r>
              <a:rPr lang="en-US" dirty="0"/>
              <a:t>Mounting Phase 02: </a:t>
            </a:r>
            <a:r>
              <a:rPr lang="en-US" dirty="0" err="1"/>
              <a:t>getDerivedStateFromProps</a:t>
            </a:r>
            <a:endParaRPr lang="en-PK" dirty="0"/>
          </a:p>
        </p:txBody>
      </p:sp>
      <p:sp>
        <p:nvSpPr>
          <p:cNvPr id="3" name="Content Placeholder 2">
            <a:extLst>
              <a:ext uri="{FF2B5EF4-FFF2-40B4-BE49-F238E27FC236}">
                <a16:creationId xmlns:a16="http://schemas.microsoft.com/office/drawing/2014/main" id="{2C634350-3A92-D220-0F8B-0C1A704B4CA9}"/>
              </a:ext>
            </a:extLst>
          </p:cNvPr>
          <p:cNvSpPr>
            <a:spLocks noGrp="1"/>
          </p:cNvSpPr>
          <p:nvPr>
            <p:ph idx="1"/>
          </p:nvPr>
        </p:nvSpPr>
        <p:spPr/>
        <p:txBody>
          <a:bodyPr>
            <a:normAutofit/>
          </a:bodyPr>
          <a:lstStyle/>
          <a:p>
            <a:pPr algn="just"/>
            <a:r>
              <a:rPr lang="en-US" dirty="0"/>
              <a:t>The </a:t>
            </a:r>
            <a:r>
              <a:rPr lang="en-US" dirty="0" err="1"/>
              <a:t>getDerivedStateFromProps</a:t>
            </a:r>
            <a:r>
              <a:rPr lang="en-US" dirty="0"/>
              <a:t>() method is called </a:t>
            </a:r>
            <a:r>
              <a:rPr lang="en-US" dirty="0">
                <a:solidFill>
                  <a:srgbClr val="00B050"/>
                </a:solidFill>
              </a:rPr>
              <a:t>right before rendering the element(s) in the DOM.</a:t>
            </a:r>
          </a:p>
          <a:p>
            <a:pPr algn="just"/>
            <a:r>
              <a:rPr lang="en-US" dirty="0"/>
              <a:t>This is the natural place to set the state object based on the initial props.</a:t>
            </a:r>
          </a:p>
          <a:p>
            <a:pPr algn="just"/>
            <a:r>
              <a:rPr lang="en-US" dirty="0"/>
              <a:t>It takes state and props as arguments and returns an object with changes to the state.</a:t>
            </a:r>
          </a:p>
          <a:p>
            <a:pPr algn="just"/>
            <a:r>
              <a:rPr lang="en-US" dirty="0"/>
              <a:t>We should use this to update the props value passed in the component.</a:t>
            </a:r>
          </a:p>
        </p:txBody>
      </p:sp>
    </p:spTree>
    <p:extLst>
      <p:ext uri="{BB962C8B-B14F-4D97-AF65-F5344CB8AC3E}">
        <p14:creationId xmlns:p14="http://schemas.microsoft.com/office/powerpoint/2010/main" val="1409004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269-AEB1-E5C3-D671-B5DD19428975}"/>
              </a:ext>
            </a:extLst>
          </p:cNvPr>
          <p:cNvSpPr>
            <a:spLocks noGrp="1"/>
          </p:cNvSpPr>
          <p:nvPr>
            <p:ph type="title"/>
          </p:nvPr>
        </p:nvSpPr>
        <p:spPr/>
        <p:txBody>
          <a:bodyPr>
            <a:normAutofit/>
          </a:bodyPr>
          <a:lstStyle/>
          <a:p>
            <a:r>
              <a:rPr lang="en-US" dirty="0"/>
              <a:t>Mounting Phase 03: render</a:t>
            </a:r>
            <a:endParaRPr lang="en-PK" dirty="0"/>
          </a:p>
        </p:txBody>
      </p:sp>
      <p:sp>
        <p:nvSpPr>
          <p:cNvPr id="3" name="Content Placeholder 2">
            <a:extLst>
              <a:ext uri="{FF2B5EF4-FFF2-40B4-BE49-F238E27FC236}">
                <a16:creationId xmlns:a16="http://schemas.microsoft.com/office/drawing/2014/main" id="{2C634350-3A92-D220-0F8B-0C1A704B4CA9}"/>
              </a:ext>
            </a:extLst>
          </p:cNvPr>
          <p:cNvSpPr>
            <a:spLocks noGrp="1"/>
          </p:cNvSpPr>
          <p:nvPr>
            <p:ph idx="1"/>
          </p:nvPr>
        </p:nvSpPr>
        <p:spPr/>
        <p:txBody>
          <a:bodyPr>
            <a:normAutofit/>
          </a:bodyPr>
          <a:lstStyle/>
          <a:p>
            <a:pPr algn="just"/>
            <a:r>
              <a:rPr lang="en-US" dirty="0"/>
              <a:t>The render() method is required, and is the method that actually </a:t>
            </a:r>
            <a:r>
              <a:rPr lang="en-US" dirty="0">
                <a:solidFill>
                  <a:srgbClr val="00B050"/>
                </a:solidFill>
              </a:rPr>
              <a:t>outputs the HTML to the DOM.</a:t>
            </a:r>
          </a:p>
        </p:txBody>
      </p:sp>
    </p:spTree>
    <p:extLst>
      <p:ext uri="{BB962C8B-B14F-4D97-AF65-F5344CB8AC3E}">
        <p14:creationId xmlns:p14="http://schemas.microsoft.com/office/powerpoint/2010/main" val="2281628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70269-AEB1-E5C3-D671-B5DD19428975}"/>
              </a:ext>
            </a:extLst>
          </p:cNvPr>
          <p:cNvSpPr>
            <a:spLocks noGrp="1"/>
          </p:cNvSpPr>
          <p:nvPr>
            <p:ph type="title"/>
          </p:nvPr>
        </p:nvSpPr>
        <p:spPr/>
        <p:txBody>
          <a:bodyPr>
            <a:normAutofit/>
          </a:bodyPr>
          <a:lstStyle/>
          <a:p>
            <a:r>
              <a:rPr lang="en-US" dirty="0"/>
              <a:t>Mounting Phase 04: </a:t>
            </a:r>
            <a:r>
              <a:rPr lang="en-US" dirty="0" err="1">
                <a:solidFill>
                  <a:schemeClr val="tx1"/>
                </a:solidFill>
              </a:rPr>
              <a:t>componentDidMount</a:t>
            </a:r>
            <a:endParaRPr lang="en-PK" dirty="0"/>
          </a:p>
        </p:txBody>
      </p:sp>
      <p:sp>
        <p:nvSpPr>
          <p:cNvPr id="3" name="Content Placeholder 2">
            <a:extLst>
              <a:ext uri="{FF2B5EF4-FFF2-40B4-BE49-F238E27FC236}">
                <a16:creationId xmlns:a16="http://schemas.microsoft.com/office/drawing/2014/main" id="{2C634350-3A92-D220-0F8B-0C1A704B4CA9}"/>
              </a:ext>
            </a:extLst>
          </p:cNvPr>
          <p:cNvSpPr>
            <a:spLocks noGrp="1"/>
          </p:cNvSpPr>
          <p:nvPr>
            <p:ph idx="1"/>
          </p:nvPr>
        </p:nvSpPr>
        <p:spPr/>
        <p:txBody>
          <a:bodyPr>
            <a:normAutofit/>
          </a:bodyPr>
          <a:lstStyle/>
          <a:p>
            <a:pPr algn="just"/>
            <a:r>
              <a:rPr lang="en-US" dirty="0">
                <a:solidFill>
                  <a:schemeClr val="tx1"/>
                </a:solidFill>
              </a:rPr>
              <a:t>The </a:t>
            </a:r>
            <a:r>
              <a:rPr lang="en-US" dirty="0" err="1">
                <a:solidFill>
                  <a:schemeClr val="tx1"/>
                </a:solidFill>
              </a:rPr>
              <a:t>componentDidMount</a:t>
            </a:r>
            <a:r>
              <a:rPr lang="en-US" dirty="0">
                <a:solidFill>
                  <a:schemeClr val="tx1"/>
                </a:solidFill>
              </a:rPr>
              <a:t>() method is called after the component is rendered.</a:t>
            </a:r>
          </a:p>
          <a:p>
            <a:pPr algn="just"/>
            <a:r>
              <a:rPr lang="en-US" dirty="0">
                <a:solidFill>
                  <a:srgbClr val="00B050"/>
                </a:solidFill>
              </a:rPr>
              <a:t>This is where you run statements that requires that the component is already placed in the DOM.</a:t>
            </a:r>
          </a:p>
          <a:p>
            <a:pPr lvl="1" algn="just"/>
            <a:r>
              <a:rPr lang="en-US" dirty="0">
                <a:solidFill>
                  <a:srgbClr val="00B050"/>
                </a:solidFill>
              </a:rPr>
              <a:t>We should use this to update the state, after something happened in the background for example.</a:t>
            </a:r>
          </a:p>
          <a:p>
            <a:pPr algn="just"/>
            <a:endParaRPr lang="en-US" dirty="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2294302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BA2E-0AC2-0E98-D72C-03FE64FCD383}"/>
              </a:ext>
            </a:extLst>
          </p:cNvPr>
          <p:cNvSpPr>
            <a:spLocks noGrp="1"/>
          </p:cNvSpPr>
          <p:nvPr>
            <p:ph type="title"/>
          </p:nvPr>
        </p:nvSpPr>
        <p:spPr/>
        <p:txBody>
          <a:bodyPr/>
          <a:lstStyle/>
          <a:p>
            <a:r>
              <a:rPr lang="en-US" dirty="0">
                <a:solidFill>
                  <a:srgbClr val="FF0000"/>
                </a:solidFill>
              </a:rPr>
              <a:t>Design Note:</a:t>
            </a:r>
            <a:endParaRPr lang="en-PK" dirty="0">
              <a:solidFill>
                <a:srgbClr val="FF0000"/>
              </a:solidFill>
            </a:endParaRPr>
          </a:p>
        </p:txBody>
      </p:sp>
      <p:sp>
        <p:nvSpPr>
          <p:cNvPr id="3" name="Content Placeholder 2">
            <a:extLst>
              <a:ext uri="{FF2B5EF4-FFF2-40B4-BE49-F238E27FC236}">
                <a16:creationId xmlns:a16="http://schemas.microsoft.com/office/drawing/2014/main" id="{43C88FDD-852B-DAFC-E987-10585D98C480}"/>
              </a:ext>
            </a:extLst>
          </p:cNvPr>
          <p:cNvSpPr>
            <a:spLocks noGrp="1"/>
          </p:cNvSpPr>
          <p:nvPr>
            <p:ph idx="1"/>
          </p:nvPr>
        </p:nvSpPr>
        <p:spPr/>
        <p:txBody>
          <a:bodyPr/>
          <a:lstStyle/>
          <a:p>
            <a:r>
              <a:rPr lang="en-US" dirty="0"/>
              <a:t>If </a:t>
            </a:r>
            <a:r>
              <a:rPr lang="en-US" dirty="0" err="1"/>
              <a:t>getDerivedStateFromProps</a:t>
            </a:r>
            <a:r>
              <a:rPr lang="en-US" dirty="0"/>
              <a:t> is updating the state based on the initial props, it might be overwriting the changes made by </a:t>
            </a:r>
            <a:r>
              <a:rPr lang="en-US" dirty="0" err="1"/>
              <a:t>componentDidMount</a:t>
            </a:r>
            <a:r>
              <a:rPr lang="en-US" dirty="0"/>
              <a:t> if they are based on the same props.</a:t>
            </a:r>
          </a:p>
          <a:p>
            <a:r>
              <a:rPr lang="en-US" dirty="0"/>
              <a:t>To ensure that the state set in </a:t>
            </a:r>
            <a:r>
              <a:rPr lang="en-US" dirty="0" err="1"/>
              <a:t>componentDidMount</a:t>
            </a:r>
            <a:r>
              <a:rPr lang="en-US" dirty="0"/>
              <a:t> is preserved, you should avoid overwriting it in </a:t>
            </a:r>
            <a:r>
              <a:rPr lang="en-US" dirty="0" err="1"/>
              <a:t>getDerivedStateFromProps</a:t>
            </a:r>
            <a:r>
              <a:rPr lang="en-US" dirty="0"/>
              <a:t>. </a:t>
            </a:r>
          </a:p>
          <a:p>
            <a:r>
              <a:rPr lang="en-US" dirty="0">
                <a:solidFill>
                  <a:srgbClr val="FF0000"/>
                </a:solidFill>
              </a:rPr>
              <a:t>If both methods need to interact with the same piece of state, you might want to reconsider the design or introduce additional checks to avoid conflicts.</a:t>
            </a:r>
            <a:endParaRPr lang="en-PK" dirty="0">
              <a:solidFill>
                <a:srgbClr val="FF0000"/>
              </a:solidFill>
            </a:endParaRPr>
          </a:p>
        </p:txBody>
      </p:sp>
    </p:spTree>
    <p:extLst>
      <p:ext uri="{BB962C8B-B14F-4D97-AF65-F5344CB8AC3E}">
        <p14:creationId xmlns:p14="http://schemas.microsoft.com/office/powerpoint/2010/main" val="907067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96D4-DED6-A292-54A6-BAB20D23CD3D}"/>
              </a:ext>
            </a:extLst>
          </p:cNvPr>
          <p:cNvSpPr>
            <a:spLocks noGrp="1"/>
          </p:cNvSpPr>
          <p:nvPr>
            <p:ph type="title"/>
          </p:nvPr>
        </p:nvSpPr>
        <p:spPr/>
        <p:txBody>
          <a:bodyPr/>
          <a:lstStyle/>
          <a:p>
            <a:r>
              <a:rPr lang="en-US" dirty="0"/>
              <a:t>Mounting Phase - Example</a:t>
            </a:r>
            <a:endParaRPr lang="en-PK" dirty="0"/>
          </a:p>
        </p:txBody>
      </p:sp>
      <p:sp>
        <p:nvSpPr>
          <p:cNvPr id="3" name="Content Placeholder 2">
            <a:extLst>
              <a:ext uri="{FF2B5EF4-FFF2-40B4-BE49-F238E27FC236}">
                <a16:creationId xmlns:a16="http://schemas.microsoft.com/office/drawing/2014/main" id="{9B5A6AC3-F69E-7371-BF72-8481830E6AE7}"/>
              </a:ext>
            </a:extLst>
          </p:cNvPr>
          <p:cNvSpPr>
            <a:spLocks noGrp="1"/>
          </p:cNvSpPr>
          <p:nvPr>
            <p:ph idx="1"/>
          </p:nvPr>
        </p:nvSpPr>
        <p:spPr/>
        <p:txBody>
          <a:bodyPr>
            <a:normAutofit lnSpcReduction="10000"/>
          </a:bodyPr>
          <a:lstStyle/>
          <a:p>
            <a:r>
              <a:rPr lang="en-US" dirty="0"/>
              <a:t>You will need to establish </a:t>
            </a:r>
            <a:r>
              <a:rPr lang="en-US" dirty="0" err="1"/>
              <a:t>react’s</a:t>
            </a:r>
            <a:r>
              <a:rPr lang="en-US" dirty="0"/>
              <a:t> create app environment first to run this example.</a:t>
            </a:r>
          </a:p>
          <a:p>
            <a:pPr lvl="1"/>
            <a:r>
              <a:rPr lang="en-US" dirty="0" err="1"/>
              <a:t>npx</a:t>
            </a:r>
            <a:r>
              <a:rPr lang="en-US" dirty="0"/>
              <a:t> create-react-app </a:t>
            </a:r>
            <a:r>
              <a:rPr lang="en-US" dirty="0" err="1"/>
              <a:t>ourapp</a:t>
            </a:r>
            <a:endParaRPr lang="en-US" dirty="0"/>
          </a:p>
          <a:p>
            <a:pPr lvl="1"/>
            <a:r>
              <a:rPr lang="en-US" dirty="0"/>
              <a:t>Cd </a:t>
            </a:r>
            <a:r>
              <a:rPr lang="en-US" dirty="0" err="1"/>
              <a:t>ourapp</a:t>
            </a:r>
            <a:endParaRPr lang="en-US" dirty="0"/>
          </a:p>
          <a:p>
            <a:pPr lvl="1"/>
            <a:r>
              <a:rPr lang="en-US" dirty="0" err="1"/>
              <a:t>npm</a:t>
            </a:r>
            <a:r>
              <a:rPr lang="en-US" dirty="0"/>
              <a:t> start</a:t>
            </a:r>
          </a:p>
          <a:p>
            <a:pPr lvl="1"/>
            <a:r>
              <a:rPr lang="en-US" dirty="0"/>
              <a:t>Then download the app.js and component folder from blackboard and put them in </a:t>
            </a:r>
            <a:r>
              <a:rPr lang="en-US" dirty="0" err="1"/>
              <a:t>src</a:t>
            </a:r>
            <a:r>
              <a:rPr lang="en-US" dirty="0"/>
              <a:t> folder</a:t>
            </a:r>
          </a:p>
          <a:p>
            <a:r>
              <a:rPr lang="en-US" dirty="0"/>
              <a:t>See example: </a:t>
            </a:r>
            <a:r>
              <a:rPr lang="en-US" dirty="0" err="1"/>
              <a:t>MountingExample</a:t>
            </a:r>
            <a:endParaRPr lang="en-PK" dirty="0"/>
          </a:p>
        </p:txBody>
      </p:sp>
    </p:spTree>
    <p:extLst>
      <p:ext uri="{BB962C8B-B14F-4D97-AF65-F5344CB8AC3E}">
        <p14:creationId xmlns:p14="http://schemas.microsoft.com/office/powerpoint/2010/main" val="393562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9647-82BD-122E-BC75-05798D246E87}"/>
              </a:ext>
            </a:extLst>
          </p:cNvPr>
          <p:cNvSpPr>
            <a:spLocks noGrp="1"/>
          </p:cNvSpPr>
          <p:nvPr>
            <p:ph type="title"/>
          </p:nvPr>
        </p:nvSpPr>
        <p:spPr/>
        <p:txBody>
          <a:bodyPr/>
          <a:lstStyle/>
          <a:p>
            <a:r>
              <a:rPr lang="en-US" dirty="0"/>
              <a:t>Updating Phase</a:t>
            </a:r>
            <a:endParaRPr lang="en-PK" dirty="0"/>
          </a:p>
        </p:txBody>
      </p:sp>
      <p:sp>
        <p:nvSpPr>
          <p:cNvPr id="3" name="Content Placeholder 2">
            <a:extLst>
              <a:ext uri="{FF2B5EF4-FFF2-40B4-BE49-F238E27FC236}">
                <a16:creationId xmlns:a16="http://schemas.microsoft.com/office/drawing/2014/main" id="{3F7364AC-9092-1903-BAE3-1A42C2A5D34A}"/>
              </a:ext>
            </a:extLst>
          </p:cNvPr>
          <p:cNvSpPr>
            <a:spLocks noGrp="1"/>
          </p:cNvSpPr>
          <p:nvPr>
            <p:ph idx="1"/>
          </p:nvPr>
        </p:nvSpPr>
        <p:spPr/>
        <p:txBody>
          <a:bodyPr>
            <a:normAutofit fontScale="77500" lnSpcReduction="20000"/>
          </a:bodyPr>
          <a:lstStyle/>
          <a:p>
            <a:r>
              <a:rPr lang="en-US" dirty="0"/>
              <a:t>The next phase in the lifecycle is when a component is updated.</a:t>
            </a:r>
          </a:p>
          <a:p>
            <a:r>
              <a:rPr lang="en-US" dirty="0"/>
              <a:t>A component is updated whenever there is a change in the component's state or props.</a:t>
            </a:r>
          </a:p>
          <a:p>
            <a:r>
              <a:rPr lang="en-US" dirty="0"/>
              <a:t>React has five built-in methods that gets called, in this order, when a component is updated:</a:t>
            </a:r>
          </a:p>
          <a:p>
            <a:pPr lvl="1"/>
            <a:r>
              <a:rPr lang="en-US" dirty="0" err="1">
                <a:solidFill>
                  <a:srgbClr val="00B050"/>
                </a:solidFill>
              </a:rPr>
              <a:t>getDerivedStateFromProps</a:t>
            </a:r>
            <a:r>
              <a:rPr lang="en-US" dirty="0">
                <a:solidFill>
                  <a:srgbClr val="00B050"/>
                </a:solidFill>
              </a:rPr>
              <a:t>()</a:t>
            </a:r>
          </a:p>
          <a:p>
            <a:pPr lvl="1"/>
            <a:r>
              <a:rPr lang="en-US" dirty="0" err="1"/>
              <a:t>shouldComponentUpdate</a:t>
            </a:r>
            <a:r>
              <a:rPr lang="en-US" dirty="0"/>
              <a:t>()</a:t>
            </a:r>
          </a:p>
          <a:p>
            <a:pPr lvl="1"/>
            <a:r>
              <a:rPr lang="en-US" dirty="0">
                <a:solidFill>
                  <a:srgbClr val="00B050"/>
                </a:solidFill>
              </a:rPr>
              <a:t>render()</a:t>
            </a:r>
          </a:p>
          <a:p>
            <a:pPr lvl="1"/>
            <a:r>
              <a:rPr lang="en-US" dirty="0" err="1"/>
              <a:t>getSnapshotBeforeUpdate</a:t>
            </a:r>
            <a:r>
              <a:rPr lang="en-US" dirty="0"/>
              <a:t>()</a:t>
            </a:r>
          </a:p>
          <a:p>
            <a:pPr lvl="1"/>
            <a:r>
              <a:rPr lang="en-US" dirty="0" err="1">
                <a:solidFill>
                  <a:srgbClr val="00B050"/>
                </a:solidFill>
              </a:rPr>
              <a:t>componentDidUpdate</a:t>
            </a:r>
            <a:r>
              <a:rPr lang="en-US" dirty="0">
                <a:solidFill>
                  <a:srgbClr val="00B050"/>
                </a:solidFill>
              </a:rPr>
              <a:t>()</a:t>
            </a:r>
          </a:p>
          <a:p>
            <a:r>
              <a:rPr lang="en-US" dirty="0"/>
              <a:t>The render() method is required and will always be called, the others are optional and will be called if you define them.</a:t>
            </a:r>
            <a:endParaRPr lang="en-PK" dirty="0"/>
          </a:p>
        </p:txBody>
      </p:sp>
    </p:spTree>
    <p:extLst>
      <p:ext uri="{BB962C8B-B14F-4D97-AF65-F5344CB8AC3E}">
        <p14:creationId xmlns:p14="http://schemas.microsoft.com/office/powerpoint/2010/main" val="1875328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79647-82BD-122E-BC75-05798D246E87}"/>
              </a:ext>
            </a:extLst>
          </p:cNvPr>
          <p:cNvSpPr>
            <a:spLocks noGrp="1"/>
          </p:cNvSpPr>
          <p:nvPr>
            <p:ph type="title"/>
          </p:nvPr>
        </p:nvSpPr>
        <p:spPr/>
        <p:txBody>
          <a:bodyPr/>
          <a:lstStyle/>
          <a:p>
            <a:r>
              <a:rPr lang="en-US" dirty="0"/>
              <a:t>Updating Phase - Example</a:t>
            </a:r>
            <a:endParaRPr lang="en-PK" dirty="0"/>
          </a:p>
        </p:txBody>
      </p:sp>
      <p:sp>
        <p:nvSpPr>
          <p:cNvPr id="3" name="Content Placeholder 2">
            <a:extLst>
              <a:ext uri="{FF2B5EF4-FFF2-40B4-BE49-F238E27FC236}">
                <a16:creationId xmlns:a16="http://schemas.microsoft.com/office/drawing/2014/main" id="{3F7364AC-9092-1903-BAE3-1A42C2A5D34A}"/>
              </a:ext>
            </a:extLst>
          </p:cNvPr>
          <p:cNvSpPr>
            <a:spLocks noGrp="1"/>
          </p:cNvSpPr>
          <p:nvPr>
            <p:ph idx="1"/>
          </p:nvPr>
        </p:nvSpPr>
        <p:spPr/>
        <p:txBody>
          <a:bodyPr/>
          <a:lstStyle/>
          <a:p>
            <a:r>
              <a:rPr lang="en-US" dirty="0"/>
              <a:t>See example: </a:t>
            </a:r>
            <a:r>
              <a:rPr lang="en-US" dirty="0" err="1"/>
              <a:t>UpdatingExample</a:t>
            </a:r>
            <a:endParaRPr lang="en-PK" dirty="0"/>
          </a:p>
        </p:txBody>
      </p:sp>
    </p:spTree>
    <p:extLst>
      <p:ext uri="{BB962C8B-B14F-4D97-AF65-F5344CB8AC3E}">
        <p14:creationId xmlns:p14="http://schemas.microsoft.com/office/powerpoint/2010/main" val="2670232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4B8C-3F8C-BC7D-7DF4-4EC0F3466084}"/>
              </a:ext>
            </a:extLst>
          </p:cNvPr>
          <p:cNvSpPr>
            <a:spLocks noGrp="1"/>
          </p:cNvSpPr>
          <p:nvPr>
            <p:ph type="title"/>
          </p:nvPr>
        </p:nvSpPr>
        <p:spPr/>
        <p:txBody>
          <a:bodyPr/>
          <a:lstStyle/>
          <a:p>
            <a:r>
              <a:rPr lang="en-US" dirty="0"/>
              <a:t>Unmounting Phase</a:t>
            </a:r>
            <a:endParaRPr lang="en-PK" dirty="0"/>
          </a:p>
        </p:txBody>
      </p:sp>
      <p:sp>
        <p:nvSpPr>
          <p:cNvPr id="3" name="Content Placeholder 2">
            <a:extLst>
              <a:ext uri="{FF2B5EF4-FFF2-40B4-BE49-F238E27FC236}">
                <a16:creationId xmlns:a16="http://schemas.microsoft.com/office/drawing/2014/main" id="{3C67E981-369E-F088-0D62-DDE4BB493439}"/>
              </a:ext>
            </a:extLst>
          </p:cNvPr>
          <p:cNvSpPr>
            <a:spLocks noGrp="1"/>
          </p:cNvSpPr>
          <p:nvPr>
            <p:ph idx="1"/>
          </p:nvPr>
        </p:nvSpPr>
        <p:spPr/>
        <p:txBody>
          <a:bodyPr/>
          <a:lstStyle/>
          <a:p>
            <a:r>
              <a:rPr lang="en-US" dirty="0"/>
              <a:t>The next phase in the lifecycle is when a component is removed from the DOM, or unmounting as React likes to call it.</a:t>
            </a:r>
          </a:p>
          <a:p>
            <a:r>
              <a:rPr lang="en-US" dirty="0"/>
              <a:t>React has only one built-in method that gets called when a component is unmounted:</a:t>
            </a:r>
          </a:p>
          <a:p>
            <a:pPr lvl="1"/>
            <a:r>
              <a:rPr lang="en-US" dirty="0" err="1"/>
              <a:t>componentWillUnmount</a:t>
            </a:r>
            <a:r>
              <a:rPr lang="en-US" dirty="0"/>
              <a:t>()</a:t>
            </a:r>
            <a:endParaRPr lang="en-PK" dirty="0"/>
          </a:p>
        </p:txBody>
      </p:sp>
    </p:spTree>
    <p:extLst>
      <p:ext uri="{BB962C8B-B14F-4D97-AF65-F5344CB8AC3E}">
        <p14:creationId xmlns:p14="http://schemas.microsoft.com/office/powerpoint/2010/main" val="3204994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94B8C-3F8C-BC7D-7DF4-4EC0F3466084}"/>
              </a:ext>
            </a:extLst>
          </p:cNvPr>
          <p:cNvSpPr>
            <a:spLocks noGrp="1"/>
          </p:cNvSpPr>
          <p:nvPr>
            <p:ph type="title"/>
          </p:nvPr>
        </p:nvSpPr>
        <p:spPr/>
        <p:txBody>
          <a:bodyPr/>
          <a:lstStyle/>
          <a:p>
            <a:r>
              <a:rPr lang="en-US" dirty="0"/>
              <a:t>Unmounting Phase - Example</a:t>
            </a:r>
            <a:endParaRPr lang="en-PK" dirty="0"/>
          </a:p>
        </p:txBody>
      </p:sp>
      <p:sp>
        <p:nvSpPr>
          <p:cNvPr id="3" name="Content Placeholder 2">
            <a:extLst>
              <a:ext uri="{FF2B5EF4-FFF2-40B4-BE49-F238E27FC236}">
                <a16:creationId xmlns:a16="http://schemas.microsoft.com/office/drawing/2014/main" id="{3C67E981-369E-F088-0D62-DDE4BB493439}"/>
              </a:ext>
            </a:extLst>
          </p:cNvPr>
          <p:cNvSpPr>
            <a:spLocks noGrp="1"/>
          </p:cNvSpPr>
          <p:nvPr>
            <p:ph idx="1"/>
          </p:nvPr>
        </p:nvSpPr>
        <p:spPr/>
        <p:txBody>
          <a:bodyPr/>
          <a:lstStyle/>
          <a:p>
            <a:r>
              <a:rPr lang="en-US" dirty="0"/>
              <a:t>See Example: </a:t>
            </a:r>
            <a:r>
              <a:rPr lang="en-US" dirty="0" err="1"/>
              <a:t>UnmountingExample</a:t>
            </a:r>
            <a:endParaRPr lang="en-PK" dirty="0"/>
          </a:p>
        </p:txBody>
      </p:sp>
    </p:spTree>
    <p:extLst>
      <p:ext uri="{BB962C8B-B14F-4D97-AF65-F5344CB8AC3E}">
        <p14:creationId xmlns:p14="http://schemas.microsoft.com/office/powerpoint/2010/main" val="3178435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9DA18-ABA5-DB1C-346B-161A2358DCF3}"/>
              </a:ext>
            </a:extLst>
          </p:cNvPr>
          <p:cNvSpPr>
            <a:spLocks noGrp="1"/>
          </p:cNvSpPr>
          <p:nvPr>
            <p:ph type="title"/>
          </p:nvPr>
        </p:nvSpPr>
        <p:spPr/>
        <p:txBody>
          <a:bodyPr/>
          <a:lstStyle/>
          <a:p>
            <a:r>
              <a:rPr lang="en-US" dirty="0"/>
              <a:t>React Forms and Controlled Components</a:t>
            </a:r>
            <a:endParaRPr lang="en-PK" dirty="0"/>
          </a:p>
        </p:txBody>
      </p:sp>
      <p:sp>
        <p:nvSpPr>
          <p:cNvPr id="3" name="Content Placeholder 2">
            <a:extLst>
              <a:ext uri="{FF2B5EF4-FFF2-40B4-BE49-F238E27FC236}">
                <a16:creationId xmlns:a16="http://schemas.microsoft.com/office/drawing/2014/main" id="{17623FE1-2586-8C0B-103C-76B7EC2DA700}"/>
              </a:ext>
            </a:extLst>
          </p:cNvPr>
          <p:cNvSpPr>
            <a:spLocks noGrp="1"/>
          </p:cNvSpPr>
          <p:nvPr>
            <p:ph idx="1"/>
          </p:nvPr>
        </p:nvSpPr>
        <p:spPr/>
        <p:txBody>
          <a:bodyPr/>
          <a:lstStyle/>
          <a:p>
            <a:r>
              <a:rPr lang="en-US" dirty="0"/>
              <a:t>In React, controlled components refer to form elements whose values are controlled by the state in the React component. This means that the </a:t>
            </a:r>
            <a:r>
              <a:rPr lang="en-US" dirty="0">
                <a:solidFill>
                  <a:srgbClr val="00B050"/>
                </a:solidFill>
              </a:rPr>
              <a:t>React component maintains the state of the form elements and updates them through state changes.</a:t>
            </a:r>
          </a:p>
          <a:p>
            <a:r>
              <a:rPr lang="en-US" dirty="0"/>
              <a:t>See Example: </a:t>
            </a:r>
            <a:r>
              <a:rPr lang="en-US" dirty="0" err="1"/>
              <a:t>ControlledFormExample</a:t>
            </a:r>
            <a:endParaRPr lang="en-PK" dirty="0"/>
          </a:p>
        </p:txBody>
      </p:sp>
    </p:spTree>
    <p:extLst>
      <p:ext uri="{BB962C8B-B14F-4D97-AF65-F5344CB8AC3E}">
        <p14:creationId xmlns:p14="http://schemas.microsoft.com/office/powerpoint/2010/main" val="275839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500C-E438-E758-C479-A00DD12568A9}"/>
              </a:ext>
            </a:extLst>
          </p:cNvPr>
          <p:cNvSpPr>
            <a:spLocks noGrp="1"/>
          </p:cNvSpPr>
          <p:nvPr>
            <p:ph type="title"/>
          </p:nvPr>
        </p:nvSpPr>
        <p:spPr/>
        <p:txBody>
          <a:bodyPr/>
          <a:lstStyle/>
          <a:p>
            <a:r>
              <a:rPr lang="en-US" dirty="0"/>
              <a:t>Uncontrolled Components</a:t>
            </a:r>
            <a:endParaRPr lang="en-PK" dirty="0"/>
          </a:p>
        </p:txBody>
      </p:sp>
      <p:sp>
        <p:nvSpPr>
          <p:cNvPr id="3" name="Content Placeholder 2">
            <a:extLst>
              <a:ext uri="{FF2B5EF4-FFF2-40B4-BE49-F238E27FC236}">
                <a16:creationId xmlns:a16="http://schemas.microsoft.com/office/drawing/2014/main" id="{6DC04185-D013-E5B1-4607-62504B89F612}"/>
              </a:ext>
            </a:extLst>
          </p:cNvPr>
          <p:cNvSpPr>
            <a:spLocks noGrp="1"/>
          </p:cNvSpPr>
          <p:nvPr>
            <p:ph idx="1"/>
          </p:nvPr>
        </p:nvSpPr>
        <p:spPr/>
        <p:txBody>
          <a:bodyPr/>
          <a:lstStyle/>
          <a:p>
            <a:r>
              <a:rPr lang="en-US" dirty="0"/>
              <a:t>If you prefer not to use controlled components in React, you can use the traditional HTML form handling approach. In this case, you would rely more on </a:t>
            </a:r>
            <a:r>
              <a:rPr lang="en-US" dirty="0">
                <a:solidFill>
                  <a:srgbClr val="00B050"/>
                </a:solidFill>
              </a:rPr>
              <a:t>refs</a:t>
            </a:r>
            <a:r>
              <a:rPr lang="en-US" dirty="0"/>
              <a:t> to get the values of form elements when needed.</a:t>
            </a:r>
          </a:p>
          <a:p>
            <a:r>
              <a:rPr lang="en-US" dirty="0"/>
              <a:t>See Example: </a:t>
            </a:r>
            <a:r>
              <a:rPr lang="en-US" dirty="0" err="1"/>
              <a:t>UncontrolledFormExample</a:t>
            </a:r>
            <a:endParaRPr lang="en-PK" dirty="0"/>
          </a:p>
        </p:txBody>
      </p:sp>
    </p:spTree>
    <p:extLst>
      <p:ext uri="{BB962C8B-B14F-4D97-AF65-F5344CB8AC3E}">
        <p14:creationId xmlns:p14="http://schemas.microsoft.com/office/powerpoint/2010/main" val="1747229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7F19-EF35-B24A-9522-73166085EEF0}"/>
              </a:ext>
            </a:extLst>
          </p:cNvPr>
          <p:cNvSpPr>
            <a:spLocks noGrp="1"/>
          </p:cNvSpPr>
          <p:nvPr>
            <p:ph type="title"/>
          </p:nvPr>
        </p:nvSpPr>
        <p:spPr/>
        <p:txBody>
          <a:bodyPr>
            <a:normAutofit/>
          </a:bodyPr>
          <a:lstStyle/>
          <a:p>
            <a:r>
              <a:rPr lang="en-US" dirty="0"/>
              <a:t>Recommendation:</a:t>
            </a:r>
            <a:endParaRPr lang="en-PK" dirty="0"/>
          </a:p>
        </p:txBody>
      </p:sp>
      <p:sp>
        <p:nvSpPr>
          <p:cNvPr id="3" name="Content Placeholder 2">
            <a:extLst>
              <a:ext uri="{FF2B5EF4-FFF2-40B4-BE49-F238E27FC236}">
                <a16:creationId xmlns:a16="http://schemas.microsoft.com/office/drawing/2014/main" id="{20C713D8-FC27-2621-4397-EB3C2AB23C61}"/>
              </a:ext>
            </a:extLst>
          </p:cNvPr>
          <p:cNvSpPr>
            <a:spLocks noGrp="1"/>
          </p:cNvSpPr>
          <p:nvPr>
            <p:ph idx="1"/>
          </p:nvPr>
        </p:nvSpPr>
        <p:spPr/>
        <p:txBody>
          <a:bodyPr>
            <a:normAutofit/>
          </a:bodyPr>
          <a:lstStyle/>
          <a:p>
            <a:r>
              <a:rPr lang="en-US" dirty="0">
                <a:solidFill>
                  <a:srgbClr val="00B050"/>
                </a:solidFill>
              </a:rPr>
              <a:t>Controlled Components</a:t>
            </a:r>
            <a:r>
              <a:rPr lang="en-US" dirty="0"/>
              <a:t>: This approach is generally recommended for most scenarios, especially when working with complex forms or when you want more predictability and control over the form's state. It aligns well with </a:t>
            </a:r>
            <a:r>
              <a:rPr lang="en-US" dirty="0" err="1"/>
              <a:t>React's</a:t>
            </a:r>
            <a:r>
              <a:rPr lang="en-US" dirty="0"/>
              <a:t> declarative approach to building UIs.</a:t>
            </a:r>
          </a:p>
          <a:p>
            <a:endParaRPr lang="en-US" dirty="0"/>
          </a:p>
          <a:p>
            <a:r>
              <a:rPr lang="en-US" dirty="0">
                <a:solidFill>
                  <a:srgbClr val="FF0000"/>
                </a:solidFill>
              </a:rPr>
              <a:t>Uncontrolled Components</a:t>
            </a:r>
            <a:r>
              <a:rPr lang="en-US" dirty="0"/>
              <a:t>: This approach might be suitable for simpler forms or when integrating with non-React code. It can be less verbose and more straightforward in certain situations.</a:t>
            </a:r>
            <a:endParaRPr lang="en-PK" dirty="0"/>
          </a:p>
        </p:txBody>
      </p:sp>
    </p:spTree>
    <p:extLst>
      <p:ext uri="{BB962C8B-B14F-4D97-AF65-F5344CB8AC3E}">
        <p14:creationId xmlns:p14="http://schemas.microsoft.com/office/powerpoint/2010/main" val="73211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44D08-D245-3010-9BF7-2C6339E4FF8F}"/>
              </a:ext>
            </a:extLst>
          </p:cNvPr>
          <p:cNvSpPr>
            <a:spLocks noGrp="1"/>
          </p:cNvSpPr>
          <p:nvPr>
            <p:ph type="title"/>
          </p:nvPr>
        </p:nvSpPr>
        <p:spPr/>
        <p:txBody>
          <a:bodyPr/>
          <a:lstStyle/>
          <a:p>
            <a:r>
              <a:rPr lang="en-US" dirty="0"/>
              <a:t>React Router</a:t>
            </a:r>
            <a:endParaRPr lang="en-PK" dirty="0"/>
          </a:p>
        </p:txBody>
      </p:sp>
      <p:sp>
        <p:nvSpPr>
          <p:cNvPr id="3" name="Content Placeholder 2">
            <a:extLst>
              <a:ext uri="{FF2B5EF4-FFF2-40B4-BE49-F238E27FC236}">
                <a16:creationId xmlns:a16="http://schemas.microsoft.com/office/drawing/2014/main" id="{C03E54F6-0BB9-F564-D595-DC52963B530D}"/>
              </a:ext>
            </a:extLst>
          </p:cNvPr>
          <p:cNvSpPr>
            <a:spLocks noGrp="1"/>
          </p:cNvSpPr>
          <p:nvPr>
            <p:ph idx="1"/>
          </p:nvPr>
        </p:nvSpPr>
        <p:spPr/>
        <p:txBody>
          <a:bodyPr/>
          <a:lstStyle/>
          <a:p>
            <a:r>
              <a:rPr lang="en-US" dirty="0"/>
              <a:t>React Router is a popular library for handling routing in React applications, allowing you to navigate between different components or pages.</a:t>
            </a:r>
          </a:p>
          <a:p>
            <a:r>
              <a:rPr lang="en-US" dirty="0"/>
              <a:t>you can install React Router with the following command:</a:t>
            </a:r>
          </a:p>
          <a:p>
            <a:pPr lvl="1"/>
            <a:r>
              <a:rPr lang="en-US" dirty="0" err="1"/>
              <a:t>npm</a:t>
            </a:r>
            <a:r>
              <a:rPr lang="en-US" dirty="0"/>
              <a:t> install react-router-</a:t>
            </a:r>
            <a:r>
              <a:rPr lang="en-US" dirty="0" err="1"/>
              <a:t>dom</a:t>
            </a:r>
            <a:endParaRPr lang="en-PK" dirty="0"/>
          </a:p>
        </p:txBody>
      </p:sp>
    </p:spTree>
    <p:extLst>
      <p:ext uri="{BB962C8B-B14F-4D97-AF65-F5344CB8AC3E}">
        <p14:creationId xmlns:p14="http://schemas.microsoft.com/office/powerpoint/2010/main" val="965791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42BC0-45F7-DDD5-2041-CAA730397B31}"/>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AC7EF7CF-3515-FF29-4E74-89F38435EDFE}"/>
              </a:ext>
            </a:extLst>
          </p:cNvPr>
          <p:cNvSpPr>
            <a:spLocks noGrp="1"/>
          </p:cNvSpPr>
          <p:nvPr>
            <p:ph idx="1"/>
          </p:nvPr>
        </p:nvSpPr>
        <p:spPr/>
        <p:txBody>
          <a:bodyPr/>
          <a:lstStyle/>
          <a:p>
            <a:r>
              <a:rPr lang="en-US" dirty="0"/>
              <a:t>See Example: </a:t>
            </a:r>
            <a:r>
              <a:rPr lang="en-US" dirty="0" err="1"/>
              <a:t>ReactRouter</a:t>
            </a:r>
            <a:endParaRPr lang="en-PK" dirty="0"/>
          </a:p>
        </p:txBody>
      </p:sp>
    </p:spTree>
    <p:extLst>
      <p:ext uri="{BB962C8B-B14F-4D97-AF65-F5344CB8AC3E}">
        <p14:creationId xmlns:p14="http://schemas.microsoft.com/office/powerpoint/2010/main" val="215247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C4A4-8FAB-85C0-900A-E2A1C41924B8}"/>
              </a:ext>
            </a:extLst>
          </p:cNvPr>
          <p:cNvSpPr>
            <a:spLocks noGrp="1"/>
          </p:cNvSpPr>
          <p:nvPr>
            <p:ph type="title"/>
          </p:nvPr>
        </p:nvSpPr>
        <p:spPr/>
        <p:txBody>
          <a:bodyPr/>
          <a:lstStyle/>
          <a:p>
            <a:r>
              <a:rPr lang="en-US" dirty="0"/>
              <a:t>Context API (Manage State)</a:t>
            </a:r>
            <a:endParaRPr lang="en-PK" dirty="0"/>
          </a:p>
        </p:txBody>
      </p:sp>
      <p:sp>
        <p:nvSpPr>
          <p:cNvPr id="3" name="Content Placeholder 2">
            <a:extLst>
              <a:ext uri="{FF2B5EF4-FFF2-40B4-BE49-F238E27FC236}">
                <a16:creationId xmlns:a16="http://schemas.microsoft.com/office/drawing/2014/main" id="{612F87AC-D3BB-1795-7C1A-9BEE42A1AD7D}"/>
              </a:ext>
            </a:extLst>
          </p:cNvPr>
          <p:cNvSpPr>
            <a:spLocks noGrp="1"/>
          </p:cNvSpPr>
          <p:nvPr>
            <p:ph idx="1"/>
          </p:nvPr>
        </p:nvSpPr>
        <p:spPr/>
        <p:txBody>
          <a:bodyPr/>
          <a:lstStyle/>
          <a:p>
            <a:r>
              <a:rPr lang="en-US" dirty="0"/>
              <a:t>The Context API in React provides a way to share values (like state or functions) across many components in a tree without having to pass the props manually at every level. It's particularly useful in scenarios where state needs to be accessed by multiple components that are not directly connected in the component tree.</a:t>
            </a:r>
            <a:endParaRPr lang="en-PK" dirty="0"/>
          </a:p>
        </p:txBody>
      </p:sp>
    </p:spTree>
    <p:extLst>
      <p:ext uri="{BB962C8B-B14F-4D97-AF65-F5344CB8AC3E}">
        <p14:creationId xmlns:p14="http://schemas.microsoft.com/office/powerpoint/2010/main" val="3739193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C4A4-8FAB-85C0-900A-E2A1C41924B8}"/>
              </a:ext>
            </a:extLst>
          </p:cNvPr>
          <p:cNvSpPr>
            <a:spLocks noGrp="1"/>
          </p:cNvSpPr>
          <p:nvPr>
            <p:ph type="title"/>
          </p:nvPr>
        </p:nvSpPr>
        <p:spPr/>
        <p:txBody>
          <a:bodyPr/>
          <a:lstStyle/>
          <a:p>
            <a:r>
              <a:rPr lang="en-US" dirty="0"/>
              <a:t>Context API (Benefits)</a:t>
            </a:r>
            <a:endParaRPr lang="en-PK" dirty="0"/>
          </a:p>
        </p:txBody>
      </p:sp>
      <p:sp>
        <p:nvSpPr>
          <p:cNvPr id="3" name="Content Placeholder 2">
            <a:extLst>
              <a:ext uri="{FF2B5EF4-FFF2-40B4-BE49-F238E27FC236}">
                <a16:creationId xmlns:a16="http://schemas.microsoft.com/office/drawing/2014/main" id="{612F87AC-D3BB-1795-7C1A-9BEE42A1AD7D}"/>
              </a:ext>
            </a:extLst>
          </p:cNvPr>
          <p:cNvSpPr>
            <a:spLocks noGrp="1"/>
          </p:cNvSpPr>
          <p:nvPr>
            <p:ph idx="1"/>
          </p:nvPr>
        </p:nvSpPr>
        <p:spPr/>
        <p:txBody>
          <a:bodyPr/>
          <a:lstStyle/>
          <a:p>
            <a:r>
              <a:rPr lang="en-US" dirty="0"/>
              <a:t>Avoids prop drilling (makes it global)</a:t>
            </a:r>
          </a:p>
          <a:p>
            <a:r>
              <a:rPr lang="en-US" dirty="0"/>
              <a:t>Easier to maintain </a:t>
            </a:r>
          </a:p>
          <a:p>
            <a:r>
              <a:rPr lang="en-US" dirty="0"/>
              <a:t>Separation of concerns</a:t>
            </a:r>
          </a:p>
          <a:p>
            <a:r>
              <a:rPr lang="en-US" dirty="0"/>
              <a:t>It's generally recommended to use context for </a:t>
            </a:r>
            <a:r>
              <a:rPr lang="en-US" dirty="0">
                <a:solidFill>
                  <a:srgbClr val="00B050"/>
                </a:solidFill>
              </a:rPr>
              <a:t>truly global state </a:t>
            </a:r>
            <a:r>
              <a:rPr lang="en-US" dirty="0"/>
              <a:t>and resort to other state management solutions (like local state or libraries such as Redux) for more localized state needs.</a:t>
            </a:r>
          </a:p>
          <a:p>
            <a:endParaRPr lang="en-PK" dirty="0"/>
          </a:p>
        </p:txBody>
      </p:sp>
    </p:spTree>
    <p:extLst>
      <p:ext uri="{BB962C8B-B14F-4D97-AF65-F5344CB8AC3E}">
        <p14:creationId xmlns:p14="http://schemas.microsoft.com/office/powerpoint/2010/main" val="4145035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D67E-33DA-B4A3-87F2-8AFD15229326}"/>
              </a:ext>
            </a:extLst>
          </p:cNvPr>
          <p:cNvSpPr>
            <a:spLocks noGrp="1"/>
          </p:cNvSpPr>
          <p:nvPr>
            <p:ph type="title"/>
          </p:nvPr>
        </p:nvSpPr>
        <p:spPr/>
        <p:txBody>
          <a:bodyPr/>
          <a:lstStyle/>
          <a:p>
            <a:r>
              <a:rPr lang="en-US" dirty="0"/>
              <a:t>Example</a:t>
            </a:r>
            <a:endParaRPr lang="en-PK" dirty="0"/>
          </a:p>
        </p:txBody>
      </p:sp>
      <p:sp>
        <p:nvSpPr>
          <p:cNvPr id="3" name="Content Placeholder 2">
            <a:extLst>
              <a:ext uri="{FF2B5EF4-FFF2-40B4-BE49-F238E27FC236}">
                <a16:creationId xmlns:a16="http://schemas.microsoft.com/office/drawing/2014/main" id="{44F12EE8-2C00-5592-3C45-0A26EBACFFC2}"/>
              </a:ext>
            </a:extLst>
          </p:cNvPr>
          <p:cNvSpPr>
            <a:spLocks noGrp="1"/>
          </p:cNvSpPr>
          <p:nvPr>
            <p:ph idx="1"/>
          </p:nvPr>
        </p:nvSpPr>
        <p:spPr/>
        <p:txBody>
          <a:bodyPr/>
          <a:lstStyle/>
          <a:p>
            <a:r>
              <a:rPr lang="en-US" dirty="0"/>
              <a:t>See Example: Context API (styles)</a:t>
            </a:r>
            <a:endParaRPr lang="en-PK" dirty="0"/>
          </a:p>
        </p:txBody>
      </p:sp>
    </p:spTree>
    <p:extLst>
      <p:ext uri="{BB962C8B-B14F-4D97-AF65-F5344CB8AC3E}">
        <p14:creationId xmlns:p14="http://schemas.microsoft.com/office/powerpoint/2010/main" val="366246737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2420</TotalTime>
  <Words>1009</Words>
  <Application>Microsoft Office PowerPoint</Application>
  <PresentationFormat>Widescreen</PresentationFormat>
  <Paragraphs>91</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Garamond</vt:lpstr>
      <vt:lpstr>Organic</vt:lpstr>
      <vt:lpstr>Advanced Client-Side Development</vt:lpstr>
      <vt:lpstr>Recap:</vt:lpstr>
      <vt:lpstr>React Component Lifecycle</vt:lpstr>
      <vt:lpstr>Mounting Phase:</vt:lpstr>
      <vt:lpstr>Mounting Phase 01: Constructor</vt:lpstr>
      <vt:lpstr>Mounting Phase 02: getDerivedStateFromProps</vt:lpstr>
      <vt:lpstr>Mounting Phase 03: render</vt:lpstr>
      <vt:lpstr>Mounting Phase 04: componentDidMount</vt:lpstr>
      <vt:lpstr>Design Note:</vt:lpstr>
      <vt:lpstr>Mounting Phase - Example</vt:lpstr>
      <vt:lpstr>Updating Phase</vt:lpstr>
      <vt:lpstr>Updating Phase - Example</vt:lpstr>
      <vt:lpstr>Unmounting Phase</vt:lpstr>
      <vt:lpstr>Unmounting Phase - Example</vt:lpstr>
      <vt:lpstr>React Forms and Controlled Components</vt:lpstr>
      <vt:lpstr>Uncontrolled Components</vt:lpstr>
      <vt:lpstr>Recommendation:</vt:lpstr>
      <vt:lpstr>React Router</vt:lpstr>
      <vt:lpstr>Example</vt:lpstr>
      <vt:lpstr>Context API (Manage State)</vt:lpstr>
      <vt:lpstr>Context API (Benefits)</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Client-Side Development</dc:title>
  <dc:creator>Ebad Majeed</dc:creator>
  <cp:lastModifiedBy>Ebad Majeed</cp:lastModifiedBy>
  <cp:revision>5</cp:revision>
  <dcterms:created xsi:type="dcterms:W3CDTF">2023-11-26T15:47:01Z</dcterms:created>
  <dcterms:modified xsi:type="dcterms:W3CDTF">2023-11-28T08:07:36Z</dcterms:modified>
</cp:coreProperties>
</file>