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6" r:id="rId17"/>
    <p:sldId id="272" r:id="rId18"/>
    <p:sldId id="278" r:id="rId19"/>
    <p:sldId id="279" r:id="rId20"/>
    <p:sldId id="280" r:id="rId21"/>
    <p:sldId id="277" r:id="rId22"/>
    <p:sldId id="281" r:id="rId23"/>
    <p:sldId id="282" r:id="rId24"/>
    <p:sldId id="275" r:id="rId25"/>
    <p:sldId id="283" r:id="rId26"/>
    <p:sldId id="284" r:id="rId27"/>
    <p:sldId id="285" r:id="rId28"/>
    <p:sldId id="286" r:id="rId29"/>
    <p:sldId id="288" r:id="rId30"/>
    <p:sldId id="287" r:id="rId31"/>
    <p:sldId id="289" r:id="rId32"/>
    <p:sldId id="290" r:id="rId33"/>
    <p:sldId id="291" r:id="rId34"/>
    <p:sldId id="292" r:id="rId35"/>
    <p:sldId id="293" r:id="rId36"/>
    <p:sldId id="294" r:id="rId37"/>
    <p:sldId id="295" r:id="rId38"/>
    <p:sldId id="296" r:id="rId39"/>
    <p:sldId id="297" r:id="rId40"/>
    <p:sldId id="298" r:id="rId41"/>
    <p:sldId id="299" r:id="rId42"/>
    <p:sldId id="300" r:id="rId4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3" autoAdjust="0"/>
    <p:restoredTop sz="94434" autoAdjust="0"/>
  </p:normalViewPr>
  <p:slideViewPr>
    <p:cSldViewPr snapToGrid="0">
      <p:cViewPr varScale="1">
        <p:scale>
          <a:sx n="81" d="100"/>
          <a:sy n="81" d="100"/>
        </p:scale>
        <p:origin x="754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viewProps" Target="view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7C052DF-701D-4006-9119-D8D2262703CC}" type="datetimeFigureOut">
              <a:rPr lang="en-US" smtClean="0"/>
              <a:t>11/7/2023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FB0B0C-A843-4CB9-961C-71CF916FF2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293606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JSX:</a:t>
            </a:r>
            <a:r>
              <a:rPr lang="en-US" baseline="0" dirty="0"/>
              <a:t> 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JavaScript XML.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JSX allows us to write HTML in React.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JSX makes it easier to write and add HTML in React.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6FB0B0C-A843-4CB9-961C-71CF916FF2FA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440398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6934" y="0"/>
            <a:ext cx="12231160" cy="6856214"/>
            <a:chOff x="-16934" y="0"/>
            <a:chExt cx="12231160" cy="6856214"/>
          </a:xfrm>
        </p:grpSpPr>
        <p:pic>
          <p:nvPicPr>
            <p:cNvPr id="16" name="Picture 15" descr="HD-PanelTitleR1.png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26" name="Rectangle 25"/>
            <p:cNvSpPr/>
            <p:nvPr/>
          </p:nvSpPr>
          <p:spPr>
            <a:xfrm>
              <a:off x="2328332" y="1540931"/>
              <a:ext cx="7543802" cy="3835401"/>
            </a:xfrm>
            <a:prstGeom prst="rect">
              <a:avLst/>
            </a:prstGeom>
            <a:noFill/>
            <a:ln w="15875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7" name="Picture 16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6934" y="3147609"/>
              <a:ext cx="2478024" cy="612648"/>
            </a:xfrm>
            <a:prstGeom prst="rect">
              <a:avLst/>
            </a:prstGeom>
          </p:spPr>
        </p:pic>
        <p:pic>
          <p:nvPicPr>
            <p:cNvPr id="20" name="Picture 19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9736202" y="3147609"/>
              <a:ext cx="2478024" cy="612648"/>
            </a:xfrm>
            <a:prstGeom prst="rect">
              <a:avLst/>
            </a:prstGeom>
          </p:spPr>
        </p:pic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692398" y="1871131"/>
            <a:ext cx="6815669" cy="1515533"/>
          </a:xfrm>
        </p:spPr>
        <p:txBody>
          <a:bodyPr anchor="b">
            <a:noAutofit/>
          </a:bodyPr>
          <a:lstStyle>
            <a:lvl1pPr algn="ctr">
              <a:defRPr sz="54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2398" y="3657597"/>
            <a:ext cx="6815669" cy="1320802"/>
          </a:xfrm>
        </p:spPr>
        <p:txBody>
          <a:bodyPr anchor="t">
            <a:normAutofit/>
          </a:bodyPr>
          <a:lstStyle>
            <a:lvl1pPr marL="0" indent="0" algn="ctr">
              <a:buNone/>
              <a:defRPr sz="21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983232" y="5037663"/>
            <a:ext cx="897467" cy="279400"/>
          </a:xfrm>
        </p:spPr>
        <p:txBody>
          <a:bodyPr/>
          <a:lstStyle/>
          <a:p>
            <a:fld id="{B61BEF0D-F0BB-DE4B-95CE-6DB70DBA9567}" type="datetimeFigureOut">
              <a:rPr lang="en-US" dirty="0"/>
              <a:pPr/>
              <a:t>11/7/2023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692397" y="5037663"/>
            <a:ext cx="5214635" cy="2794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956900" y="5037663"/>
            <a:ext cx="551167" cy="279400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2692399" y="3522131"/>
            <a:ext cx="681566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647F38-B617-4D2F-AE0A-013F0C4D2C57}" type="datetimeFigureOut">
              <a:rPr lang="en-US" dirty="0"/>
              <a:t>11/7/2023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7799C9-84D9-46D2-A11E-BCF8A720529D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15069" y="1752606"/>
            <a:ext cx="8158688" cy="1822514"/>
          </a:xfrm>
        </p:spPr>
        <p:txBody>
          <a:bodyPr anchor="b">
            <a:normAutofit/>
          </a:bodyPr>
          <a:lstStyle>
            <a:lvl1pPr algn="ctr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15067" y="3846051"/>
            <a:ext cx="8158690" cy="954547"/>
          </a:xfrm>
        </p:spPr>
        <p:txBody>
          <a:bodyPr anchor="t">
            <a:normAutofit/>
          </a:bodyPr>
          <a:lstStyle>
            <a:lvl1pPr marL="0" indent="0" algn="ctr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11/7/2023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6" name="Straight Connector 15"/>
          <p:cNvCxnSpPr/>
          <p:nvPr/>
        </p:nvCxnSpPr>
        <p:spPr>
          <a:xfrm>
            <a:off x="2012723" y="3710585"/>
            <a:ext cx="8163380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98448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1344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BFA754-D5C3-4E66-96A6-867B257F58DC}" type="datetimeFigureOut">
              <a:rPr lang="en-US" dirty="0"/>
              <a:t>11/7/2023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84065D-F351-4B03-BD91-D8A6B8D4B362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spcBef>
                <a:spcPts val="672"/>
              </a:spcBef>
              <a:spcAft>
                <a:spcPts val="600"/>
              </a:spcAft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95400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80670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spcBef>
                <a:spcPts val="672"/>
              </a:spcBef>
              <a:spcAft>
                <a:spcPts val="600"/>
              </a:spcAft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80670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11/7/2023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8" name="Straight Connector 1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11/7/2023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11/7/2023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3811" y="1388534"/>
            <a:ext cx="3718455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18668" y="982131"/>
            <a:ext cx="5469466" cy="4893735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3811" y="3031065"/>
            <a:ext cx="3718455" cy="243840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11/7/2023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6" name="Straight Connector 15"/>
          <p:cNvCxnSpPr/>
          <p:nvPr/>
        </p:nvCxnSpPr>
        <p:spPr>
          <a:xfrm>
            <a:off x="1396169" y="2912533"/>
            <a:ext cx="35144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399" y="1883832"/>
            <a:ext cx="6241816" cy="1371600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094831" y="1041400"/>
            <a:ext cx="3063347" cy="4775200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399" y="3255432"/>
            <a:ext cx="6241816" cy="1828800"/>
          </a:xfrm>
        </p:spPr>
        <p:txBody>
          <a:bodyPr anchor="t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11/7/2023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4815415"/>
            <a:ext cx="9609666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041427" y="1041399"/>
            <a:ext cx="10105972" cy="3335869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401" y="5382153"/>
            <a:ext cx="9609666" cy="493712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11/7/2023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03868" y="982132"/>
            <a:ext cx="9592732" cy="2954868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03868" y="4343399"/>
            <a:ext cx="9592732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11/7/2023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370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674812" y="3352800"/>
            <a:ext cx="8839202" cy="584200"/>
          </a:xfrm>
        </p:spPr>
        <p:txBody>
          <a:bodyPr anchor="ctr">
            <a:normAutofit/>
          </a:bodyPr>
          <a:lstStyle>
            <a:lvl1pPr marL="0" indent="0" algn="r">
              <a:buFontTx/>
              <a:buNone/>
              <a:defRPr sz="20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343399"/>
            <a:ext cx="9609666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11/7/2023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14" name="TextBox 13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0267" y="282787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2" y="3308581"/>
            <a:ext cx="9609668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777381"/>
            <a:ext cx="9609668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11/7/2023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243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9312"/>
            <a:ext cx="9609668" cy="88696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529667"/>
            <a:ext cx="9609668" cy="13462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11/7/2023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12" name="TextBox 11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267" y="25992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26" name="Straight Connector 25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982132"/>
            <a:ext cx="9609666" cy="2243668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0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0168"/>
            <a:ext cx="9609668" cy="84124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4470399"/>
            <a:ext cx="9609670" cy="1405467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11/7/2023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11/7/2023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99356" y="982131"/>
            <a:ext cx="1890895" cy="489373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95398" y="982132"/>
            <a:ext cx="7433025" cy="4893734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11/7/2023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4" name="Straight Connector 13"/>
          <p:cNvCxnSpPr/>
          <p:nvPr/>
        </p:nvCxnSpPr>
        <p:spPr>
          <a:xfrm>
            <a:off x="8863890" y="990600"/>
            <a:ext cx="0" cy="487680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3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5736" y="0"/>
            <a:ext cx="12229962" cy="6856214"/>
            <a:chOff x="-15736" y="0"/>
            <a:chExt cx="12229962" cy="6856214"/>
          </a:xfrm>
        </p:grpSpPr>
        <p:pic>
          <p:nvPicPr>
            <p:cNvPr id="8" name="Picture 7" descr="HD-PanelContent.png"/>
            <p:cNvPicPr>
              <a:picLocks noChangeAspect="1"/>
            </p:cNvPicPr>
            <p:nvPr/>
          </p:nvPicPr>
          <p:blipFill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9" name="Rectangle 8"/>
            <p:cNvSpPr/>
            <p:nvPr/>
          </p:nvSpPr>
          <p:spPr>
            <a:xfrm>
              <a:off x="608012" y="609600"/>
              <a:ext cx="10972800" cy="5638800"/>
            </a:xfrm>
            <a:prstGeom prst="rect">
              <a:avLst/>
            </a:prstGeom>
            <a:noFill/>
            <a:ln w="15875" cap="flat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0" name="Picture 9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5736" y="3153832"/>
              <a:ext cx="777240" cy="606425"/>
            </a:xfrm>
            <a:prstGeom prst="rect">
              <a:avLst/>
            </a:prstGeom>
          </p:spPr>
        </p:pic>
        <p:pic>
          <p:nvPicPr>
            <p:cNvPr id="11" name="Picture 10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11436986" y="3153832"/>
              <a:ext cx="777240" cy="606425"/>
            </a:xfrm>
            <a:prstGeom prst="rect">
              <a:avLst/>
            </a:prstGeom>
          </p:spPr>
        </p:pic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95402" y="982132"/>
            <a:ext cx="9601196" cy="13038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2556932"/>
            <a:ext cx="9601196" cy="331893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677501" y="5969000"/>
            <a:ext cx="16002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B61BEF0D-F0BB-DE4B-95CE-6DB70DBA9567}" type="datetimeFigureOut">
              <a:rPr lang="en-US" dirty="0"/>
              <a:pPr/>
              <a:t>11/7/2023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295401" y="5969000"/>
            <a:ext cx="73059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53901" y="5969000"/>
            <a:ext cx="542697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8" r:id="rId2"/>
    <p:sldLayoutId id="2147483651" r:id="rId3"/>
    <p:sldLayoutId id="2147483669" r:id="rId4"/>
    <p:sldLayoutId id="2147483653" r:id="rId5"/>
    <p:sldLayoutId id="2147483654" r:id="rId6"/>
    <p:sldLayoutId id="2147483655" r:id="rId7"/>
    <p:sldLayoutId id="2147483656" r:id="rId8"/>
    <p:sldLayoutId id="2147483660" r:id="rId9"/>
    <p:sldLayoutId id="2147483657" r:id="rId10"/>
    <p:sldLayoutId id="2147483663" r:id="rId11"/>
    <p:sldLayoutId id="2147483664" r:id="rId12"/>
    <p:sldLayoutId id="2147483665" r:id="rId13"/>
    <p:sldLayoutId id="2147483666" r:id="rId14"/>
    <p:sldLayoutId id="2147483667" r:id="rId15"/>
    <p:sldLayoutId id="2147483658" r:id="rId16"/>
    <p:sldLayoutId id="2147483659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 cap="none">
          <a:ln w="3175" cmpd="sng">
            <a:noFill/>
          </a:ln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0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8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6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Web Programming	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React</a:t>
            </a:r>
          </a:p>
          <a:p>
            <a:r>
              <a:rPr lang="en-US" dirty="0"/>
              <a:t>An Overview, Hello World, components, props, states</a:t>
            </a:r>
          </a:p>
        </p:txBody>
      </p:sp>
    </p:spTree>
    <p:extLst>
      <p:ext uri="{BB962C8B-B14F-4D97-AF65-F5344CB8AC3E}">
        <p14:creationId xmlns:p14="http://schemas.microsoft.com/office/powerpoint/2010/main" val="360106708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algn="just"/>
            <a:r>
              <a:rPr lang="en-US" dirty="0"/>
              <a:t>React was initially developed by Facebook, also used in </a:t>
            </a:r>
            <a:r>
              <a:rPr lang="en-US" dirty="0" err="1"/>
              <a:t>whatsapp</a:t>
            </a:r>
            <a:r>
              <a:rPr lang="en-US" dirty="0"/>
              <a:t> and </a:t>
            </a:r>
            <a:r>
              <a:rPr lang="en-US" dirty="0" err="1"/>
              <a:t>instagram</a:t>
            </a:r>
            <a:r>
              <a:rPr lang="en-US" dirty="0"/>
              <a:t>.</a:t>
            </a:r>
          </a:p>
          <a:p>
            <a:pPr algn="just"/>
            <a:r>
              <a:rPr lang="en-US" dirty="0"/>
              <a:t>It was created by Jordan </a:t>
            </a:r>
            <a:r>
              <a:rPr lang="en-US" dirty="0" err="1"/>
              <a:t>Walke</a:t>
            </a:r>
            <a:endParaRPr lang="en-US" dirty="0"/>
          </a:p>
          <a:p>
            <a:pPr lvl="1" algn="just"/>
            <a:r>
              <a:rPr lang="en-US" dirty="0"/>
              <a:t>Software Engineer, Facebook  </a:t>
            </a:r>
          </a:p>
          <a:p>
            <a:pPr algn="just"/>
            <a:r>
              <a:rPr lang="en-US" dirty="0" err="1"/>
              <a:t>ReactJS</a:t>
            </a:r>
            <a:r>
              <a:rPr lang="en-US" dirty="0"/>
              <a:t> was used by Facebook in its newsfeed section (in 2011), but it was released publically in the month of May 2013.</a:t>
            </a:r>
          </a:p>
          <a:p>
            <a:pPr algn="just"/>
            <a:r>
              <a:rPr lang="en-US" dirty="0"/>
              <a:t>Today, most of the websites are built using MVC (model view controller) architecture. </a:t>
            </a:r>
          </a:p>
          <a:p>
            <a:pPr algn="just"/>
            <a:r>
              <a:rPr lang="en-US" dirty="0"/>
              <a:t>In MVC architecture, React is the 'V' which stands for view.</a:t>
            </a:r>
          </a:p>
        </p:txBody>
      </p:sp>
    </p:spTree>
    <p:extLst>
      <p:ext uri="{BB962C8B-B14F-4D97-AF65-F5344CB8AC3E}">
        <p14:creationId xmlns:p14="http://schemas.microsoft.com/office/powerpoint/2010/main" val="369953780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Prerequisites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dirty="0"/>
              <a:t>HTML and CSS</a:t>
            </a:r>
          </a:p>
          <a:p>
            <a:pPr algn="just"/>
            <a:r>
              <a:rPr lang="en-US" dirty="0"/>
              <a:t>JavaScript</a:t>
            </a:r>
          </a:p>
          <a:p>
            <a:pPr lvl="1" algn="just"/>
            <a:r>
              <a:rPr lang="en-US" dirty="0"/>
              <a:t>DOM</a:t>
            </a:r>
          </a:p>
          <a:p>
            <a:pPr algn="just"/>
            <a:r>
              <a:rPr lang="en-US" dirty="0"/>
              <a:t>Node.js and </a:t>
            </a:r>
            <a:r>
              <a:rPr lang="en-US" dirty="0" err="1"/>
              <a:t>npm</a:t>
            </a:r>
            <a:r>
              <a:rPr lang="en-US" dirty="0"/>
              <a:t> </a:t>
            </a:r>
          </a:p>
          <a:p>
            <a:pPr lvl="1" algn="just"/>
            <a:r>
              <a:rPr lang="en-US" dirty="0"/>
              <a:t>(installed globally)</a:t>
            </a:r>
          </a:p>
          <a:p>
            <a:pPr lvl="1" algn="just"/>
            <a:endParaRPr lang="en-US" dirty="0"/>
          </a:p>
          <a:p>
            <a:pPr lvl="1" algn="just"/>
            <a:endParaRPr lang="en-US" dirty="0"/>
          </a:p>
          <a:p>
            <a:pPr lvl="1" algn="just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7426541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Most important terms in React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US" dirty="0"/>
              <a:t>Components</a:t>
            </a:r>
          </a:p>
          <a:p>
            <a:pPr algn="just"/>
            <a:r>
              <a:rPr lang="en-US" dirty="0"/>
              <a:t>Props</a:t>
            </a:r>
          </a:p>
          <a:p>
            <a:pPr algn="just"/>
            <a:r>
              <a:rPr lang="en-US" dirty="0"/>
              <a:t>States</a:t>
            </a:r>
          </a:p>
          <a:p>
            <a:pPr algn="just"/>
            <a:r>
              <a:rPr lang="en-US" dirty="0"/>
              <a:t>Babel</a:t>
            </a:r>
          </a:p>
          <a:p>
            <a:pPr algn="just"/>
            <a:r>
              <a:rPr lang="en-US" dirty="0" err="1"/>
              <a:t>Webpack</a:t>
            </a:r>
            <a:endParaRPr lang="en-US" dirty="0"/>
          </a:p>
          <a:p>
            <a:pPr algn="just"/>
            <a:r>
              <a:rPr lang="en-US" dirty="0"/>
              <a:t>JSX</a:t>
            </a:r>
          </a:p>
        </p:txBody>
      </p:sp>
    </p:spTree>
    <p:extLst>
      <p:ext uri="{BB962C8B-B14F-4D97-AF65-F5344CB8AC3E}">
        <p14:creationId xmlns:p14="http://schemas.microsoft.com/office/powerpoint/2010/main" val="200362908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React?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dirty="0"/>
              <a:t>React is a JavaScript library - one of the most popular ones, with over 160,000 (Jan 2022) stars on GitHub.</a:t>
            </a:r>
          </a:p>
          <a:p>
            <a:pPr algn="just"/>
            <a:r>
              <a:rPr lang="en-US" dirty="0"/>
              <a:t>React is not a framework (unlike Angular).</a:t>
            </a:r>
          </a:p>
          <a:p>
            <a:pPr lvl="1" algn="just"/>
            <a:r>
              <a:rPr lang="en-US" dirty="0"/>
              <a:t>Often paired with </a:t>
            </a:r>
            <a:r>
              <a:rPr lang="en-US" dirty="0" err="1"/>
              <a:t>kibraries</a:t>
            </a:r>
            <a:r>
              <a:rPr lang="en-US" dirty="0"/>
              <a:t> like Redux for state management and build tools so line b/w library and framework blurs.</a:t>
            </a:r>
          </a:p>
          <a:p>
            <a:pPr algn="just"/>
            <a:r>
              <a:rPr lang="en-US" dirty="0"/>
              <a:t>React is an open-source project.</a:t>
            </a:r>
          </a:p>
          <a:p>
            <a:pPr algn="just"/>
            <a:r>
              <a:rPr lang="en-US" dirty="0"/>
              <a:t>Makes frontend flexible and easy.</a:t>
            </a:r>
          </a:p>
        </p:txBody>
      </p:sp>
    </p:spTree>
    <p:extLst>
      <p:ext uri="{BB962C8B-B14F-4D97-AF65-F5344CB8AC3E}">
        <p14:creationId xmlns:p14="http://schemas.microsoft.com/office/powerpoint/2010/main" val="249575151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Setup and Installation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dirty="0"/>
              <a:t>There are a few ways to set up React, and we’ll talk about two to get a good idea of how it works.</a:t>
            </a:r>
          </a:p>
          <a:p>
            <a:pPr lvl="1" algn="just"/>
            <a:r>
              <a:rPr lang="en-US" dirty="0"/>
              <a:t>Static HTML File</a:t>
            </a:r>
          </a:p>
          <a:p>
            <a:pPr lvl="1" algn="just"/>
            <a:r>
              <a:rPr lang="en-US" dirty="0"/>
              <a:t>Create React App</a:t>
            </a:r>
          </a:p>
        </p:txBody>
      </p:sp>
    </p:spTree>
    <p:extLst>
      <p:ext uri="{BB962C8B-B14F-4D97-AF65-F5344CB8AC3E}">
        <p14:creationId xmlns:p14="http://schemas.microsoft.com/office/powerpoint/2010/main" val="253025490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Static HTML File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US" dirty="0"/>
              <a:t>This method is </a:t>
            </a:r>
            <a:r>
              <a:rPr lang="en-US" dirty="0">
                <a:solidFill>
                  <a:srgbClr val="FF0000"/>
                </a:solidFill>
              </a:rPr>
              <a:t>not recommended</a:t>
            </a:r>
            <a:r>
              <a:rPr lang="en-US" dirty="0"/>
              <a:t> but familiar and easy to understand because we already used a library like </a:t>
            </a:r>
            <a:r>
              <a:rPr lang="en-US" dirty="0" err="1"/>
              <a:t>jQuery</a:t>
            </a:r>
            <a:r>
              <a:rPr lang="en-US" dirty="0"/>
              <a:t>, and because we are not familiar with </a:t>
            </a:r>
            <a:r>
              <a:rPr lang="en-US" dirty="0" err="1"/>
              <a:t>Webpack</a:t>
            </a:r>
            <a:r>
              <a:rPr lang="en-US" dirty="0"/>
              <a:t>, Babel, and Node.js.</a:t>
            </a:r>
          </a:p>
          <a:p>
            <a:pPr algn="just"/>
            <a:r>
              <a:rPr lang="en-US" dirty="0"/>
              <a:t>We will start by creating a simple HTML page</a:t>
            </a:r>
          </a:p>
        </p:txBody>
      </p:sp>
    </p:spTree>
    <p:extLst>
      <p:ext uri="{BB962C8B-B14F-4D97-AF65-F5344CB8AC3E}">
        <p14:creationId xmlns:p14="http://schemas.microsoft.com/office/powerpoint/2010/main" val="198228176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Basic HTML page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US" dirty="0"/>
              <a:t>We will load three CDNs in the head of our simple index html:</a:t>
            </a:r>
          </a:p>
          <a:p>
            <a:pPr lvl="1" algn="just"/>
            <a:r>
              <a:rPr lang="en-US" dirty="0"/>
              <a:t>React</a:t>
            </a:r>
          </a:p>
          <a:p>
            <a:pPr lvl="1" algn="just"/>
            <a:r>
              <a:rPr lang="en-US" dirty="0"/>
              <a:t>React DOM</a:t>
            </a:r>
          </a:p>
          <a:p>
            <a:pPr lvl="1" algn="just"/>
            <a:r>
              <a:rPr lang="en-US" dirty="0"/>
              <a:t>Babel (compiler, backward compatibility)</a:t>
            </a:r>
          </a:p>
          <a:p>
            <a:pPr algn="just"/>
            <a:r>
              <a:rPr lang="en-US" dirty="0"/>
              <a:t>We will also create some html elements:</a:t>
            </a:r>
          </a:p>
          <a:p>
            <a:pPr lvl="1" algn="just"/>
            <a:r>
              <a:rPr lang="en-US" dirty="0"/>
              <a:t>A div (with an id root)</a:t>
            </a:r>
          </a:p>
          <a:p>
            <a:pPr lvl="1" algn="just"/>
            <a:r>
              <a:rPr lang="en-US" dirty="0"/>
              <a:t>Script tag</a:t>
            </a:r>
          </a:p>
        </p:txBody>
      </p:sp>
    </p:spTree>
    <p:extLst>
      <p:ext uri="{BB962C8B-B14F-4D97-AF65-F5344CB8AC3E}">
        <p14:creationId xmlns:p14="http://schemas.microsoft.com/office/powerpoint/2010/main" val="218810978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Index.html (head)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0" indent="0" algn="just">
              <a:buNone/>
            </a:pPr>
            <a:r>
              <a:rPr lang="en-US" sz="1600" dirty="0"/>
              <a:t>&lt;!DOCTYPE html&gt;</a:t>
            </a:r>
          </a:p>
          <a:p>
            <a:pPr marL="0" indent="0" algn="just">
              <a:buNone/>
            </a:pPr>
            <a:r>
              <a:rPr lang="en-US" sz="1600" dirty="0"/>
              <a:t>&lt;html&gt;</a:t>
            </a:r>
          </a:p>
          <a:p>
            <a:pPr marL="0" indent="0" algn="just">
              <a:buNone/>
            </a:pPr>
            <a:r>
              <a:rPr lang="en-US" sz="1600" dirty="0"/>
              <a:t>  &lt;head&gt;</a:t>
            </a:r>
          </a:p>
          <a:p>
            <a:pPr marL="0" indent="0" algn="just">
              <a:buNone/>
            </a:pPr>
            <a:r>
              <a:rPr lang="en-US" sz="1600" dirty="0"/>
              <a:t>    &lt;meta charset="utf-8" /&gt;</a:t>
            </a:r>
          </a:p>
          <a:p>
            <a:pPr marL="0" indent="0" algn="just">
              <a:buNone/>
            </a:pPr>
            <a:r>
              <a:rPr lang="en-US" sz="1600" dirty="0"/>
              <a:t>    &lt;title&gt;Hello React!&lt;/title&gt;</a:t>
            </a:r>
          </a:p>
          <a:p>
            <a:pPr marL="0" indent="0" algn="just">
              <a:buNone/>
            </a:pPr>
            <a:r>
              <a:rPr lang="en-US" sz="1600" dirty="0"/>
              <a:t>    &lt;script </a:t>
            </a:r>
            <a:r>
              <a:rPr lang="en-US" sz="1600" dirty="0" err="1"/>
              <a:t>src</a:t>
            </a:r>
            <a:r>
              <a:rPr lang="en-US" sz="1600" dirty="0"/>
              <a:t>="https://unpkg.com/react@17/</a:t>
            </a:r>
            <a:r>
              <a:rPr lang="en-US" sz="1600" dirty="0" err="1"/>
              <a:t>umd</a:t>
            </a:r>
            <a:r>
              <a:rPr lang="en-US" sz="1600" dirty="0"/>
              <a:t>/react.production.min.js"&gt;&lt;/script&gt;</a:t>
            </a:r>
          </a:p>
          <a:p>
            <a:pPr marL="0" indent="0" algn="just">
              <a:buNone/>
            </a:pPr>
            <a:r>
              <a:rPr lang="en-US" sz="1600" dirty="0"/>
              <a:t>    &lt;script </a:t>
            </a:r>
            <a:r>
              <a:rPr lang="en-US" sz="1600" dirty="0" err="1"/>
              <a:t>src</a:t>
            </a:r>
            <a:r>
              <a:rPr lang="en-US" sz="1600" dirty="0"/>
              <a:t>="https://unpkg.com/react-dom@17/</a:t>
            </a:r>
            <a:r>
              <a:rPr lang="en-US" sz="1600" dirty="0" err="1"/>
              <a:t>umd</a:t>
            </a:r>
            <a:r>
              <a:rPr lang="en-US" sz="1600" dirty="0"/>
              <a:t>/react-dom.production.min.js"&gt;&lt;/script&gt;</a:t>
            </a:r>
          </a:p>
          <a:p>
            <a:pPr marL="0" indent="0" algn="just">
              <a:buNone/>
            </a:pPr>
            <a:r>
              <a:rPr lang="en-US" sz="1600" dirty="0"/>
              <a:t>    &lt;script </a:t>
            </a:r>
            <a:r>
              <a:rPr lang="en-US" sz="1600" dirty="0" err="1"/>
              <a:t>src</a:t>
            </a:r>
            <a:r>
              <a:rPr lang="en-US" sz="1600" dirty="0"/>
              <a:t>="https://unpkg.com/babel-standalone@6.26.0/babel.js"&gt;&lt;/script&gt;</a:t>
            </a:r>
          </a:p>
          <a:p>
            <a:pPr marL="0" indent="0" algn="just">
              <a:buNone/>
            </a:pPr>
            <a:r>
              <a:rPr lang="en-US" sz="1600" dirty="0"/>
              <a:t>  &lt;/head&gt;</a:t>
            </a:r>
          </a:p>
          <a:p>
            <a:pPr marL="0" indent="0" algn="just">
              <a:buNone/>
            </a:pPr>
            <a:r>
              <a:rPr lang="en-US" sz="1600" dirty="0"/>
              <a:t>  </a:t>
            </a:r>
          </a:p>
        </p:txBody>
      </p:sp>
    </p:spTree>
    <p:extLst>
      <p:ext uri="{BB962C8B-B14F-4D97-AF65-F5344CB8AC3E}">
        <p14:creationId xmlns:p14="http://schemas.microsoft.com/office/powerpoint/2010/main" val="346505011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Index.html (Body)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0" indent="0" algn="just">
              <a:buNone/>
            </a:pPr>
            <a:r>
              <a:rPr lang="en-US" dirty="0"/>
              <a:t>&lt;body&gt;</a:t>
            </a:r>
          </a:p>
          <a:p>
            <a:pPr marL="0" indent="0" algn="just">
              <a:buNone/>
            </a:pPr>
            <a:r>
              <a:rPr lang="en-US" dirty="0"/>
              <a:t>    &lt;div id="root"&gt;&lt;/div&gt;</a:t>
            </a:r>
          </a:p>
          <a:p>
            <a:pPr marL="0" indent="0" algn="just">
              <a:buNone/>
            </a:pPr>
            <a:r>
              <a:rPr lang="en-US" dirty="0"/>
              <a:t>    &lt;script type="text/babel"&gt;</a:t>
            </a:r>
          </a:p>
          <a:p>
            <a:pPr marL="0" indent="0" algn="just">
              <a:buNone/>
            </a:pPr>
            <a:r>
              <a:rPr lang="en-US" dirty="0"/>
              <a:t>      // React code</a:t>
            </a:r>
          </a:p>
          <a:p>
            <a:pPr marL="0" indent="0" algn="just">
              <a:buNone/>
            </a:pPr>
            <a:r>
              <a:rPr lang="en-US" dirty="0"/>
              <a:t>    &lt;/script&gt;</a:t>
            </a:r>
          </a:p>
          <a:p>
            <a:pPr marL="0" indent="0" algn="just">
              <a:buNone/>
            </a:pPr>
            <a:r>
              <a:rPr lang="en-US" dirty="0"/>
              <a:t>  &lt;/body&gt;</a:t>
            </a:r>
          </a:p>
          <a:p>
            <a:pPr marL="0" indent="0" algn="just">
              <a:buNone/>
            </a:pPr>
            <a:r>
              <a:rPr lang="en-US" dirty="0"/>
              <a:t>&lt;/html&gt;</a:t>
            </a:r>
          </a:p>
        </p:txBody>
      </p:sp>
    </p:spTree>
    <p:extLst>
      <p:ext uri="{BB962C8B-B14F-4D97-AF65-F5344CB8AC3E}">
        <p14:creationId xmlns:p14="http://schemas.microsoft.com/office/powerpoint/2010/main" val="17586801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Three CDNs in head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dirty="0"/>
              <a:t>React:</a:t>
            </a:r>
          </a:p>
          <a:p>
            <a:pPr lvl="1" algn="just"/>
            <a:r>
              <a:rPr lang="en-US" dirty="0"/>
              <a:t>the React top level API</a:t>
            </a:r>
          </a:p>
          <a:p>
            <a:pPr algn="just"/>
            <a:r>
              <a:rPr lang="en-US" dirty="0"/>
              <a:t>React DOM:</a:t>
            </a:r>
          </a:p>
          <a:p>
            <a:pPr lvl="1" algn="just"/>
            <a:r>
              <a:rPr lang="en-US" dirty="0"/>
              <a:t>adds DOM-specific methods</a:t>
            </a:r>
          </a:p>
          <a:p>
            <a:pPr algn="just"/>
            <a:r>
              <a:rPr lang="en-US" dirty="0"/>
              <a:t>Babel </a:t>
            </a:r>
          </a:p>
          <a:p>
            <a:pPr lvl="1" algn="just"/>
            <a:r>
              <a:rPr lang="en-US" dirty="0"/>
              <a:t>a JavaScript compiler that lets us use ES6+ (</a:t>
            </a:r>
            <a:r>
              <a:rPr lang="en-US" dirty="0" err="1"/>
              <a:t>ECMAScript</a:t>
            </a:r>
            <a:r>
              <a:rPr lang="en-US" dirty="0"/>
              <a:t>) in old browsers</a:t>
            </a:r>
          </a:p>
        </p:txBody>
      </p:sp>
    </p:spTree>
    <p:extLst>
      <p:ext uri="{BB962C8B-B14F-4D97-AF65-F5344CB8AC3E}">
        <p14:creationId xmlns:p14="http://schemas.microsoft.com/office/powerpoint/2010/main" val="166221302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Body in index.html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dirty="0"/>
              <a:t>The entry point for our app will be the root div element, which is named by convention. </a:t>
            </a:r>
          </a:p>
          <a:p>
            <a:pPr algn="just"/>
            <a:r>
              <a:rPr lang="en-US" dirty="0"/>
              <a:t>You'll also notice the text/babel script type, which is mandatory for using Babel.</a:t>
            </a:r>
          </a:p>
          <a:p>
            <a:pPr algn="just"/>
            <a:r>
              <a:rPr lang="en-US" dirty="0"/>
              <a:t>Now, let's write our first code block of React. We're going to use ES6 classes to create a React component called App.</a:t>
            </a:r>
          </a:p>
          <a:p>
            <a:pPr algn="just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7076003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App Class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just">
              <a:buNone/>
            </a:pPr>
            <a:r>
              <a:rPr lang="en-US" dirty="0"/>
              <a:t>class App extends </a:t>
            </a:r>
            <a:r>
              <a:rPr lang="en-US" dirty="0" err="1"/>
              <a:t>React.Component</a:t>
            </a:r>
            <a:r>
              <a:rPr lang="en-US" dirty="0"/>
              <a:t> {</a:t>
            </a:r>
          </a:p>
          <a:p>
            <a:pPr marL="0" indent="0" algn="just">
              <a:buNone/>
            </a:pPr>
            <a:r>
              <a:rPr lang="en-US" dirty="0"/>
              <a:t>  render() {</a:t>
            </a:r>
          </a:p>
          <a:p>
            <a:pPr marL="0" indent="0" algn="just">
              <a:buNone/>
            </a:pPr>
            <a:r>
              <a:rPr lang="en-US" dirty="0"/>
              <a:t>    return &lt;h1&gt;Hello world!&lt;/h1&gt;</a:t>
            </a:r>
          </a:p>
          <a:p>
            <a:pPr marL="0" indent="0" algn="just">
              <a:buNone/>
            </a:pPr>
            <a:r>
              <a:rPr lang="en-US" dirty="0"/>
              <a:t>  }</a:t>
            </a:r>
          </a:p>
          <a:p>
            <a:pPr marL="0" indent="0" algn="just">
              <a:buNone/>
            </a:pPr>
            <a:r>
              <a:rPr lang="en-US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00962589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Rendering the App class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dirty="0"/>
              <a:t>Finally, we're going to use the React DOM render() method to render the App class we created into the root div in our HTML.</a:t>
            </a:r>
          </a:p>
          <a:p>
            <a:pPr lvl="1" algn="just"/>
            <a:r>
              <a:rPr lang="en-US" dirty="0" err="1"/>
              <a:t>ReactDOM.render</a:t>
            </a:r>
            <a:r>
              <a:rPr lang="en-US" dirty="0"/>
              <a:t>(&lt;App /&gt;, </a:t>
            </a:r>
            <a:r>
              <a:rPr lang="en-US" dirty="0" err="1"/>
              <a:t>document.getElementById</a:t>
            </a:r>
            <a:r>
              <a:rPr lang="en-US" dirty="0"/>
              <a:t>('root'))</a:t>
            </a:r>
          </a:p>
        </p:txBody>
      </p:sp>
    </p:spTree>
    <p:extLst>
      <p:ext uri="{BB962C8B-B14F-4D97-AF65-F5344CB8AC3E}">
        <p14:creationId xmlns:p14="http://schemas.microsoft.com/office/powerpoint/2010/main" val="359047945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Create React App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dirty="0"/>
              <a:t>The method we previously just used of loading JavaScript libraries into a static HTML page and rendering the React and Babel on the fly is not very efficient, and is hard to maintain.</a:t>
            </a:r>
          </a:p>
          <a:p>
            <a:pPr algn="just"/>
            <a:r>
              <a:rPr lang="en-US" dirty="0"/>
              <a:t>Facebook has created </a:t>
            </a:r>
            <a:r>
              <a:rPr lang="en-US" b="1" dirty="0"/>
              <a:t>Create React App</a:t>
            </a:r>
            <a:r>
              <a:rPr lang="en-US" dirty="0"/>
              <a:t>, an environment that comes pre-configured with everything you need to build a React app.</a:t>
            </a:r>
          </a:p>
        </p:txBody>
      </p:sp>
    </p:spTree>
    <p:extLst>
      <p:ext uri="{BB962C8B-B14F-4D97-AF65-F5344CB8AC3E}">
        <p14:creationId xmlns:p14="http://schemas.microsoft.com/office/powerpoint/2010/main" val="185820336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Create React App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US" dirty="0"/>
              <a:t>We need to set up a React Environment on our computer.</a:t>
            </a:r>
          </a:p>
          <a:p>
            <a:pPr algn="just"/>
            <a:r>
              <a:rPr lang="en-US" dirty="0"/>
              <a:t>If we have </a:t>
            </a:r>
            <a:r>
              <a:rPr lang="en-US" dirty="0">
                <a:solidFill>
                  <a:srgbClr val="FF0000"/>
                </a:solidFill>
              </a:rPr>
              <a:t>NPM and Node.js installed</a:t>
            </a:r>
            <a:r>
              <a:rPr lang="en-US" dirty="0"/>
              <a:t>, we can create a React application by first installing the create-react-app.</a:t>
            </a:r>
          </a:p>
          <a:p>
            <a:pPr algn="just"/>
            <a:r>
              <a:rPr lang="en-US" dirty="0"/>
              <a:t>We will Install create-react-app by running this command in our terminal:</a:t>
            </a:r>
          </a:p>
          <a:p>
            <a:pPr lvl="1" algn="just"/>
            <a:r>
              <a:rPr lang="en-US" dirty="0" err="1"/>
              <a:t>npm</a:t>
            </a:r>
            <a:r>
              <a:rPr lang="en-US" dirty="0"/>
              <a:t> install -g create-react-app</a:t>
            </a:r>
          </a:p>
          <a:p>
            <a:pPr algn="just"/>
            <a:r>
              <a:rPr lang="en-US" dirty="0"/>
              <a:t>Now we are ready to create our react app</a:t>
            </a:r>
          </a:p>
        </p:txBody>
      </p:sp>
    </p:spTree>
    <p:extLst>
      <p:ext uri="{BB962C8B-B14F-4D97-AF65-F5344CB8AC3E}">
        <p14:creationId xmlns:p14="http://schemas.microsoft.com/office/powerpoint/2010/main" val="325073871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Create React App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US" dirty="0"/>
              <a:t>Create React App doesn’t handle backend logic or databases; it just creates a frontend build pipeline, so you can use it with any backend you want. Under the hood, it uses Babel and </a:t>
            </a:r>
            <a:r>
              <a:rPr lang="en-US" dirty="0" err="1"/>
              <a:t>webpack</a:t>
            </a:r>
            <a:r>
              <a:rPr lang="en-US" dirty="0"/>
              <a:t>.</a:t>
            </a:r>
          </a:p>
          <a:p>
            <a:pPr algn="just"/>
            <a:r>
              <a:rPr lang="en-US" dirty="0"/>
              <a:t>When you’re ready to deploy to production, running </a:t>
            </a:r>
            <a:r>
              <a:rPr lang="en-US" dirty="0" err="1"/>
              <a:t>npm</a:t>
            </a:r>
            <a:r>
              <a:rPr lang="en-US" dirty="0"/>
              <a:t> run build will create an optimized build of your app in the build folder. You can learn more about Create React App from its README and the User Guide.</a:t>
            </a:r>
          </a:p>
        </p:txBody>
      </p:sp>
    </p:spTree>
    <p:extLst>
      <p:ext uri="{BB962C8B-B14F-4D97-AF65-F5344CB8AC3E}">
        <p14:creationId xmlns:p14="http://schemas.microsoft.com/office/powerpoint/2010/main" val="73590300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Creating Application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We will write this command to create our application:</a:t>
            </a:r>
          </a:p>
          <a:p>
            <a:pPr lvl="1"/>
            <a:r>
              <a:rPr lang="en-US" dirty="0" err="1"/>
              <a:t>npx</a:t>
            </a:r>
            <a:r>
              <a:rPr lang="en-US" dirty="0"/>
              <a:t> create-react-app </a:t>
            </a:r>
            <a:r>
              <a:rPr lang="en-US" dirty="0" err="1"/>
              <a:t>ourapp</a:t>
            </a:r>
            <a:endParaRPr lang="en-US" dirty="0"/>
          </a:p>
          <a:p>
            <a:r>
              <a:rPr lang="en-US" dirty="0"/>
              <a:t>We will then write this command to move to our app directory</a:t>
            </a:r>
          </a:p>
          <a:p>
            <a:pPr lvl="1"/>
            <a:r>
              <a:rPr lang="en-US" dirty="0"/>
              <a:t>Cd </a:t>
            </a:r>
            <a:r>
              <a:rPr lang="en-US" dirty="0" err="1"/>
              <a:t>ourapp</a:t>
            </a:r>
            <a:endParaRPr lang="en-US" dirty="0"/>
          </a:p>
          <a:p>
            <a:r>
              <a:rPr lang="en-US" dirty="0"/>
              <a:t>Then we would execute the app using this command</a:t>
            </a:r>
          </a:p>
          <a:p>
            <a:pPr lvl="1"/>
            <a:r>
              <a:rPr lang="en-US" dirty="0" err="1"/>
              <a:t>Npm</a:t>
            </a:r>
            <a:r>
              <a:rPr lang="en-US" dirty="0"/>
              <a:t> start</a:t>
            </a:r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1408142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Examing</a:t>
            </a:r>
            <a:r>
              <a:rPr lang="en-US" dirty="0"/>
              <a:t> the files generated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dirty="0"/>
              <a:t>If we look into the project structure, you'll see a /public and /</a:t>
            </a:r>
            <a:r>
              <a:rPr lang="en-US" dirty="0" err="1"/>
              <a:t>src</a:t>
            </a:r>
            <a:r>
              <a:rPr lang="en-US" dirty="0"/>
              <a:t> directory, along with the regular </a:t>
            </a:r>
            <a:r>
              <a:rPr lang="en-US" dirty="0" err="1"/>
              <a:t>node_modules</a:t>
            </a:r>
            <a:r>
              <a:rPr lang="en-US" dirty="0"/>
              <a:t>, .</a:t>
            </a:r>
            <a:r>
              <a:rPr lang="en-US" dirty="0" err="1"/>
              <a:t>gitignore</a:t>
            </a:r>
            <a:r>
              <a:rPr lang="en-US" dirty="0"/>
              <a:t>, README.md, and </a:t>
            </a:r>
            <a:r>
              <a:rPr lang="en-US" dirty="0" err="1"/>
              <a:t>package.json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05504092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public and </a:t>
            </a:r>
            <a:r>
              <a:rPr lang="en-US" dirty="0" err="1"/>
              <a:t>src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algn="just"/>
            <a:r>
              <a:rPr lang="en-US" dirty="0"/>
              <a:t>In /public, our important file is index.html, which is very similar to the static index.html file we made earlier - just a root div. </a:t>
            </a:r>
          </a:p>
          <a:p>
            <a:pPr algn="just"/>
            <a:r>
              <a:rPr lang="en-US" dirty="0"/>
              <a:t>This time, no libraries or scripts are being loaded in. The /</a:t>
            </a:r>
            <a:r>
              <a:rPr lang="en-US" dirty="0" err="1"/>
              <a:t>src</a:t>
            </a:r>
            <a:r>
              <a:rPr lang="en-US" dirty="0"/>
              <a:t> directory will contain all our React code.</a:t>
            </a:r>
          </a:p>
          <a:p>
            <a:pPr algn="just"/>
            <a:r>
              <a:rPr lang="en-US" dirty="0"/>
              <a:t>To see how the environment automatically compiles and updates your React code, find the /</a:t>
            </a:r>
            <a:r>
              <a:rPr lang="en-US" dirty="0" err="1"/>
              <a:t>src</a:t>
            </a:r>
            <a:r>
              <a:rPr lang="en-US" dirty="0"/>
              <a:t>/App.js.</a:t>
            </a:r>
          </a:p>
          <a:p>
            <a:pPr algn="just"/>
            <a:r>
              <a:rPr lang="en-US" dirty="0"/>
              <a:t>And replace it with any other text. Once you save the file, you'll notice localhost:3000 compiles and refreshes with the new data.</a:t>
            </a:r>
          </a:p>
          <a:p>
            <a:pPr algn="just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028636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React works?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dirty="0"/>
              <a:t>React creates a VIRTUAL DOM in memory.</a:t>
            </a:r>
          </a:p>
          <a:p>
            <a:pPr lvl="1" algn="just"/>
            <a:r>
              <a:rPr lang="en-US" dirty="0"/>
              <a:t>Instead of manipulating the browser's DOM directly, React creates a virtual DOM in memory, where it does all the necessary manipulating, before making the changes in the browser DOM.</a:t>
            </a:r>
          </a:p>
          <a:p>
            <a:pPr algn="just"/>
            <a:r>
              <a:rPr lang="en-US" dirty="0"/>
              <a:t>React only changes what needs to be changed!</a:t>
            </a:r>
          </a:p>
          <a:p>
            <a:pPr lvl="1" algn="just"/>
            <a:r>
              <a:rPr lang="en-US" dirty="0"/>
              <a:t>React finds out what changes have been made, and changes only what needs to be changed.</a:t>
            </a:r>
          </a:p>
          <a:p>
            <a:pPr algn="just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3318594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React works?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dirty="0"/>
              <a:t>Now that we have understood its working we could delete all files in </a:t>
            </a:r>
            <a:r>
              <a:rPr lang="en-US" dirty="0" err="1"/>
              <a:t>src</a:t>
            </a:r>
            <a:r>
              <a:rPr lang="en-US" dirty="0"/>
              <a:t> folder except index.js and index.html</a:t>
            </a:r>
          </a:p>
          <a:p>
            <a:pPr algn="just"/>
            <a:r>
              <a:rPr lang="en-US" dirty="0"/>
              <a:t>If index.html is not in </a:t>
            </a:r>
            <a:r>
              <a:rPr lang="en-US" dirty="0" err="1"/>
              <a:t>src</a:t>
            </a:r>
            <a:r>
              <a:rPr lang="en-US" dirty="0"/>
              <a:t> folder we could find it in public folder.</a:t>
            </a:r>
          </a:p>
          <a:p>
            <a:pPr algn="just"/>
            <a:r>
              <a:rPr lang="en-US" dirty="0"/>
              <a:t>Once we have found both files we could open them in notepad++ or any other editor.</a:t>
            </a:r>
          </a:p>
          <a:p>
            <a:pPr algn="just"/>
            <a:r>
              <a:rPr lang="en-US" dirty="0"/>
              <a:t>We will remove all the existing data in those two files and update them with our own data.</a:t>
            </a:r>
          </a:p>
        </p:txBody>
      </p:sp>
    </p:spTree>
    <p:extLst>
      <p:ext uri="{BB962C8B-B14F-4D97-AF65-F5344CB8AC3E}">
        <p14:creationId xmlns:p14="http://schemas.microsoft.com/office/powerpoint/2010/main" val="240231913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 index.js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import React from 'react';</a:t>
            </a:r>
          </a:p>
          <a:p>
            <a:pPr marL="0" indent="0">
              <a:buNone/>
            </a:pPr>
            <a:r>
              <a:rPr lang="en-US" dirty="0"/>
              <a:t>import </a:t>
            </a:r>
            <a:r>
              <a:rPr lang="en-US" dirty="0" err="1"/>
              <a:t>ReactDOM</a:t>
            </a:r>
            <a:r>
              <a:rPr lang="en-US" dirty="0"/>
              <a:t> from 'react-</a:t>
            </a:r>
            <a:r>
              <a:rPr lang="en-US" dirty="0" err="1"/>
              <a:t>dom</a:t>
            </a:r>
            <a:r>
              <a:rPr lang="en-US" dirty="0"/>
              <a:t>';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 err="1"/>
              <a:t>const</a:t>
            </a:r>
            <a:r>
              <a:rPr lang="en-US" dirty="0"/>
              <a:t> </a:t>
            </a:r>
            <a:r>
              <a:rPr lang="en-US" dirty="0" err="1"/>
              <a:t>ourelement</a:t>
            </a:r>
            <a:r>
              <a:rPr lang="en-US"/>
              <a:t> = </a:t>
            </a:r>
            <a:r>
              <a:rPr lang="en-US" dirty="0"/>
              <a:t>&lt;h1&gt;Hello World!&lt;/h1&gt;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 err="1"/>
              <a:t>ReactDOM.render</a:t>
            </a:r>
            <a:r>
              <a:rPr lang="en-US" dirty="0"/>
              <a:t>(</a:t>
            </a:r>
            <a:r>
              <a:rPr lang="en-US" dirty="0" err="1"/>
              <a:t>ourelement</a:t>
            </a:r>
            <a:r>
              <a:rPr lang="en-US" dirty="0"/>
              <a:t>, </a:t>
            </a:r>
            <a:r>
              <a:rPr lang="en-US" dirty="0" err="1"/>
              <a:t>document.getElementById</a:t>
            </a:r>
            <a:r>
              <a:rPr lang="en-US" dirty="0"/>
              <a:t>('root'));</a:t>
            </a:r>
          </a:p>
        </p:txBody>
      </p:sp>
    </p:spTree>
    <p:extLst>
      <p:ext uri="{BB962C8B-B14F-4D97-AF65-F5344CB8AC3E}">
        <p14:creationId xmlns:p14="http://schemas.microsoft.com/office/powerpoint/2010/main" val="424372928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 index.html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55000" lnSpcReduction="20000"/>
          </a:bodyPr>
          <a:lstStyle/>
          <a:p>
            <a:pPr marL="0" indent="0">
              <a:buNone/>
            </a:pPr>
            <a:r>
              <a:rPr lang="en-US" dirty="0"/>
              <a:t>&lt;!DOCTYPE html&gt;</a:t>
            </a:r>
          </a:p>
          <a:p>
            <a:pPr marL="0" indent="0">
              <a:buNone/>
            </a:pPr>
            <a:r>
              <a:rPr lang="en-US" dirty="0"/>
              <a:t>&lt;html </a:t>
            </a:r>
            <a:r>
              <a:rPr lang="en-US" dirty="0" err="1"/>
              <a:t>lang</a:t>
            </a:r>
            <a:r>
              <a:rPr lang="en-US" dirty="0"/>
              <a:t>="en"&gt;</a:t>
            </a:r>
          </a:p>
          <a:p>
            <a:pPr marL="0" indent="0">
              <a:buNone/>
            </a:pPr>
            <a:r>
              <a:rPr lang="en-US" dirty="0"/>
              <a:t>  &lt;head&gt;</a:t>
            </a:r>
          </a:p>
          <a:p>
            <a:pPr marL="0" indent="0">
              <a:buNone/>
            </a:pPr>
            <a:r>
              <a:rPr lang="en-US" dirty="0"/>
              <a:t>    &lt;meta charset="utf-8" /&gt;</a:t>
            </a:r>
          </a:p>
          <a:p>
            <a:pPr marL="0" indent="0">
              <a:buNone/>
            </a:pPr>
            <a:r>
              <a:rPr lang="en-US" dirty="0"/>
              <a:t>    &lt;meta name="viewport" content="width=device-width, initial-scale=1" /&gt;</a:t>
            </a:r>
          </a:p>
          <a:p>
            <a:pPr marL="0" indent="0">
              <a:buNone/>
            </a:pPr>
            <a:r>
              <a:rPr lang="en-US" dirty="0"/>
              <a:t>    &lt;title&gt;React App&lt;/title&gt;</a:t>
            </a:r>
          </a:p>
          <a:p>
            <a:pPr marL="0" indent="0">
              <a:buNone/>
            </a:pPr>
            <a:r>
              <a:rPr lang="en-US" dirty="0"/>
              <a:t>  &lt;/head&gt;</a:t>
            </a:r>
          </a:p>
          <a:p>
            <a:pPr marL="0" indent="0">
              <a:buNone/>
            </a:pPr>
            <a:r>
              <a:rPr lang="en-US" dirty="0"/>
              <a:t>  &lt;body&gt;</a:t>
            </a:r>
          </a:p>
          <a:p>
            <a:pPr marL="0" indent="0">
              <a:buNone/>
            </a:pPr>
            <a:r>
              <a:rPr lang="en-US" dirty="0"/>
              <a:t>    &lt;div id="root"&gt;&lt;/div&gt;</a:t>
            </a:r>
          </a:p>
          <a:p>
            <a:pPr marL="0" indent="0">
              <a:buNone/>
            </a:pPr>
            <a:r>
              <a:rPr lang="en-US" dirty="0"/>
              <a:t>  &lt;/body&gt;</a:t>
            </a:r>
          </a:p>
          <a:p>
            <a:pPr marL="0" indent="0">
              <a:buNone/>
            </a:pPr>
            <a:r>
              <a:rPr lang="en-US" dirty="0"/>
              <a:t>&lt;/html&gt;</a:t>
            </a:r>
          </a:p>
        </p:txBody>
      </p:sp>
    </p:spTree>
    <p:extLst>
      <p:ext uri="{BB962C8B-B14F-4D97-AF65-F5344CB8AC3E}">
        <p14:creationId xmlns:p14="http://schemas.microsoft.com/office/powerpoint/2010/main" val="247424031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ES6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ES6 stands for </a:t>
            </a:r>
            <a:r>
              <a:rPr lang="en-US" dirty="0" err="1"/>
              <a:t>ECMAScript</a:t>
            </a:r>
            <a:r>
              <a:rPr lang="en-US" dirty="0"/>
              <a:t> 6, commonly known as </a:t>
            </a:r>
            <a:r>
              <a:rPr lang="en-US" dirty="0" err="1"/>
              <a:t>ECMAScript</a:t>
            </a:r>
            <a:r>
              <a:rPr lang="en-US" dirty="0"/>
              <a:t> 2015 is a JavaScript standard </a:t>
            </a:r>
          </a:p>
          <a:p>
            <a:r>
              <a:rPr lang="en-US" dirty="0"/>
              <a:t>We need to learn the basics of ES6 first because react uses it.</a:t>
            </a:r>
          </a:p>
          <a:p>
            <a:r>
              <a:rPr lang="en-US" dirty="0"/>
              <a:t>Things we need to learn first are:</a:t>
            </a:r>
          </a:p>
          <a:p>
            <a:pPr lvl="1"/>
            <a:r>
              <a:rPr lang="en-US" dirty="0"/>
              <a:t>Classes</a:t>
            </a:r>
          </a:p>
          <a:p>
            <a:pPr lvl="1"/>
            <a:r>
              <a:rPr lang="en-US" dirty="0"/>
              <a:t>Arrow Functions</a:t>
            </a:r>
          </a:p>
          <a:p>
            <a:pPr lvl="1"/>
            <a:r>
              <a:rPr lang="en-US" dirty="0"/>
              <a:t>Variables (let, </a:t>
            </a:r>
            <a:r>
              <a:rPr lang="en-US" dirty="0" err="1"/>
              <a:t>const</a:t>
            </a:r>
            <a:r>
              <a:rPr lang="en-US" dirty="0"/>
              <a:t>, </a:t>
            </a:r>
            <a:r>
              <a:rPr lang="en-US" dirty="0" err="1">
                <a:solidFill>
                  <a:srgbClr val="00B050"/>
                </a:solidFill>
              </a:rPr>
              <a:t>var</a:t>
            </a:r>
            <a:r>
              <a:rPr lang="en-US" dirty="0"/>
              <a:t>)</a:t>
            </a:r>
            <a:br>
              <a:rPr lang="en-US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4905494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ES6 Classes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Previously we studied functions with keyword function but didn’t study class in JS.</a:t>
            </a:r>
          </a:p>
          <a:p>
            <a:pPr marL="0" indent="0">
              <a:buNone/>
            </a:pPr>
            <a:r>
              <a:rPr lang="en-US" dirty="0"/>
              <a:t>class Person 	{  	constructor(name) 	{	this.name = name;  	}	</a:t>
            </a:r>
            <a:r>
              <a:rPr lang="en-US" dirty="0" err="1"/>
              <a:t>getName</a:t>
            </a:r>
            <a:r>
              <a:rPr lang="en-US" dirty="0"/>
              <a:t>() 	{	return 'Person: ' + this.name;	}	}	person = new Person("Ebad");	</a:t>
            </a:r>
            <a:r>
              <a:rPr lang="en-US" dirty="0" err="1"/>
              <a:t>document.write</a:t>
            </a:r>
            <a:r>
              <a:rPr lang="en-US" dirty="0"/>
              <a:t>(</a:t>
            </a:r>
            <a:r>
              <a:rPr lang="en-US" dirty="0" err="1"/>
              <a:t>person.getName</a:t>
            </a:r>
            <a:r>
              <a:rPr lang="en-US" dirty="0"/>
              <a:t>());</a:t>
            </a:r>
          </a:p>
        </p:txBody>
      </p:sp>
    </p:spTree>
    <p:extLst>
      <p:ext uri="{BB962C8B-B14F-4D97-AF65-F5344CB8AC3E}">
        <p14:creationId xmlns:p14="http://schemas.microsoft.com/office/powerpoint/2010/main" val="265292795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Inheritance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class Student extends Person 	{	constructor(name, type) 	{	super(name);	</a:t>
            </a:r>
            <a:r>
              <a:rPr lang="en-US" dirty="0" err="1"/>
              <a:t>this.type</a:t>
            </a:r>
            <a:r>
              <a:rPr lang="en-US" dirty="0"/>
              <a:t> = type;	}	show()	{	return </a:t>
            </a:r>
            <a:r>
              <a:rPr lang="en-US" dirty="0" err="1"/>
              <a:t>this.getName</a:t>
            </a:r>
            <a:r>
              <a:rPr lang="en-US" dirty="0"/>
              <a:t>() + ', is a ' + </a:t>
            </a:r>
            <a:r>
              <a:rPr lang="en-US" dirty="0" err="1"/>
              <a:t>this.type</a:t>
            </a:r>
            <a:r>
              <a:rPr lang="en-US" dirty="0"/>
              <a:t>;	}	}	student = new Student("Ebad", "university student");	</a:t>
            </a:r>
            <a:r>
              <a:rPr lang="en-US" dirty="0" err="1"/>
              <a:t>document.write</a:t>
            </a:r>
            <a:r>
              <a:rPr lang="en-US" dirty="0"/>
              <a:t>(</a:t>
            </a:r>
            <a:r>
              <a:rPr lang="en-US" dirty="0" err="1"/>
              <a:t>student.show</a:t>
            </a:r>
            <a:r>
              <a:rPr lang="en-US" dirty="0"/>
              <a:t>());</a:t>
            </a:r>
          </a:p>
        </p:txBody>
      </p:sp>
    </p:spTree>
    <p:extLst>
      <p:ext uri="{BB962C8B-B14F-4D97-AF65-F5344CB8AC3E}">
        <p14:creationId xmlns:p14="http://schemas.microsoft.com/office/powerpoint/2010/main" val="155474002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Arrow Functions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greetings = function() {</a:t>
            </a:r>
          </a:p>
          <a:p>
            <a:r>
              <a:rPr lang="en-US" dirty="0"/>
              <a:t>  return "Hello World!";</a:t>
            </a:r>
          </a:p>
          <a:p>
            <a:r>
              <a:rPr lang="en-US" dirty="0"/>
              <a:t>}</a:t>
            </a:r>
          </a:p>
          <a:p>
            <a:r>
              <a:rPr lang="en-US" dirty="0"/>
              <a:t>We can remove the function keyword</a:t>
            </a:r>
          </a:p>
          <a:p>
            <a:r>
              <a:rPr lang="en-US" dirty="0"/>
              <a:t>greetings = () =&gt; {</a:t>
            </a:r>
          </a:p>
          <a:p>
            <a:r>
              <a:rPr lang="en-US" dirty="0"/>
              <a:t>  return "Hello World!";</a:t>
            </a:r>
          </a:p>
          <a:p>
            <a:r>
              <a:rPr lang="en-US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85114754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Arrow Functions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We can further reduce it:</a:t>
            </a:r>
          </a:p>
          <a:p>
            <a:r>
              <a:rPr lang="en-US" dirty="0"/>
              <a:t>greetings = () =&gt; "Hello World!";</a:t>
            </a:r>
          </a:p>
          <a:p>
            <a:r>
              <a:rPr lang="en-US" dirty="0"/>
              <a:t>We could use parameters as well:</a:t>
            </a:r>
          </a:p>
          <a:p>
            <a:r>
              <a:rPr lang="en-US" dirty="0"/>
              <a:t>greetings = (</a:t>
            </a:r>
            <a:r>
              <a:rPr lang="en-US" dirty="0" err="1"/>
              <a:t>firstName</a:t>
            </a:r>
            <a:r>
              <a:rPr lang="en-US" dirty="0"/>
              <a:t>, </a:t>
            </a:r>
            <a:r>
              <a:rPr lang="en-US" dirty="0" err="1"/>
              <a:t>lastName</a:t>
            </a:r>
            <a:r>
              <a:rPr lang="en-US" dirty="0"/>
              <a:t>) =&gt; "Hello World! " + </a:t>
            </a:r>
            <a:r>
              <a:rPr lang="en-US" dirty="0" err="1"/>
              <a:t>firstName</a:t>
            </a:r>
            <a:r>
              <a:rPr lang="en-US" dirty="0"/>
              <a:t> + </a:t>
            </a:r>
            <a:r>
              <a:rPr lang="en-US" dirty="0" err="1"/>
              <a:t>lastName</a:t>
            </a:r>
            <a:r>
              <a:rPr lang="en-US" dirty="0"/>
              <a:t>;</a:t>
            </a:r>
          </a:p>
          <a:p>
            <a:r>
              <a:rPr lang="en-US" dirty="0" err="1"/>
              <a:t>document.getElementById</a:t>
            </a:r>
            <a:r>
              <a:rPr lang="en-US" dirty="0"/>
              <a:t>("para").</a:t>
            </a:r>
            <a:r>
              <a:rPr lang="en-US" dirty="0" err="1"/>
              <a:t>innerHTML</a:t>
            </a:r>
            <a:r>
              <a:rPr lang="en-US" dirty="0"/>
              <a:t> = greetings("Ebad", " " ,"Majeed");</a:t>
            </a:r>
          </a:p>
        </p:txBody>
      </p:sp>
    </p:spTree>
    <p:extLst>
      <p:ext uri="{BB962C8B-B14F-4D97-AF65-F5344CB8AC3E}">
        <p14:creationId xmlns:p14="http://schemas.microsoft.com/office/powerpoint/2010/main" val="263214019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Variables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US" dirty="0" err="1"/>
              <a:t>Var</a:t>
            </a:r>
            <a:r>
              <a:rPr lang="en-US" dirty="0"/>
              <a:t> name= “Ebad”;</a:t>
            </a:r>
          </a:p>
          <a:p>
            <a:pPr algn="just"/>
            <a:r>
              <a:rPr lang="en-US" dirty="0" err="1"/>
              <a:t>var</a:t>
            </a:r>
            <a:r>
              <a:rPr lang="en-US" dirty="0"/>
              <a:t> outside of a function, it belongs to the global scope.</a:t>
            </a:r>
          </a:p>
          <a:p>
            <a:pPr algn="just"/>
            <a:r>
              <a:rPr lang="en-US" dirty="0" err="1"/>
              <a:t>var</a:t>
            </a:r>
            <a:r>
              <a:rPr lang="en-US" dirty="0"/>
              <a:t> inside of a function, it belongs to that function.</a:t>
            </a:r>
          </a:p>
          <a:p>
            <a:pPr algn="just"/>
            <a:r>
              <a:rPr lang="en-US" dirty="0" err="1"/>
              <a:t>var</a:t>
            </a:r>
            <a:r>
              <a:rPr lang="en-US" dirty="0"/>
              <a:t> inside of a block: {}, i.e. a for loop, the variable is still available outside of that block.</a:t>
            </a:r>
          </a:p>
        </p:txBody>
      </p:sp>
    </p:spTree>
    <p:extLst>
      <p:ext uri="{BB962C8B-B14F-4D97-AF65-F5344CB8AC3E}">
        <p14:creationId xmlns:p14="http://schemas.microsoft.com/office/powerpoint/2010/main" val="2406230358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US" dirty="0"/>
              <a:t>Let x =5;</a:t>
            </a:r>
          </a:p>
          <a:p>
            <a:pPr algn="just"/>
            <a:r>
              <a:rPr lang="en-US" dirty="0"/>
              <a:t>let has a block scope: {}.</a:t>
            </a:r>
          </a:p>
          <a:p>
            <a:pPr algn="just"/>
            <a:r>
              <a:rPr lang="en-US" dirty="0"/>
              <a:t>let is the block scoped version of </a:t>
            </a:r>
            <a:r>
              <a:rPr lang="en-US" dirty="0" err="1"/>
              <a:t>var</a:t>
            </a:r>
            <a:r>
              <a:rPr lang="en-US" dirty="0"/>
              <a:t>, and is limited to the block (or expression) where it is defined.</a:t>
            </a:r>
          </a:p>
          <a:p>
            <a:pPr algn="just"/>
            <a:r>
              <a:rPr lang="en-US" dirty="0"/>
              <a:t>let inside of a block, i.e. a for loop, the variable is only available inside of that loop.</a:t>
            </a:r>
          </a:p>
        </p:txBody>
      </p:sp>
    </p:spTree>
    <p:extLst>
      <p:ext uri="{BB962C8B-B14F-4D97-AF65-F5344CB8AC3E}">
        <p14:creationId xmlns:p14="http://schemas.microsoft.com/office/powerpoint/2010/main" val="171957743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const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const</a:t>
            </a:r>
            <a:r>
              <a:rPr lang="en-US" dirty="0"/>
              <a:t> x =6.3;</a:t>
            </a:r>
          </a:p>
          <a:p>
            <a:r>
              <a:rPr lang="en-US" dirty="0" err="1"/>
              <a:t>const</a:t>
            </a:r>
            <a:r>
              <a:rPr lang="en-US" dirty="0"/>
              <a:t> is a variable that once it has been created, its value can never change.</a:t>
            </a:r>
          </a:p>
          <a:p>
            <a:r>
              <a:rPr lang="en-US" dirty="0" err="1"/>
              <a:t>const</a:t>
            </a:r>
            <a:r>
              <a:rPr lang="en-US" dirty="0"/>
              <a:t> has a block scope.</a:t>
            </a:r>
          </a:p>
        </p:txBody>
      </p:sp>
    </p:spTree>
    <p:extLst>
      <p:ext uri="{BB962C8B-B14F-4D97-AF65-F5344CB8AC3E}">
        <p14:creationId xmlns:p14="http://schemas.microsoft.com/office/powerpoint/2010/main" val="3844610605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Render function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 our index.js we could see that render function helps us bind en element to our DOM node: root.</a:t>
            </a:r>
          </a:p>
          <a:p>
            <a:r>
              <a:rPr lang="en-US" dirty="0"/>
              <a:t>It doesn’t always have to be a root and we could always change the element.</a:t>
            </a:r>
          </a:p>
        </p:txBody>
      </p:sp>
    </p:spTree>
    <p:extLst>
      <p:ext uri="{BB962C8B-B14F-4D97-AF65-F5344CB8AC3E}">
        <p14:creationId xmlns:p14="http://schemas.microsoft.com/office/powerpoint/2010/main" val="142208499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Expressions in JSX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With JSX you can write expressions inside curly braces { }.</a:t>
            </a:r>
          </a:p>
          <a:p>
            <a:r>
              <a:rPr lang="en-US" dirty="0"/>
              <a:t>The expression can be a React variable, or property, or any other valid JavaScript expression. JSX will execute the expression and return the result:</a:t>
            </a:r>
          </a:p>
          <a:p>
            <a:pPr lvl="1"/>
            <a:r>
              <a:rPr lang="en-US" dirty="0" err="1"/>
              <a:t>const</a:t>
            </a:r>
            <a:r>
              <a:rPr lang="en-US" dirty="0"/>
              <a:t> </a:t>
            </a:r>
            <a:r>
              <a:rPr lang="en-US" dirty="0" err="1"/>
              <a:t>myelement</a:t>
            </a:r>
            <a:r>
              <a:rPr lang="en-US" dirty="0"/>
              <a:t> = &lt;h1&gt;React is {5 + 5} times better with JSX&lt;/h1&gt;;</a:t>
            </a:r>
          </a:p>
          <a:p>
            <a:r>
              <a:rPr lang="en-US" dirty="0"/>
              <a:t>For lengthy elements we could use () parenthesis</a:t>
            </a:r>
          </a:p>
          <a:p>
            <a:r>
              <a:rPr lang="en-US" dirty="0"/>
              <a:t>For multiple html elements of same nature we could use a top level wrapper element like if there are two or three h1 elements, an outer div could be used.</a:t>
            </a:r>
          </a:p>
        </p:txBody>
      </p:sp>
    </p:spTree>
    <p:extLst>
      <p:ext uri="{BB962C8B-B14F-4D97-AF65-F5344CB8AC3E}">
        <p14:creationId xmlns:p14="http://schemas.microsoft.com/office/powerpoint/2010/main" val="3068497925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React Components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Components are like functions that return HTML elements. </a:t>
            </a:r>
          </a:p>
          <a:p>
            <a:r>
              <a:rPr lang="en-US" dirty="0"/>
              <a:t>Components are independent and reusable bits of code. They serve the same purpose as JavaScript functions, but work in isolation and return HTML via a render() function.</a:t>
            </a:r>
          </a:p>
          <a:p>
            <a:r>
              <a:rPr lang="en-US" dirty="0"/>
              <a:t>There are two types of it:</a:t>
            </a:r>
          </a:p>
          <a:p>
            <a:pPr lvl="1"/>
            <a:r>
              <a:rPr lang="en-US" dirty="0"/>
              <a:t>Class components</a:t>
            </a:r>
          </a:p>
          <a:p>
            <a:pPr lvl="1"/>
            <a:r>
              <a:rPr lang="en-US" dirty="0"/>
              <a:t>Function components</a:t>
            </a:r>
          </a:p>
        </p:txBody>
      </p:sp>
    </p:spTree>
    <p:extLst>
      <p:ext uri="{BB962C8B-B14F-4D97-AF65-F5344CB8AC3E}">
        <p14:creationId xmlns:p14="http://schemas.microsoft.com/office/powerpoint/2010/main" val="2754040773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Class Component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class Person extends </a:t>
            </a:r>
            <a:r>
              <a:rPr lang="en-US" dirty="0" err="1"/>
              <a:t>React.Component</a:t>
            </a:r>
            <a:r>
              <a:rPr lang="en-US" dirty="0"/>
              <a:t> {</a:t>
            </a:r>
          </a:p>
          <a:p>
            <a:r>
              <a:rPr lang="en-US" dirty="0"/>
              <a:t>  render() {</a:t>
            </a:r>
          </a:p>
          <a:p>
            <a:r>
              <a:rPr lang="en-US" dirty="0"/>
              <a:t>    return &lt;h2&gt;Hi, I am a Person!&lt;/h2&gt;;</a:t>
            </a:r>
          </a:p>
          <a:p>
            <a:r>
              <a:rPr lang="en-US" dirty="0"/>
              <a:t>  }</a:t>
            </a:r>
          </a:p>
          <a:p>
            <a:r>
              <a:rPr lang="en-US" dirty="0"/>
              <a:t>}</a:t>
            </a:r>
          </a:p>
          <a:p>
            <a:r>
              <a:rPr lang="en-US" dirty="0"/>
              <a:t>// </a:t>
            </a:r>
            <a:r>
              <a:rPr lang="en-US" dirty="0">
                <a:solidFill>
                  <a:srgbClr val="FF0000"/>
                </a:solidFill>
              </a:rPr>
              <a:t>component's name must start with an upper case letter.</a:t>
            </a:r>
          </a:p>
          <a:p>
            <a:r>
              <a:rPr lang="en-US" dirty="0" err="1"/>
              <a:t>ReactDOM.render</a:t>
            </a:r>
            <a:r>
              <a:rPr lang="en-US" dirty="0"/>
              <a:t>(</a:t>
            </a:r>
            <a:r>
              <a:rPr lang="en-US" dirty="0">
                <a:solidFill>
                  <a:srgbClr val="00B050"/>
                </a:solidFill>
              </a:rPr>
              <a:t>&lt;Person /&gt;</a:t>
            </a:r>
            <a:r>
              <a:rPr lang="en-US" dirty="0"/>
              <a:t>, </a:t>
            </a:r>
            <a:r>
              <a:rPr lang="en-US" dirty="0" err="1"/>
              <a:t>document.getElementById</a:t>
            </a:r>
            <a:r>
              <a:rPr lang="en-US" dirty="0"/>
              <a:t>('root'));</a:t>
            </a:r>
          </a:p>
        </p:txBody>
      </p:sp>
    </p:spTree>
    <p:extLst>
      <p:ext uri="{BB962C8B-B14F-4D97-AF65-F5344CB8AC3E}">
        <p14:creationId xmlns:p14="http://schemas.microsoft.com/office/powerpoint/2010/main" val="2029260676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Function Component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function Person() {</a:t>
            </a:r>
          </a:p>
          <a:p>
            <a:r>
              <a:rPr lang="en-US" dirty="0"/>
              <a:t>  return &lt;h2&gt;Hi, I am also a Person!&lt;/h2&gt;;</a:t>
            </a:r>
          </a:p>
          <a:p>
            <a:r>
              <a:rPr lang="en-US" dirty="0"/>
              <a:t>}</a:t>
            </a:r>
          </a:p>
          <a:p>
            <a:endParaRPr lang="en-US" dirty="0"/>
          </a:p>
          <a:p>
            <a:r>
              <a:rPr lang="en-US" dirty="0" err="1"/>
              <a:t>ReactDOM.render</a:t>
            </a:r>
            <a:r>
              <a:rPr lang="en-US" dirty="0"/>
              <a:t>(</a:t>
            </a:r>
            <a:r>
              <a:rPr lang="en-US" dirty="0">
                <a:solidFill>
                  <a:srgbClr val="00B050"/>
                </a:solidFill>
              </a:rPr>
              <a:t>&lt;Person /&gt;</a:t>
            </a:r>
            <a:r>
              <a:rPr lang="en-US" dirty="0"/>
              <a:t>, </a:t>
            </a:r>
            <a:r>
              <a:rPr lang="en-US" dirty="0" err="1"/>
              <a:t>document.getElementById</a:t>
            </a:r>
            <a:r>
              <a:rPr lang="en-US" dirty="0"/>
              <a:t>('root'));</a:t>
            </a:r>
          </a:p>
        </p:txBody>
      </p:sp>
    </p:spTree>
    <p:extLst>
      <p:ext uri="{BB962C8B-B14F-4D97-AF65-F5344CB8AC3E}">
        <p14:creationId xmlns:p14="http://schemas.microsoft.com/office/powerpoint/2010/main" val="1036422471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Component with a constructor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class Person extends </a:t>
            </a:r>
            <a:r>
              <a:rPr lang="en-US" dirty="0" err="1"/>
              <a:t>React.Component</a:t>
            </a:r>
            <a:r>
              <a:rPr lang="en-US" dirty="0"/>
              <a:t> {  constructor() {    super();    </a:t>
            </a:r>
            <a:r>
              <a:rPr lang="en-US" dirty="0" err="1"/>
              <a:t>this.skin</a:t>
            </a:r>
            <a:r>
              <a:rPr lang="en-US" dirty="0"/>
              <a:t> = {color: "brown"};  }  render() {    return &lt;h2&gt;I am a {</a:t>
            </a:r>
            <a:r>
              <a:rPr lang="en-US" dirty="0" err="1"/>
              <a:t>this.skin.color</a:t>
            </a:r>
            <a:r>
              <a:rPr lang="en-US" dirty="0"/>
              <a:t>} person!&lt;/h2&gt;;  }}</a:t>
            </a:r>
          </a:p>
        </p:txBody>
      </p:sp>
    </p:spTree>
    <p:extLst>
      <p:ext uri="{BB962C8B-B14F-4D97-AF65-F5344CB8AC3E}">
        <p14:creationId xmlns:p14="http://schemas.microsoft.com/office/powerpoint/2010/main" val="2900318540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Props in components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Props could be seen as XML element attributes</a:t>
            </a:r>
          </a:p>
          <a:p>
            <a:pPr marL="0" indent="0">
              <a:buNone/>
            </a:pPr>
            <a:r>
              <a:rPr lang="en-US" dirty="0"/>
              <a:t>class Person extends </a:t>
            </a:r>
            <a:r>
              <a:rPr lang="en-US" dirty="0" err="1"/>
              <a:t>React.Component</a:t>
            </a:r>
            <a:r>
              <a:rPr lang="en-US" dirty="0"/>
              <a:t> {    render() {    return &lt;h2&gt;I am a {</a:t>
            </a:r>
            <a:r>
              <a:rPr lang="en-US" dirty="0" err="1"/>
              <a:t>this.</a:t>
            </a:r>
            <a:r>
              <a:rPr lang="en-US" dirty="0" err="1">
                <a:solidFill>
                  <a:srgbClr val="00B050"/>
                </a:solidFill>
              </a:rPr>
              <a:t>props</a:t>
            </a:r>
            <a:r>
              <a:rPr lang="en-US" dirty="0" err="1"/>
              <a:t>.age</a:t>
            </a:r>
            <a:r>
              <a:rPr lang="en-US" dirty="0"/>
              <a:t>} years old person!&lt;/h2&gt;;  }}</a:t>
            </a:r>
            <a:r>
              <a:rPr lang="en-US" dirty="0" err="1"/>
              <a:t>ReactDOM.render</a:t>
            </a:r>
            <a:r>
              <a:rPr lang="en-US" dirty="0"/>
              <a:t>(</a:t>
            </a:r>
            <a:r>
              <a:rPr lang="en-US" dirty="0">
                <a:solidFill>
                  <a:srgbClr val="00B050"/>
                </a:solidFill>
              </a:rPr>
              <a:t>&lt;Person age="27" /&gt;</a:t>
            </a:r>
            <a:r>
              <a:rPr lang="en-US" dirty="0"/>
              <a:t>, </a:t>
            </a:r>
            <a:r>
              <a:rPr lang="en-US" dirty="0" err="1"/>
              <a:t>document.getElementById</a:t>
            </a:r>
            <a:r>
              <a:rPr lang="en-US" dirty="0"/>
              <a:t>('root'));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We could have components as element inside a render function of another component and we could use div as an outer html for both.</a:t>
            </a:r>
          </a:p>
        </p:txBody>
      </p:sp>
    </p:spTree>
    <p:extLst>
      <p:ext uri="{BB962C8B-B14F-4D97-AF65-F5344CB8AC3E}">
        <p14:creationId xmlns:p14="http://schemas.microsoft.com/office/powerpoint/2010/main" val="967380385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Export component in App.js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import React from 'react';</a:t>
            </a:r>
          </a:p>
          <a:p>
            <a:r>
              <a:rPr lang="en-US" dirty="0"/>
              <a:t>import </a:t>
            </a:r>
            <a:r>
              <a:rPr lang="en-US" dirty="0" err="1"/>
              <a:t>ReactDOM</a:t>
            </a:r>
            <a:r>
              <a:rPr lang="en-US" dirty="0"/>
              <a:t> from 'react-</a:t>
            </a:r>
            <a:r>
              <a:rPr lang="en-US" dirty="0" err="1"/>
              <a:t>dom</a:t>
            </a:r>
            <a:r>
              <a:rPr lang="en-US" dirty="0"/>
              <a:t>';</a:t>
            </a:r>
          </a:p>
          <a:p>
            <a:endParaRPr lang="en-US" dirty="0"/>
          </a:p>
          <a:p>
            <a:r>
              <a:rPr lang="en-US" dirty="0"/>
              <a:t>class Person extends </a:t>
            </a:r>
            <a:r>
              <a:rPr lang="en-US" dirty="0" err="1"/>
              <a:t>React.Component</a:t>
            </a:r>
            <a:r>
              <a:rPr lang="en-US" dirty="0"/>
              <a:t> {  constructor() {    super();    </a:t>
            </a:r>
            <a:r>
              <a:rPr lang="en-US" dirty="0" err="1"/>
              <a:t>this.skin</a:t>
            </a:r>
            <a:r>
              <a:rPr lang="en-US" dirty="0"/>
              <a:t> = {color: "brown"};  }  render() {    return &lt;h2&gt;I am a {</a:t>
            </a:r>
            <a:r>
              <a:rPr lang="en-US" dirty="0" err="1"/>
              <a:t>this.skin.color</a:t>
            </a:r>
            <a:r>
              <a:rPr lang="en-US" dirty="0"/>
              <a:t>} person!&lt;/h2&gt;;  }}</a:t>
            </a:r>
          </a:p>
          <a:p>
            <a:r>
              <a:rPr lang="en-US" dirty="0"/>
              <a:t>export default Person;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52985232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Import component in index.js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import React from 'react';</a:t>
            </a:r>
          </a:p>
          <a:p>
            <a:r>
              <a:rPr lang="en-US" dirty="0"/>
              <a:t>import </a:t>
            </a:r>
            <a:r>
              <a:rPr lang="en-US" dirty="0" err="1"/>
              <a:t>ReactDOM</a:t>
            </a:r>
            <a:r>
              <a:rPr lang="en-US" dirty="0"/>
              <a:t> from 'react-</a:t>
            </a:r>
            <a:r>
              <a:rPr lang="en-US" dirty="0" err="1"/>
              <a:t>dom</a:t>
            </a:r>
            <a:r>
              <a:rPr lang="en-US" dirty="0"/>
              <a:t>';</a:t>
            </a:r>
          </a:p>
          <a:p>
            <a:r>
              <a:rPr lang="en-US" dirty="0"/>
              <a:t>import Person from './App.js';</a:t>
            </a:r>
          </a:p>
          <a:p>
            <a:endParaRPr lang="en-US" dirty="0"/>
          </a:p>
          <a:p>
            <a:r>
              <a:rPr lang="en-US" dirty="0" err="1"/>
              <a:t>ReactDOM.render</a:t>
            </a:r>
            <a:r>
              <a:rPr lang="en-US" dirty="0"/>
              <a:t>(&lt;Person /&gt;, </a:t>
            </a:r>
            <a:r>
              <a:rPr lang="en-US" dirty="0" err="1"/>
              <a:t>document.getElementById</a:t>
            </a:r>
            <a:r>
              <a:rPr lang="en-US" dirty="0"/>
              <a:t>('root'));</a:t>
            </a:r>
          </a:p>
        </p:txBody>
      </p:sp>
    </p:spTree>
    <p:extLst>
      <p:ext uri="{BB962C8B-B14F-4D97-AF65-F5344CB8AC3E}">
        <p14:creationId xmlns:p14="http://schemas.microsoft.com/office/powerpoint/2010/main" val="1177018828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Props are arguments passed into React components.</a:t>
            </a:r>
          </a:p>
          <a:p>
            <a:r>
              <a:rPr lang="en-US" dirty="0"/>
              <a:t>Props are passed to components via HTML attributes.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74997248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rganic">
  <a:themeElements>
    <a:clrScheme name="Organic">
      <a:dk1>
        <a:sysClr val="windowText" lastClr="000000"/>
      </a:dk1>
      <a:lt1>
        <a:sysClr val="window" lastClr="FFFFFF"/>
      </a:lt1>
      <a:dk2>
        <a:srgbClr val="212121"/>
      </a:dk2>
      <a:lt2>
        <a:srgbClr val="DADADA"/>
      </a:lt2>
      <a:accent1>
        <a:srgbClr val="83992A"/>
      </a:accent1>
      <a:accent2>
        <a:srgbClr val="3C9770"/>
      </a:accent2>
      <a:accent3>
        <a:srgbClr val="44709D"/>
      </a:accent3>
      <a:accent4>
        <a:srgbClr val="A23C33"/>
      </a:accent4>
      <a:accent5>
        <a:srgbClr val="D97828"/>
      </a:accent5>
      <a:accent6>
        <a:srgbClr val="DEB340"/>
      </a:accent6>
      <a:hlink>
        <a:srgbClr val="A8BF4D"/>
      </a:hlink>
      <a:folHlink>
        <a:srgbClr val="B4CA80"/>
      </a:folHlink>
    </a:clrScheme>
    <a:fontScheme name="Organic">
      <a:majorFont>
        <a:latin typeface="Garamond" panose="02020404030301010803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aramond" panose="02020404030301010803"/>
        <a:ea typeface=""/>
        <a:cs typeface=""/>
        <a:font script="Jpan" typeface="ＭＳ Ｐ明朝"/>
        <a:font script="Hang" typeface="바탕"/>
        <a:font script="Hans" typeface="方正舒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rganic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blipFill>
          <a:blip xmlns:r="http://schemas.openxmlformats.org/officeDocument/2006/relationships" r:embed="rId1">
            <a:duotone>
              <a:schemeClr val="phClr">
                <a:shade val="74000"/>
                <a:satMod val="130000"/>
                <a:lumMod val="90000"/>
              </a:schemeClr>
              <a:schemeClr val="phClr">
                <a:tint val="94000"/>
                <a:satMod val="120000"/>
                <a:lumMod val="104000"/>
              </a:schemeClr>
            </a:duotone>
          </a:blip>
          <a:tile tx="0" ty="0" sx="100000" sy="100000" flip="none" algn="tl"/>
        </a:blip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38100" dist="254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88000"/>
                <a:lumMod val="98000"/>
              </a:schemeClr>
            </a:gs>
          </a:gsLst>
          <a:lin ang="5400000" scaled="0"/>
        </a:gradFill>
        <a:blipFill>
          <a:blip xmlns:r="http://schemas.openxmlformats.org/officeDocument/2006/relationships" r:embed="rId2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rganic" id="{28CDC826-8792-45C0-861B-85EB3ADEDA33}" vid="{7DAC20F1-423D-49E2-BD0B-50532748BAD0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Organic</Template>
  <TotalTime>1319</TotalTime>
  <Words>2302</Words>
  <Application>Microsoft Office PowerPoint</Application>
  <PresentationFormat>Widescreen</PresentationFormat>
  <Paragraphs>235</Paragraphs>
  <Slides>42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42</vt:i4>
      </vt:variant>
    </vt:vector>
  </HeadingPairs>
  <TitlesOfParts>
    <vt:vector size="46" baseType="lpstr">
      <vt:lpstr>Arial</vt:lpstr>
      <vt:lpstr>Calibri</vt:lpstr>
      <vt:lpstr>Garamond</vt:lpstr>
      <vt:lpstr>Organic</vt:lpstr>
      <vt:lpstr>Web Programming </vt:lpstr>
      <vt:lpstr>Introduction</vt:lpstr>
      <vt:lpstr>Prerequisites</vt:lpstr>
      <vt:lpstr>Most important terms in React</vt:lpstr>
      <vt:lpstr>What is React?</vt:lpstr>
      <vt:lpstr>Setup and Installation</vt:lpstr>
      <vt:lpstr>Static HTML File</vt:lpstr>
      <vt:lpstr>Basic HTML page</vt:lpstr>
      <vt:lpstr>Index.html (head)</vt:lpstr>
      <vt:lpstr>Index.html (Body)</vt:lpstr>
      <vt:lpstr>Three CDNs in head</vt:lpstr>
      <vt:lpstr>Body in index.html</vt:lpstr>
      <vt:lpstr>App Class</vt:lpstr>
      <vt:lpstr>Rendering the App class</vt:lpstr>
      <vt:lpstr>Create React App</vt:lpstr>
      <vt:lpstr>Create React App</vt:lpstr>
      <vt:lpstr>Create React App</vt:lpstr>
      <vt:lpstr>Creating Application</vt:lpstr>
      <vt:lpstr>Examing the files generated</vt:lpstr>
      <vt:lpstr>public and src</vt:lpstr>
      <vt:lpstr>How React works?</vt:lpstr>
      <vt:lpstr>How React works?</vt:lpstr>
      <vt:lpstr>In index.js</vt:lpstr>
      <vt:lpstr>In index.html</vt:lpstr>
      <vt:lpstr>ES6</vt:lpstr>
      <vt:lpstr>ES6 Classes</vt:lpstr>
      <vt:lpstr>Inheritance</vt:lpstr>
      <vt:lpstr>Arrow Functions</vt:lpstr>
      <vt:lpstr>Arrow Functions</vt:lpstr>
      <vt:lpstr>Variables</vt:lpstr>
      <vt:lpstr>let</vt:lpstr>
      <vt:lpstr>const</vt:lpstr>
      <vt:lpstr>Render function</vt:lpstr>
      <vt:lpstr>Expressions in JSX</vt:lpstr>
      <vt:lpstr>React Components</vt:lpstr>
      <vt:lpstr>Class Component</vt:lpstr>
      <vt:lpstr>Function Component</vt:lpstr>
      <vt:lpstr>Component with a constructor</vt:lpstr>
      <vt:lpstr>Props in components</vt:lpstr>
      <vt:lpstr>Export component in App.js</vt:lpstr>
      <vt:lpstr>Import component in index.js</vt:lpstr>
      <vt:lpstr>Props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Web Programming </dc:title>
  <dc:creator>Ebad Majeed</dc:creator>
  <cp:lastModifiedBy>Ebad Majeed</cp:lastModifiedBy>
  <cp:revision>101</cp:revision>
  <dcterms:created xsi:type="dcterms:W3CDTF">2020-12-30T16:55:38Z</dcterms:created>
  <dcterms:modified xsi:type="dcterms:W3CDTF">2023-11-07T07:04:21Z</dcterms:modified>
</cp:coreProperties>
</file>