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7" r:id="rId3"/>
    <p:sldId id="264" r:id="rId4"/>
    <p:sldId id="287" r:id="rId5"/>
    <p:sldId id="285" r:id="rId6"/>
    <p:sldId id="290" r:id="rId7"/>
    <p:sldId id="286" r:id="rId8"/>
    <p:sldId id="288" r:id="rId9"/>
    <p:sldId id="289" r:id="rId10"/>
    <p:sldId id="291" r:id="rId11"/>
    <p:sldId id="292" r:id="rId12"/>
    <p:sldId id="293" r:id="rId13"/>
    <p:sldId id="294" r:id="rId14"/>
    <p:sldId id="295" r:id="rId15"/>
    <p:sldId id="296" r:id="rId16"/>
    <p:sldId id="297" r:id="rId17"/>
    <p:sldId id="284" r:id="rId18"/>
    <p:sldId id="25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50000"/>
    <a:srgbClr val="585858"/>
    <a:srgbClr val="00662E"/>
    <a:srgbClr val="8A3F0C"/>
    <a:srgbClr val="0056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45" autoAdjust="0"/>
    <p:restoredTop sz="95016" autoAdjust="0"/>
  </p:normalViewPr>
  <p:slideViewPr>
    <p:cSldViewPr snapToGrid="0">
      <p:cViewPr varScale="1">
        <p:scale>
          <a:sx n="79" d="100"/>
          <a:sy n="79" d="100"/>
        </p:scale>
        <p:origin x="606" y="-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1" d="100"/>
          <a:sy n="51" d="100"/>
        </p:scale>
        <p:origin x="297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10FC3FE-3493-4424-80A5-1CFDBEBDE30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D2505B-B89A-45A6-851E-D753D13874E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932B93-D436-4096-A386-17A6D3979316}" type="datetimeFigureOut">
              <a:rPr lang="en-GB" smtClean="0"/>
              <a:t>12/12/2021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733C1A-F6AE-4B95-A532-F6C53128865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6CC68C-BAD5-40EB-8E63-161E1BE67EF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02D13-A3EA-4C21-8005-5BD1A0B7D0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6235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299A63-083A-44CA-A7B0-A545C791EEAF}" type="datetimeFigureOut">
              <a:rPr lang="en-GB" smtClean="0"/>
              <a:t>12/12/2021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630B72-BDAE-41F9-AC72-8B72912970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7801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0ADFC-CAA6-4B10-8DDE-5B87CFD2C6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2374"/>
            <a:ext cx="10118622" cy="626562"/>
          </a:xfr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FDC0E1-91B2-4E04-837F-041C879CD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991236"/>
            <a:ext cx="10118622" cy="626562"/>
          </a:xfrm>
        </p:spPr>
        <p:txBody>
          <a:bodyPr/>
          <a:lstStyle>
            <a:lvl1pPr marL="0" indent="0" algn="ctr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8A9F89-A36A-4F93-960E-BC168D194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rgbClr val="0056B2"/>
                </a:solidFill>
              </a:defRPr>
            </a:lvl1pPr>
          </a:lstStyle>
          <a:p>
            <a:fld id="{01520930-3376-4FD5-AED9-388AC055BD8F}" type="datetime1">
              <a:rPr lang="en-GB" smtClean="0"/>
              <a:t>12/12/2021</a:t>
            </a:fld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E0ACC-90F3-4C1B-9E71-B7E4B89DC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B458C-3622-4FDF-8CA7-83B6267620B8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C009ED-0901-4311-A41D-F175772E73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2304" b="18021"/>
          <a:stretch/>
        </p:blipFill>
        <p:spPr>
          <a:xfrm>
            <a:off x="4652209" y="1794465"/>
            <a:ext cx="7539791" cy="5063535"/>
          </a:xfrm>
          <a:prstGeom prst="rect">
            <a:avLst/>
          </a:prstGeom>
          <a:noFill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1BFD507-0FAF-4A75-B0D6-85103ACA9F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200" y="2362581"/>
            <a:ext cx="2195513" cy="521681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DB423CD2-452A-4571-BD77-1050BDB68A0C}"/>
              </a:ext>
            </a:extLst>
          </p:cNvPr>
          <p:cNvSpPr txBox="1">
            <a:spLocks/>
          </p:cNvSpPr>
          <p:nvPr userDrawn="1"/>
        </p:nvSpPr>
        <p:spPr>
          <a:xfrm>
            <a:off x="564399" y="4234578"/>
            <a:ext cx="3778459" cy="75042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0" dirty="0">
                <a:solidFill>
                  <a:srgbClr val="0056B2"/>
                </a:solidFill>
              </a:rPr>
              <a:t>Dr Francois ROUBERT</a:t>
            </a:r>
          </a:p>
          <a:p>
            <a:r>
              <a:rPr lang="en-GB" sz="2000" b="0" dirty="0">
                <a:solidFill>
                  <a:srgbClr val="0056B2"/>
                </a:solidFill>
              </a:rPr>
              <a:t>F.Roubert@westminster.ac.uk</a:t>
            </a:r>
          </a:p>
        </p:txBody>
      </p:sp>
    </p:spTree>
    <p:extLst>
      <p:ext uri="{BB962C8B-B14F-4D97-AF65-F5344CB8AC3E}">
        <p14:creationId xmlns:p14="http://schemas.microsoft.com/office/powerpoint/2010/main" val="700622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1B2FB-E799-4608-B1BE-28616BE04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308324-759F-443A-A716-38ACCF0569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4D03DC-DAAA-40DB-969E-0E33BE130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B458C-3622-4FDF-8CA7-83B6267620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0854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3C1F2-2FA1-4842-9ED8-731CBEEEA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425A7E-2B95-4E03-9EF5-4233CEB748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5F6550-812E-47E5-9FFD-8C1C62C88D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185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72D9B5-1E73-4956-A70A-B582A60541BF}" type="datetime1">
              <a:rPr lang="en-GB" smtClean="0"/>
              <a:t>12/12/2021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899FD3-DC16-440A-A734-95B5F3BE3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333EE-4797-4E57-9D85-3B2B3F3CF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B458C-3622-4FDF-8CA7-83B6267620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6642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3A0F7-070A-4CED-883C-12C379581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49948-1CFB-4DD2-82BE-704ACC0A41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7845" y="1100138"/>
            <a:ext cx="5781955" cy="5600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87BFD2-B237-479C-8B13-BA14CF6AD5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00138"/>
            <a:ext cx="5638800" cy="5600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8A61A7-DB0F-45A4-A3F4-BEE2E8E2B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B458C-3622-4FDF-8CA7-83B6267620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4846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3CD68-969F-474F-8D79-63D222091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464" y="0"/>
            <a:ext cx="11787186" cy="8239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54FA19-C5F9-4B27-9F8A-51FA8F7826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1464" y="1095375"/>
            <a:ext cx="57261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B286E3-9CC8-4831-B5DB-81568A576C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71464" y="1919287"/>
            <a:ext cx="5726112" cy="47529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9EB564-D016-40C4-8422-F7563FD0DF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095375"/>
            <a:ext cx="588645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BC31D3-2759-4FA9-9954-FEF293DA2B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919286"/>
            <a:ext cx="5886450" cy="47529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93271A-BECB-4053-A564-F967E9AAD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B458C-3622-4FDF-8CA7-83B6267620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2547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8B0E0-4182-47BA-BD4C-F40D80464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CD35DC-2120-43AB-A93E-7A76E0412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B458C-3622-4FDF-8CA7-83B6267620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7712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2FD779-4917-4CB6-857F-4485372C9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B458C-3622-4FDF-8CA7-83B6267620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5228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C2360-DCB4-4735-99B5-CF5316F84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F3372-EC3F-4436-B727-F562B9B8CC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266A98-9FF3-4DB0-AD8D-F20949625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25DD1-1CAB-43DA-815D-D2A4EF9D6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B458C-3622-4FDF-8CA7-83B6267620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1585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8AD0C-EB5F-45B4-80B5-E27597C9E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FA5DCA-AE03-43B8-90CF-4C86169E13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E4EA53-171F-4245-9860-867B97CEF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E13A2B-920C-426E-93E9-EF46E7EFD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B458C-3622-4FDF-8CA7-83B6267620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2267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0D358-2735-45BA-9163-0325DEA59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4EC9EB-C1F5-480D-89CE-1107B1DFB4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7595BB-CC47-4CDD-A8F6-B03DAFEBA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B458C-3622-4FDF-8CA7-83B6267620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0051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A6F584-CF8F-4E86-865D-C2B14CDCEF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D68BA6-B2A6-4E5F-A278-54896D1971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7DA01-7CBF-4894-B8BB-C2D81BC22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B458C-3622-4FDF-8CA7-83B6267620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6876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AA3D42-D5D6-4357-89D2-5D0FC9F98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845" y="0"/>
            <a:ext cx="11835089" cy="800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4E5425-5B02-40EB-9BE9-EF337C382E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7845" y="1128712"/>
            <a:ext cx="11835089" cy="56470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F190D-DA8E-43E3-9EC4-0F9E8A3504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9696" y="644902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BB458C-3622-4FDF-8CA7-83B6267620B8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610817-0498-4609-970D-18A5018029BD}"/>
              </a:ext>
            </a:extLst>
          </p:cNvPr>
          <p:cNvSpPr/>
          <p:nvPr userDrawn="1"/>
        </p:nvSpPr>
        <p:spPr>
          <a:xfrm>
            <a:off x="-3" y="0"/>
            <a:ext cx="119065" cy="6858000"/>
          </a:xfrm>
          <a:prstGeom prst="rect">
            <a:avLst/>
          </a:prstGeom>
          <a:solidFill>
            <a:srgbClr val="0056B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45624C3-16A9-40E7-A7A7-FB0E502F60DB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09663" y="6505392"/>
            <a:ext cx="1063503" cy="252393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28B3C71-91AF-46F4-B260-5A96864EA73F}"/>
              </a:ext>
            </a:extLst>
          </p:cNvPr>
          <p:cNvCxnSpPr>
            <a:cxnSpLocks/>
          </p:cNvCxnSpPr>
          <p:nvPr userDrawn="1"/>
        </p:nvCxnSpPr>
        <p:spPr>
          <a:xfrm>
            <a:off x="11792232" y="6496038"/>
            <a:ext cx="0" cy="251135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8BFBAE1-6AEE-4BC0-873F-CE64935DB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237845" y="804086"/>
            <a:ext cx="441646" cy="0"/>
          </a:xfrm>
          <a:prstGeom prst="line">
            <a:avLst/>
          </a:prstGeom>
          <a:ln w="50800">
            <a:solidFill>
              <a:srgbClr val="0056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0724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rgbClr val="0056B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Courier New" panose="02070309020205020404" pitchFamily="49" charset="0"/>
        <a:buChar char="o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Ø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ongodb.com/manual/introduction/" TargetMode="External"/><Relationship Id="rId2" Type="http://schemas.openxmlformats.org/officeDocument/2006/relationships/hyperlink" Target="https://www.ibm.com/cloud/learn/nosql-databases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317A4-B16B-4AB7-9A5C-5878CD3D9E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5COSC020W DATABASE SYSTEMS – LECTURE 11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F7EC62-BABB-4E2C-9AA8-C6540CA552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1200" y="991236"/>
            <a:ext cx="11480800" cy="626562"/>
          </a:xfrm>
        </p:spPr>
        <p:txBody>
          <a:bodyPr>
            <a:normAutofit/>
          </a:bodyPr>
          <a:lstStyle/>
          <a:p>
            <a:r>
              <a:rPr lang="en-GB" dirty="0"/>
              <a:t>NoSQL Databases and Document-oriented Databases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A7A01-8E5A-4ACF-8D15-8DAFAA1F5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B458C-3622-4FDF-8CA7-83B6267620B8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7978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0788A-29CC-450D-B69F-205F98D96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Lecture 11 – Outline</a:t>
            </a:r>
            <a:r>
              <a:rPr lang="en-GB" dirty="0">
                <a:highlight>
                  <a:srgbClr val="FFFF00"/>
                </a:highlight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3E406-AA00-4A86-B0F0-3F07D0FF0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455" y="1031966"/>
            <a:ext cx="11835089" cy="5826033"/>
          </a:xfrm>
        </p:spPr>
        <p:txBody>
          <a:bodyPr>
            <a:normAutofit/>
          </a:bodyPr>
          <a:lstStyle/>
          <a:p>
            <a:r>
              <a:rPr lang="en-GB" b="1" dirty="0"/>
              <a:t>NoSQL paradigm</a:t>
            </a:r>
          </a:p>
          <a:p>
            <a:pPr lvl="1"/>
            <a:r>
              <a:rPr lang="en-GB" dirty="0"/>
              <a:t>Definition.</a:t>
            </a:r>
          </a:p>
          <a:p>
            <a:pPr lvl="1"/>
            <a:r>
              <a:rPr lang="en-GB" dirty="0"/>
              <a:t>Motivations and need for an alternative to relational databases.</a:t>
            </a:r>
          </a:p>
          <a:p>
            <a:pPr lvl="1"/>
            <a:r>
              <a:rPr lang="en-GB" dirty="0"/>
              <a:t>Distributed databases.</a:t>
            </a:r>
          </a:p>
          <a:p>
            <a:pPr lvl="1"/>
            <a:r>
              <a:rPr lang="en-GB" dirty="0"/>
              <a:t>Features of NoSQL databases.</a:t>
            </a:r>
          </a:p>
          <a:p>
            <a:pPr lvl="2"/>
            <a:endParaRPr lang="en-GB" dirty="0"/>
          </a:p>
          <a:p>
            <a:r>
              <a:rPr lang="en-GB" b="1" dirty="0"/>
              <a:t>Document-oriented databases</a:t>
            </a:r>
          </a:p>
          <a:p>
            <a:pPr lvl="1"/>
            <a:r>
              <a:rPr lang="en-GB" dirty="0"/>
              <a:t>Definition, collection, documents, name-value pairs.</a:t>
            </a:r>
          </a:p>
          <a:p>
            <a:pPr lvl="1"/>
            <a:r>
              <a:rPr lang="en-GB" dirty="0"/>
              <a:t>JSON: JavaScript Object Notation.</a:t>
            </a:r>
          </a:p>
          <a:p>
            <a:pPr lvl="2"/>
            <a:endParaRPr lang="en-GB" dirty="0"/>
          </a:p>
          <a:p>
            <a:r>
              <a:rPr lang="en-GB" b="1" dirty="0"/>
              <a:t>MongoDB</a:t>
            </a:r>
          </a:p>
          <a:p>
            <a:pPr lvl="1"/>
            <a:r>
              <a:rPr lang="en-GB" dirty="0"/>
              <a:t>BSON: Binary JSON.</a:t>
            </a:r>
          </a:p>
          <a:p>
            <a:pPr lvl="1"/>
            <a:r>
              <a:rPr lang="en-GB" dirty="0"/>
              <a:t>Examples of possible designs.</a:t>
            </a:r>
          </a:p>
          <a:p>
            <a:pPr lvl="1"/>
            <a:r>
              <a:rPr lang="en-GB" dirty="0"/>
              <a:t>CRUD operations.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DFD060-2C6D-406A-9495-172C8F0A2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B458C-3622-4FDF-8CA7-83B6267620B8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1548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C4892-152D-4843-B388-4887E8A14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Classifying DBMSs based on Data Models (Recap)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1D981-33AE-47E2-BF47-A61A86CD84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845" y="986971"/>
            <a:ext cx="11954155" cy="5871029"/>
          </a:xfrm>
        </p:spPr>
        <p:txBody>
          <a:bodyPr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GB" b="1" dirty="0"/>
              <a:t>Relational Model or SQL Model</a:t>
            </a:r>
            <a:r>
              <a:rPr lang="en-GB" b="1" dirty="0">
                <a:solidFill>
                  <a:srgbClr val="00B050"/>
                </a:solidFill>
              </a:rPr>
              <a:t> 			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  <a:sym typeface="Wingdings" panose="05000000000000000000" pitchFamily="2" charset="2"/>
              </a:rPr>
              <a:t>(covered in lectures 01-07)</a:t>
            </a:r>
            <a:endParaRPr lang="en-GB" b="1" dirty="0">
              <a:solidFill>
                <a:srgbClr val="00B050"/>
              </a:solidFill>
            </a:endParaRPr>
          </a:p>
          <a:p>
            <a:pPr lvl="1"/>
            <a:r>
              <a:rPr lang="en-GB" dirty="0"/>
              <a:t>Structured Data as collection of tables with fields, records, PKs and FKs. </a:t>
            </a:r>
          </a:p>
          <a:p>
            <a:pPr lvl="1"/>
            <a:r>
              <a:rPr lang="en-GB" dirty="0"/>
              <a:t>Uses high level Structured Query Language (SQL) for CRUD operations.</a:t>
            </a:r>
          </a:p>
          <a:p>
            <a:pPr lvl="3"/>
            <a:endParaRPr lang="en-GB" sz="1200" dirty="0"/>
          </a:p>
          <a:p>
            <a:r>
              <a:rPr lang="en-GB" b="1" dirty="0"/>
              <a:t>XML Model 							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  <a:sym typeface="Wingdings" panose="05000000000000000000" pitchFamily="2" charset="2"/>
              </a:rPr>
              <a:t>(covered in lectures 08-10)</a:t>
            </a:r>
            <a:endParaRPr lang="en-GB" b="1" dirty="0"/>
          </a:p>
          <a:p>
            <a:pPr lvl="1"/>
            <a:r>
              <a:rPr lang="en-GB" dirty="0"/>
              <a:t>Semi-structured data as elements that can be nested to create tree structures.</a:t>
            </a:r>
          </a:p>
          <a:p>
            <a:pPr lvl="1"/>
            <a:r>
              <a:rPr lang="en-GB" dirty="0"/>
              <a:t>Standard for structuring and exchanging data over the Web.</a:t>
            </a:r>
          </a:p>
          <a:p>
            <a:pPr lvl="3"/>
            <a:endParaRPr lang="en-GB" sz="1200" dirty="0"/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GB" b="1" dirty="0"/>
              <a:t>NoSQL Model							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  <a:sym typeface="Wingdings" panose="05000000000000000000" pitchFamily="2" charset="2"/>
              </a:rPr>
              <a:t>(covered in lectures 11)</a:t>
            </a:r>
            <a:endParaRPr lang="en-GB" b="1" dirty="0"/>
          </a:p>
          <a:p>
            <a:pPr lvl="1"/>
            <a:r>
              <a:rPr lang="en-GB" dirty="0"/>
              <a:t>Key-value data model: each data value associated to unique key for fast retrieval.</a:t>
            </a:r>
          </a:p>
          <a:p>
            <a:pPr lvl="1"/>
            <a:r>
              <a:rPr lang="en-GB" dirty="0"/>
              <a:t>Graph data model: data represented as graphs i.e. labelled nodes and edges.</a:t>
            </a:r>
          </a:p>
          <a:p>
            <a:pPr lvl="1"/>
            <a:r>
              <a:rPr lang="en-GB" dirty="0"/>
              <a:t>Document data model: data as collection of documents in JSON or XML.</a:t>
            </a:r>
          </a:p>
          <a:p>
            <a:pPr lvl="3"/>
            <a:endParaRPr lang="en-GB" sz="1200" dirty="0"/>
          </a:p>
          <a:p>
            <a:r>
              <a:rPr lang="en-GB" b="1" dirty="0"/>
              <a:t>Object Model 							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  <a:sym typeface="Wingdings" panose="05000000000000000000" pitchFamily="2" charset="2"/>
              </a:rPr>
              <a:t>(not covered in this module)</a:t>
            </a:r>
            <a:endParaRPr lang="en-GB" dirty="0"/>
          </a:p>
          <a:p>
            <a:pPr lvl="1"/>
            <a:r>
              <a:rPr lang="en-GB" dirty="0"/>
              <a:t>Data as collection of objects (in classes) with properties &amp; operations. 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02754B-D129-44EE-A04F-981E785CF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B458C-3622-4FDF-8CA7-83B6267620B8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4127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5AC0C-5011-4858-8232-24CE19EDE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NoSQL Database Paradigm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B2B3D-646C-4A11-B54F-18FB56918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81" y="765518"/>
            <a:ext cx="11515215" cy="6057900"/>
          </a:xfrm>
        </p:spPr>
        <p:txBody>
          <a:bodyPr>
            <a:normAutofit/>
          </a:bodyPr>
          <a:lstStyle/>
          <a:p>
            <a:r>
              <a:rPr lang="en-GB" b="1" dirty="0"/>
              <a:t>NoSQL = “Non-SQL” or “Not Just SQL”</a:t>
            </a:r>
          </a:p>
          <a:p>
            <a:pPr lvl="1"/>
            <a:r>
              <a:rPr lang="en-GB" dirty="0"/>
              <a:t>Approach to database design that enables the storage and querying of data outside the traditional tabular structures found in relational databases.</a:t>
            </a:r>
          </a:p>
          <a:p>
            <a:pPr lvl="3"/>
            <a:endParaRPr lang="en-GB" dirty="0"/>
          </a:p>
          <a:p>
            <a:r>
              <a:rPr lang="en-GB" b="1" dirty="0"/>
              <a:t>Non-relational</a:t>
            </a:r>
          </a:p>
          <a:p>
            <a:pPr lvl="1"/>
            <a:r>
              <a:rPr lang="en-GB" dirty="0"/>
              <a:t>Variety of data models: document, key-value, columnar and graph formats.</a:t>
            </a:r>
          </a:p>
          <a:p>
            <a:pPr lvl="3"/>
            <a:endParaRPr lang="en-GB" dirty="0"/>
          </a:p>
          <a:p>
            <a:r>
              <a:rPr lang="en-GB" b="1" dirty="0"/>
              <a:t>Distributed</a:t>
            </a:r>
          </a:p>
          <a:p>
            <a:pPr lvl="1"/>
            <a:r>
              <a:rPr lang="en-GB" dirty="0"/>
              <a:t>Information copied and stored on various servers, remote or local.</a:t>
            </a:r>
          </a:p>
          <a:p>
            <a:pPr lvl="3"/>
            <a:endParaRPr lang="en-GB" dirty="0"/>
          </a:p>
          <a:p>
            <a:r>
              <a:rPr lang="en-GB" b="1" dirty="0"/>
              <a:t>Scalable</a:t>
            </a:r>
          </a:p>
          <a:p>
            <a:pPr lvl="1"/>
            <a:r>
              <a:rPr lang="en-GB" dirty="0"/>
              <a:t>Accommodate evolving data workloads in Big Data or real-time web apps. </a:t>
            </a:r>
          </a:p>
          <a:p>
            <a:pPr lvl="3"/>
            <a:endParaRPr lang="en-GB" dirty="0"/>
          </a:p>
          <a:p>
            <a:r>
              <a:rPr lang="en-GB" b="1" dirty="0"/>
              <a:t>Flexible</a:t>
            </a:r>
          </a:p>
          <a:p>
            <a:pPr lvl="1"/>
            <a:r>
              <a:rPr lang="en-GB" dirty="0"/>
              <a:t>Manage large data sets without a fixed structure, schema-less.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B93D25-A862-430D-AA4A-9BA445BE3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B458C-3622-4FDF-8CA7-83B6267620B8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4401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3C3DA-EDC8-473C-97D7-1A527A761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Need for an alternative to the relational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77021-DFB1-480D-961B-13F5C090B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845" y="871671"/>
            <a:ext cx="11954155" cy="5986329"/>
          </a:xfrm>
        </p:spPr>
        <p:txBody>
          <a:bodyPr>
            <a:normAutofit lnSpcReduction="10000"/>
          </a:bodyPr>
          <a:lstStyle/>
          <a:p>
            <a:r>
              <a:rPr lang="en-GB" dirty="0"/>
              <a:t>Big Data and real-time web apps.</a:t>
            </a:r>
          </a:p>
          <a:p>
            <a:pPr lvl="1"/>
            <a:r>
              <a:rPr lang="en-GB" dirty="0"/>
              <a:t>Huge amount of data distributed over many different systems.</a:t>
            </a:r>
          </a:p>
          <a:p>
            <a:pPr lvl="1"/>
            <a:r>
              <a:rPr lang="en-GB" dirty="0"/>
              <a:t>Increase of the data needs of organisations.</a:t>
            </a:r>
          </a:p>
          <a:p>
            <a:pPr lvl="3"/>
            <a:endParaRPr lang="en-GB" dirty="0"/>
          </a:p>
          <a:p>
            <a:r>
              <a:rPr lang="de-DE" dirty="0"/>
              <a:t>Examples:</a:t>
            </a:r>
          </a:p>
          <a:p>
            <a:pPr lvl="1"/>
            <a:r>
              <a:rPr lang="de-DE" dirty="0"/>
              <a:t>Email and Personal Information Manager web app: Gmail, Outlook, etc. : </a:t>
            </a:r>
          </a:p>
          <a:p>
            <a:pPr lvl="2"/>
            <a:r>
              <a:rPr lang="de-DE" dirty="0"/>
              <a:t>Millions of users, thousands of messages, attachments, calendar entries, meeting requests, alerts, etc.</a:t>
            </a:r>
          </a:p>
          <a:p>
            <a:pPr lvl="3"/>
            <a:endParaRPr lang="de-DE" dirty="0"/>
          </a:p>
          <a:p>
            <a:pPr lvl="1"/>
            <a:r>
              <a:rPr lang="de-DE" dirty="0"/>
              <a:t>Social Media Platforms: Facebook, Twitter, Instagram, etc.</a:t>
            </a:r>
          </a:p>
          <a:p>
            <a:pPr lvl="2"/>
            <a:r>
              <a:rPr lang="de-DE" dirty="0"/>
              <a:t>Millions of users, thousands of posts with images and videos.</a:t>
            </a:r>
          </a:p>
          <a:p>
            <a:pPr lvl="2"/>
            <a:r>
              <a:rPr lang="de-DE" dirty="0"/>
              <a:t>Posts displayed on others‘ pages with whom user has a social media relationship.</a:t>
            </a:r>
          </a:p>
          <a:p>
            <a:pPr lvl="2"/>
            <a:r>
              <a:rPr lang="de-DE" dirty="0"/>
              <a:t>Huge collection of data stores to store: profiles, social media relationship &amp; relevant subscribed posts.</a:t>
            </a:r>
          </a:p>
          <a:p>
            <a:pPr lvl="3"/>
            <a:endParaRPr lang="en-GB" dirty="0"/>
          </a:p>
          <a:p>
            <a:r>
              <a:rPr lang="en-GB" dirty="0"/>
              <a:t>Need for a new database paradigm to handle distributed Big Data</a:t>
            </a:r>
          </a:p>
          <a:p>
            <a:pPr lvl="1"/>
            <a:r>
              <a:rPr lang="de-DE" dirty="0"/>
              <a:t>Structured data model is too restrictive.</a:t>
            </a:r>
            <a:endParaRPr lang="en-GB" dirty="0"/>
          </a:p>
          <a:p>
            <a:pPr lvl="1"/>
            <a:r>
              <a:rPr lang="en-GB" dirty="0"/>
              <a:t>Traditional transactional relational systems not always suitable for huge systems.</a:t>
            </a:r>
          </a:p>
          <a:p>
            <a:pPr lvl="1"/>
            <a:r>
              <a:rPr lang="en-GB" dirty="0"/>
              <a:t>Need for multiple types of new databases!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69967E-92F6-4A7A-A3A5-51874DFA8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B458C-3622-4FDF-8CA7-83B6267620B8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925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98B8C-6CAB-43C3-B4A9-A5E0C1B6A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Motivations for NoSQL Databases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30D70-124A-497E-B681-2F9A7D46D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845" y="950495"/>
            <a:ext cx="11835089" cy="5825255"/>
          </a:xfrm>
        </p:spPr>
        <p:txBody>
          <a:bodyPr>
            <a:normAutofit lnSpcReduction="10000"/>
          </a:bodyPr>
          <a:lstStyle/>
          <a:p>
            <a:r>
              <a:rPr lang="en-GB" b="1" dirty="0"/>
              <a:t>Scalability</a:t>
            </a:r>
          </a:p>
          <a:p>
            <a:pPr lvl="1"/>
            <a:r>
              <a:rPr lang="en-GB" dirty="0"/>
              <a:t>Ability to efficiently meet the needs for varying workloads.</a:t>
            </a:r>
          </a:p>
          <a:p>
            <a:pPr lvl="1"/>
            <a:r>
              <a:rPr lang="en-GB" dirty="0"/>
              <a:t>Ability to scale up (add extra nodes) and down (remove nodes) to handle continuously evolving traffic (node = computer site).</a:t>
            </a:r>
          </a:p>
          <a:p>
            <a:pPr lvl="1"/>
            <a:endParaRPr lang="en-GB" dirty="0"/>
          </a:p>
          <a:p>
            <a:r>
              <a:rPr lang="en-GB" b="1" dirty="0"/>
              <a:t>Cost</a:t>
            </a:r>
          </a:p>
          <a:p>
            <a:pPr lvl="1"/>
            <a:r>
              <a:rPr lang="en-GB" dirty="0"/>
              <a:t>Use of free &amp; open-source database systems to handle unpredictable workloads.</a:t>
            </a:r>
          </a:p>
          <a:p>
            <a:pPr lvl="1"/>
            <a:endParaRPr lang="en-GB" dirty="0"/>
          </a:p>
          <a:p>
            <a:r>
              <a:rPr lang="en-GB" b="1" dirty="0"/>
              <a:t>Flexibility</a:t>
            </a:r>
          </a:p>
          <a:p>
            <a:pPr lvl="1"/>
            <a:r>
              <a:rPr lang="en-GB" dirty="0"/>
              <a:t>Ability to handle data that does not have a fixed structure but that is semi-structured or unstructured instead e.g. different attributes for different items.</a:t>
            </a:r>
          </a:p>
          <a:p>
            <a:pPr lvl="1"/>
            <a:endParaRPr lang="en-GB" dirty="0"/>
          </a:p>
          <a:p>
            <a:r>
              <a:rPr lang="en-GB" b="1" dirty="0"/>
              <a:t>Availability</a:t>
            </a:r>
          </a:p>
          <a:p>
            <a:pPr lvl="1"/>
            <a:r>
              <a:rPr lang="en-GB" dirty="0"/>
              <a:t>Ability to handle large amounts of data distributed over multiple nodes to make ensure it is available at all time even when nodes are down for maintenance.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AE3328-1F1C-4256-A778-35F61B1D2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B458C-3622-4FDF-8CA7-83B6267620B8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9774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D5068-C477-4E79-8A97-F6865AFB7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Distributed Databases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C1840-B036-4519-8492-F99D6E2FB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845" y="1070860"/>
            <a:ext cx="11954155" cy="5647037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Collection of multiple logically interrelated databases distributed over a computer network.</a:t>
            </a:r>
          </a:p>
          <a:p>
            <a:pPr lvl="1"/>
            <a:endParaRPr lang="en-GB" b="1" dirty="0"/>
          </a:p>
          <a:p>
            <a:r>
              <a:rPr lang="en-GB" b="1" dirty="0"/>
              <a:t>Interconnection of database nodes </a:t>
            </a:r>
          </a:p>
          <a:p>
            <a:pPr lvl="1"/>
            <a:r>
              <a:rPr lang="en-GB" dirty="0"/>
              <a:t>Databases stored on multiple nodes interlinked by an underlying network to transmit data and commands. </a:t>
            </a:r>
          </a:p>
          <a:p>
            <a:pPr lvl="1"/>
            <a:endParaRPr lang="en-GB" dirty="0"/>
          </a:p>
          <a:p>
            <a:r>
              <a:rPr lang="en-GB" b="1" dirty="0"/>
              <a:t>Logical interrelation of the connected databases</a:t>
            </a:r>
          </a:p>
          <a:p>
            <a:pPr lvl="1"/>
            <a:r>
              <a:rPr lang="en-GB" dirty="0"/>
              <a:t>Information stored on the connected database nodes must be logically related.</a:t>
            </a:r>
          </a:p>
          <a:p>
            <a:pPr lvl="1"/>
            <a:endParaRPr lang="en-GB" dirty="0"/>
          </a:p>
          <a:p>
            <a:r>
              <a:rPr lang="en-GB" b="1" dirty="0"/>
              <a:t>No homogeneity of data between connected nodes</a:t>
            </a:r>
          </a:p>
          <a:p>
            <a:pPr lvl="1"/>
            <a:r>
              <a:rPr lang="en-GB" dirty="0"/>
              <a:t>No homogeneity among the connected database nodes in terms of data, hardware and software.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BAE0E1-62D9-4F3D-9036-91A81288D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B458C-3622-4FDF-8CA7-83B6267620B8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439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40055-0CC1-42BC-B332-C410C97CA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Features of NoSQL DBMSs </a:t>
            </a:r>
            <a:r>
              <a:rPr lang="en-GB" sz="2800" dirty="0"/>
              <a:t>(related to Distributed Databases)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CED3B-0BD9-4BFE-A26D-EB2865646A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304" y="984550"/>
            <a:ext cx="12120696" cy="5873450"/>
          </a:xfrm>
        </p:spPr>
        <p:txBody>
          <a:bodyPr/>
          <a:lstStyle/>
          <a:p>
            <a:r>
              <a:rPr lang="en-GB" b="1" dirty="0"/>
              <a:t>Scalability</a:t>
            </a:r>
          </a:p>
          <a:p>
            <a:pPr lvl="1"/>
            <a:r>
              <a:rPr lang="en-GB" dirty="0"/>
              <a:t>As data grows, capability to add new nodes for increased data storage and processing without interrupting system operations.</a:t>
            </a:r>
          </a:p>
          <a:p>
            <a:r>
              <a:rPr lang="en-GB" b="1" dirty="0"/>
              <a:t>Availability, replication and eventual consistency</a:t>
            </a:r>
          </a:p>
          <a:p>
            <a:pPr lvl="1"/>
            <a:r>
              <a:rPr lang="en-GB" dirty="0"/>
              <a:t>Capability to provide continuous system availability by replicating data over nodes.</a:t>
            </a:r>
          </a:p>
          <a:p>
            <a:pPr lvl="2"/>
            <a:r>
              <a:rPr lang="en-GB" dirty="0"/>
              <a:t>Improved performance of read requests as they are serviced by multiple nodes.</a:t>
            </a:r>
          </a:p>
          <a:p>
            <a:pPr lvl="2"/>
            <a:r>
              <a:rPr lang="en-GB" dirty="0"/>
              <a:t>Worsening performance of write requests as update applied to every copy of a data item.</a:t>
            </a:r>
          </a:p>
          <a:p>
            <a:pPr lvl="1"/>
            <a:r>
              <a:rPr lang="en-GB" dirty="0"/>
              <a:t>Weaker consistency level is often acceptable. </a:t>
            </a:r>
          </a:p>
          <a:p>
            <a:r>
              <a:rPr lang="en-GB" b="1" dirty="0" err="1"/>
              <a:t>Sharding</a:t>
            </a:r>
            <a:r>
              <a:rPr lang="en-GB" b="1" dirty="0"/>
              <a:t> of files (aka horizontal partitioning)</a:t>
            </a:r>
          </a:p>
          <a:p>
            <a:pPr lvl="1"/>
            <a:r>
              <a:rPr lang="en-GB" dirty="0"/>
              <a:t>Ability to distribute the load of accessing records to multiple nodes.</a:t>
            </a:r>
          </a:p>
          <a:p>
            <a:pPr lvl="1"/>
            <a:r>
              <a:rPr lang="en-GB" dirty="0"/>
              <a:t>Works in tandem with replication to improve load balancing and data availability.</a:t>
            </a:r>
          </a:p>
          <a:p>
            <a:r>
              <a:rPr lang="en-GB" b="1" dirty="0"/>
              <a:t>High-performance data access</a:t>
            </a:r>
          </a:p>
          <a:p>
            <a:pPr lvl="1"/>
            <a:r>
              <a:rPr lang="en-GB" dirty="0"/>
              <a:t>Ability to partition data items in independent parts and use a partition key to assign the key to a partition and retrieve the partition based on specific criteria.	</a:t>
            </a:r>
          </a:p>
          <a:p>
            <a:pPr lvl="1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06107E-670D-4AC6-A0EB-0B27B8A68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B458C-3622-4FDF-8CA7-83B6267620B8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900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9C489-1198-49D1-8598-2CC493D17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845" y="0"/>
            <a:ext cx="12056075" cy="800100"/>
          </a:xfrm>
        </p:spPr>
        <p:txBody>
          <a:bodyPr>
            <a:normAutofit fontScale="90000"/>
          </a:bodyPr>
          <a:lstStyle/>
          <a:p>
            <a:r>
              <a:rPr lang="en-GB" sz="3600" dirty="0"/>
              <a:t>Features of NoSQL DBMSs </a:t>
            </a:r>
            <a:r>
              <a:rPr lang="en-GB" sz="3100" dirty="0"/>
              <a:t>(Data Models &amp; Query Languages)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C843D-245B-4B7F-800A-4E693DC724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845" y="1050324"/>
            <a:ext cx="11835089" cy="5581263"/>
          </a:xfrm>
        </p:spPr>
        <p:txBody>
          <a:bodyPr/>
          <a:lstStyle/>
          <a:p>
            <a:r>
              <a:rPr lang="en-GB" b="1" dirty="0"/>
              <a:t>Schema-less</a:t>
            </a:r>
          </a:p>
          <a:p>
            <a:pPr lvl="1"/>
            <a:r>
              <a:rPr lang="en-GB" dirty="0"/>
              <a:t>Ability to store semi-structured and self-describing data using JSON or XML.</a:t>
            </a:r>
          </a:p>
          <a:p>
            <a:pPr lvl="1"/>
            <a:r>
              <a:rPr lang="en-GB" dirty="0"/>
              <a:t>Schema not required ; partial schema can be used to improve storage efficiency.</a:t>
            </a:r>
          </a:p>
          <a:p>
            <a:pPr lvl="1"/>
            <a:r>
              <a:rPr lang="en-GB" dirty="0"/>
              <a:t>No referential integrity, no joins.</a:t>
            </a:r>
          </a:p>
          <a:p>
            <a:pPr lvl="1"/>
            <a:r>
              <a:rPr lang="en-GB" dirty="0"/>
              <a:t>Constraints on the data have to be programmed in the application programme.</a:t>
            </a:r>
          </a:p>
          <a:p>
            <a:pPr lvl="1"/>
            <a:endParaRPr lang="en-GB" dirty="0"/>
          </a:p>
          <a:p>
            <a:r>
              <a:rPr lang="en-GB" b="1" dirty="0"/>
              <a:t>Less Powerful Query Languages</a:t>
            </a:r>
          </a:p>
          <a:p>
            <a:pPr lvl="1"/>
            <a:r>
              <a:rPr lang="en-GB" dirty="0"/>
              <a:t>SCRUD (Search, Create, Read, Update, Delete) operations tend to involve one object stored in a single file using object key, no complex querying.</a:t>
            </a:r>
          </a:p>
          <a:p>
            <a:pPr lvl="1"/>
            <a:r>
              <a:rPr lang="en-GB" dirty="0"/>
              <a:t>API (Application Programming Interface)</a:t>
            </a:r>
          </a:p>
          <a:p>
            <a:pPr lvl="2"/>
            <a:r>
              <a:rPr lang="en-GB" sz="2400" dirty="0"/>
              <a:t>Implements read and write operations.</a:t>
            </a:r>
          </a:p>
          <a:p>
            <a:pPr lvl="2"/>
            <a:r>
              <a:rPr lang="en-GB" sz="2400" dirty="0"/>
              <a:t>Low-level data manipulation &amp; selection methods.</a:t>
            </a:r>
          </a:p>
          <a:p>
            <a:pPr lvl="1"/>
            <a:r>
              <a:rPr lang="en-GB" dirty="0"/>
              <a:t>Possibility of basic high-level not standardised query language, without joins.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1FD2AB-4912-4783-9C2D-C383F1368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B458C-3622-4FDF-8CA7-83B6267620B8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70301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EA8F7-3E32-4D96-992B-774D83DF8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Document-Based or Document-Oriented NoSQL DBMSs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2E4D5-420A-4198-93AF-01A6120E60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341" y="886599"/>
            <a:ext cx="11660659" cy="5857102"/>
          </a:xfrm>
        </p:spPr>
        <p:txBody>
          <a:bodyPr/>
          <a:lstStyle/>
          <a:p>
            <a:r>
              <a:rPr lang="en-GB" dirty="0"/>
              <a:t>Data stored as </a:t>
            </a:r>
            <a:r>
              <a:rPr lang="en-GB" b="1" dirty="0"/>
              <a:t>collection of similar documents </a:t>
            </a:r>
            <a:r>
              <a:rPr lang="en-GB" dirty="0"/>
              <a:t>(or document stores).</a:t>
            </a:r>
          </a:p>
          <a:p>
            <a:pPr lvl="2"/>
            <a:endParaRPr lang="en-GB" dirty="0"/>
          </a:p>
          <a:p>
            <a:r>
              <a:rPr lang="en-GB" b="1" dirty="0"/>
              <a:t>Documents </a:t>
            </a:r>
          </a:p>
          <a:p>
            <a:pPr lvl="1"/>
            <a:r>
              <a:rPr lang="en-GB" dirty="0"/>
              <a:t>Similar to XML documents but no need to specify a schema (e.g. tree structure).</a:t>
            </a:r>
          </a:p>
          <a:p>
            <a:pPr lvl="1"/>
            <a:r>
              <a:rPr lang="en-GB" dirty="0"/>
              <a:t>Self-describing data: documents contain the structure information and the data.</a:t>
            </a:r>
          </a:p>
          <a:p>
            <a:pPr lvl="1"/>
            <a:r>
              <a:rPr lang="en-GB" dirty="0"/>
              <a:t>Collection of </a:t>
            </a:r>
            <a:r>
              <a:rPr lang="en-GB" b="1" i="1" dirty="0"/>
              <a:t>name-value pairs</a:t>
            </a:r>
            <a:r>
              <a:rPr lang="en-GB" dirty="0"/>
              <a:t>.</a:t>
            </a:r>
          </a:p>
          <a:p>
            <a:pPr lvl="2"/>
            <a:r>
              <a:rPr lang="en-GB" sz="2400" dirty="0"/>
              <a:t>Name: indicates the attribute.</a:t>
            </a:r>
          </a:p>
          <a:p>
            <a:pPr lvl="2"/>
            <a:r>
              <a:rPr lang="en-GB" sz="2400" dirty="0"/>
              <a:t>Value: data assigned to that attribute.</a:t>
            </a:r>
          </a:p>
          <a:p>
            <a:pPr lvl="3"/>
            <a:r>
              <a:rPr lang="en-GB" sz="2200" dirty="0"/>
              <a:t>Basic data types e.g. numbers, strings, and Booleans.</a:t>
            </a:r>
          </a:p>
          <a:p>
            <a:pPr lvl="3"/>
            <a:r>
              <a:rPr lang="en-GB" sz="2200" dirty="0"/>
              <a:t>Structures e.g. arrays, objects</a:t>
            </a:r>
          </a:p>
          <a:p>
            <a:pPr lvl="2"/>
            <a:endParaRPr lang="en-GB" dirty="0"/>
          </a:p>
          <a:p>
            <a:r>
              <a:rPr lang="en-GB" b="1" dirty="0"/>
              <a:t>Formats</a:t>
            </a:r>
          </a:p>
          <a:p>
            <a:pPr lvl="1"/>
            <a:r>
              <a:rPr lang="en-GB" dirty="0"/>
              <a:t>XML: Extensible Markup Language. </a:t>
            </a:r>
          </a:p>
          <a:p>
            <a:pPr lvl="1"/>
            <a:r>
              <a:rPr lang="en-GB" dirty="0"/>
              <a:t>JSON: JavaScript Object Notation.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A639FB-9CE6-4CAE-B5B3-F05D3F156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B458C-3622-4FDF-8CA7-83B6267620B8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08352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1B679-9343-4CCE-9F7C-06121DC21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JSON – JavaScript Object Notation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38FBD-C0C5-410C-8B42-FD3B8B4BB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776" y="800100"/>
            <a:ext cx="11229225" cy="6057901"/>
          </a:xfrm>
        </p:spPr>
        <p:txBody>
          <a:bodyPr>
            <a:normAutofit/>
          </a:bodyPr>
          <a:lstStyle/>
          <a:p>
            <a:r>
              <a:rPr lang="en-GB" b="1" dirty="0"/>
              <a:t>JSON</a:t>
            </a:r>
          </a:p>
          <a:p>
            <a:pPr lvl="1"/>
            <a:r>
              <a:rPr lang="en-GB" dirty="0"/>
              <a:t>Open standard file and data interchange format to store and transmit data consisting of attribute–value pairs and arrays.</a:t>
            </a:r>
          </a:p>
          <a:p>
            <a:pPr lvl="1"/>
            <a:r>
              <a:rPr lang="en-GB" dirty="0"/>
              <a:t>Language-independent data format.</a:t>
            </a:r>
          </a:p>
          <a:p>
            <a:pPr lvl="1"/>
            <a:r>
              <a:rPr lang="en-GB" dirty="0"/>
              <a:t>Originally derived from JavaScript.</a:t>
            </a:r>
          </a:p>
          <a:p>
            <a:pPr lvl="3"/>
            <a:endParaRPr lang="en-GB" dirty="0"/>
          </a:p>
          <a:p>
            <a:r>
              <a:rPr lang="en-GB" b="1" dirty="0"/>
              <a:t>JSON Syntax rules</a:t>
            </a:r>
          </a:p>
          <a:p>
            <a:pPr lvl="1"/>
            <a:r>
              <a:rPr lang="en-GB" dirty="0"/>
              <a:t>Documents consist of name-value pairs.</a:t>
            </a:r>
          </a:p>
          <a:p>
            <a:pPr lvl="1"/>
            <a:r>
              <a:rPr lang="en-GB" dirty="0"/>
              <a:t>Names are strings </a:t>
            </a:r>
            <a:r>
              <a:rPr lang="en-GB" sz="2000" dirty="0"/>
              <a:t>e.g. </a:t>
            </a:r>
            <a:r>
              <a:rPr lang="en-GB" sz="2000" dirty="0" err="1"/>
              <a:t>Pname</a:t>
            </a:r>
            <a:r>
              <a:rPr lang="en-GB" sz="2000" dirty="0"/>
              <a:t> and </a:t>
            </a:r>
            <a:r>
              <a:rPr lang="en-GB" sz="2000" dirty="0" err="1"/>
              <a:t>Plocation</a:t>
            </a:r>
            <a:r>
              <a:rPr lang="en-GB" sz="2000" dirty="0"/>
              <a:t> for a Project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Values can be:</a:t>
            </a:r>
          </a:p>
          <a:p>
            <a:pPr lvl="2"/>
            <a:r>
              <a:rPr lang="en-GB" dirty="0"/>
              <a:t>Numbers: decimal numbers.</a:t>
            </a:r>
          </a:p>
          <a:p>
            <a:pPr lvl="2"/>
            <a:r>
              <a:rPr lang="en-GB" dirty="0"/>
              <a:t>Strings: delimited with double-quotation marks.</a:t>
            </a:r>
          </a:p>
          <a:p>
            <a:pPr lvl="2"/>
            <a:r>
              <a:rPr lang="en-GB" dirty="0"/>
              <a:t>NULL: empty values.</a:t>
            </a:r>
          </a:p>
          <a:p>
            <a:pPr lvl="2"/>
            <a:r>
              <a:rPr lang="en-GB" dirty="0"/>
              <a:t>Arrays:  ordered list of elements.</a:t>
            </a:r>
          </a:p>
          <a:p>
            <a:pPr lvl="2"/>
            <a:r>
              <a:rPr lang="en-GB" dirty="0"/>
              <a:t>Objects: collection of name-value pairs. No restrictions on the names, uniqueness </a:t>
            </a:r>
          </a:p>
          <a:p>
            <a:pPr marL="914400" lvl="2" indent="0">
              <a:buNone/>
            </a:pPr>
            <a:r>
              <a:rPr lang="en-GB" dirty="0"/>
              <a:t>    and ordering.</a:t>
            </a:r>
          </a:p>
          <a:p>
            <a:pPr marL="914400" lvl="2" indent="0">
              <a:buNone/>
            </a:pPr>
            <a:endParaRPr lang="en-GB" dirty="0"/>
          </a:p>
          <a:p>
            <a:pPr lvl="2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85EF53-5A73-42A7-B2EA-A899184FA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B458C-3622-4FDF-8CA7-83B6267620B8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36602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4473-AEEA-480D-B458-A8468C59C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MongoDB – a Document-Based DBMS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BDA1B-53AF-419D-9CF6-ECE4A58002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MongoDB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Cross-platform document-oriented DBMS. </a:t>
            </a:r>
          </a:p>
          <a:p>
            <a:pPr lvl="1"/>
            <a:r>
              <a:rPr lang="en-GB" dirty="0"/>
              <a:t>Distributed database as its core.</a:t>
            </a:r>
          </a:p>
          <a:p>
            <a:pPr lvl="1"/>
            <a:r>
              <a:rPr lang="en-GB" dirty="0"/>
              <a:t>Schemas are optional: fields can vary and data structure can be changed.</a:t>
            </a:r>
          </a:p>
          <a:p>
            <a:pPr lvl="1"/>
            <a:r>
              <a:rPr lang="en-GB" dirty="0"/>
              <a:t>Data stored in collections of JSON-like documents: BSON.</a:t>
            </a:r>
          </a:p>
          <a:p>
            <a:endParaRPr lang="en-GB" dirty="0"/>
          </a:p>
          <a:p>
            <a:r>
              <a:rPr lang="en-GB" b="1" dirty="0"/>
              <a:t>BSON: Binary JSON</a:t>
            </a:r>
          </a:p>
          <a:p>
            <a:pPr lvl="1"/>
            <a:r>
              <a:rPr lang="en-GB" dirty="0"/>
              <a:t>Binary representation to store data in JSON format, optimized for speed, space, and flexibility.</a:t>
            </a:r>
          </a:p>
          <a:p>
            <a:pPr lvl="1"/>
            <a:r>
              <a:rPr lang="en-GB" dirty="0"/>
              <a:t> Capacity to query and manipulate objects by specific keys inside the JSON/BSON document, even in nested documents many layers deep.</a:t>
            </a:r>
          </a:p>
          <a:p>
            <a:pPr lvl="1"/>
            <a:r>
              <a:rPr lang="en-GB" dirty="0"/>
              <a:t>More sophisticated numeric types.</a:t>
            </a:r>
          </a:p>
          <a:p>
            <a:pPr lvl="1"/>
            <a:r>
              <a:rPr lang="en-GB" dirty="0"/>
              <a:t>Additional non-JSON-native data types e.g. dates and binary objects.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1DE9B9-6F65-421B-B9E5-73EA0EFC0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B458C-3622-4FDF-8CA7-83B6267620B8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08400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7BC9B-DBB3-44EF-B4B9-A00D83F2D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518" y="0"/>
            <a:ext cx="11959482" cy="800100"/>
          </a:xfrm>
        </p:spPr>
        <p:txBody>
          <a:bodyPr>
            <a:normAutofit/>
          </a:bodyPr>
          <a:lstStyle/>
          <a:p>
            <a:r>
              <a:rPr lang="en-GB" dirty="0"/>
              <a:t>MongoDB Design Example 1</a:t>
            </a:r>
          </a:p>
        </p:txBody>
      </p:sp>
      <p:pic>
        <p:nvPicPr>
          <p:cNvPr id="12" name="Picture 11" descr="This is a screenshot of JSON code to illustrate the first example of the design of documents in MongoDB: Project Document with embedded array of Workers.">
            <a:extLst>
              <a:ext uri="{FF2B5EF4-FFF2-40B4-BE49-F238E27FC236}">
                <a16:creationId xmlns:a16="http://schemas.microsoft.com/office/drawing/2014/main" id="{6949EBA5-CAB9-4E5E-B3C7-CA20B71267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18" y="800100"/>
            <a:ext cx="5608815" cy="6014050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212DA79-FF17-407A-B7FC-CDCE4444A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3510" y="863124"/>
            <a:ext cx="6147186" cy="5939275"/>
          </a:xfrm>
        </p:spPr>
        <p:txBody>
          <a:bodyPr>
            <a:normAutofit/>
          </a:bodyPr>
          <a:lstStyle/>
          <a:p>
            <a:r>
              <a:rPr lang="en-GB" b="1" dirty="0"/>
              <a:t>Design 1: Project Document with embedded array of Workers</a:t>
            </a:r>
          </a:p>
          <a:p>
            <a:pPr lvl="1"/>
            <a:r>
              <a:rPr lang="en-GB" dirty="0"/>
              <a:t>Denormalized design.</a:t>
            </a:r>
          </a:p>
          <a:p>
            <a:pPr lvl="1"/>
            <a:r>
              <a:rPr lang="en-GB" dirty="0"/>
              <a:t>Similar to a XML document.</a:t>
            </a:r>
          </a:p>
          <a:p>
            <a:pPr lvl="3"/>
            <a:endParaRPr lang="en-GB" sz="1000" dirty="0"/>
          </a:p>
          <a:p>
            <a:r>
              <a:rPr lang="en-GB" dirty="0"/>
              <a:t>1 collection </a:t>
            </a:r>
          </a:p>
          <a:p>
            <a:pPr lvl="1"/>
            <a:r>
              <a:rPr lang="en-GB" dirty="0"/>
              <a:t>Project collection contains project docs with workers info within them.</a:t>
            </a:r>
          </a:p>
          <a:p>
            <a:pPr lvl="3"/>
            <a:endParaRPr lang="en-GB" sz="1000" dirty="0"/>
          </a:p>
          <a:p>
            <a:r>
              <a:rPr lang="en-GB" dirty="0"/>
              <a:t>Identifiers</a:t>
            </a:r>
          </a:p>
          <a:p>
            <a:pPr lvl="1"/>
            <a:r>
              <a:rPr lang="en-GB" dirty="0"/>
              <a:t>Docs whose _id start with P: Projects.</a:t>
            </a:r>
          </a:p>
          <a:p>
            <a:pPr lvl="3"/>
            <a:endParaRPr lang="en-GB" sz="1000" dirty="0"/>
          </a:p>
          <a:p>
            <a:r>
              <a:rPr lang="en-GB" dirty="0"/>
              <a:t>Interrelation</a:t>
            </a:r>
          </a:p>
          <a:p>
            <a:pPr lvl="1"/>
            <a:r>
              <a:rPr lang="en-GB" dirty="0"/>
              <a:t>Workers information stored in an array embedded within the project doc.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3E0CCA-D32C-406C-BF4D-3B8DEE0C0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B458C-3622-4FDF-8CA7-83B6267620B8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62372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7BC9B-DBB3-44EF-B4B9-A00D83F2D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72" y="0"/>
            <a:ext cx="12087828" cy="800100"/>
          </a:xfrm>
        </p:spPr>
        <p:txBody>
          <a:bodyPr>
            <a:normAutofit/>
          </a:bodyPr>
          <a:lstStyle/>
          <a:p>
            <a:r>
              <a:rPr lang="en-GB" dirty="0"/>
              <a:t>MongoDB Design Example 2</a:t>
            </a:r>
            <a:r>
              <a:rPr lang="en-GB" sz="2400" dirty="0"/>
              <a:t> </a:t>
            </a:r>
            <a:r>
              <a:rPr lang="en-GB" dirty="0"/>
              <a:t>  </a:t>
            </a:r>
          </a:p>
        </p:txBody>
      </p:sp>
      <p:pic>
        <p:nvPicPr>
          <p:cNvPr id="11" name="Picture 10" descr="This is a screenshot of JSON code to illustrate the second example of the design of documents in MongoDB: Project doc with embedded array of Worker IDs.">
            <a:extLst>
              <a:ext uri="{FF2B5EF4-FFF2-40B4-BE49-F238E27FC236}">
                <a16:creationId xmlns:a16="http://schemas.microsoft.com/office/drawing/2014/main" id="{34C4850D-DB5F-4731-9BBA-F7ABE12FF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50" y="800101"/>
            <a:ext cx="5066155" cy="5978976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B077185-DD07-4B21-8BB4-FC8E4ACC1E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1205" y="765375"/>
            <a:ext cx="6767089" cy="6014050"/>
          </a:xfrm>
        </p:spPr>
        <p:txBody>
          <a:bodyPr>
            <a:normAutofit/>
          </a:bodyPr>
          <a:lstStyle/>
          <a:p>
            <a:r>
              <a:rPr lang="en-GB" b="1" dirty="0"/>
              <a:t>Design 2: </a:t>
            </a:r>
            <a:r>
              <a:rPr lang="en-GB" sz="2800" b="1" dirty="0"/>
              <a:t>Project doc with embedded array of Worker IDs</a:t>
            </a:r>
            <a:endParaRPr lang="en-GB" b="1" dirty="0"/>
          </a:p>
          <a:p>
            <a:pPr lvl="1"/>
            <a:r>
              <a:rPr lang="en-GB" dirty="0"/>
              <a:t>Denormalized design.</a:t>
            </a:r>
          </a:p>
          <a:p>
            <a:pPr lvl="3"/>
            <a:endParaRPr lang="en-GB" dirty="0"/>
          </a:p>
          <a:p>
            <a:r>
              <a:rPr lang="en-GB" dirty="0"/>
              <a:t>2 collections</a:t>
            </a:r>
          </a:p>
          <a:p>
            <a:pPr lvl="1"/>
            <a:r>
              <a:rPr lang="en-GB" dirty="0"/>
              <a:t>Project collection contains project docs.</a:t>
            </a:r>
          </a:p>
          <a:p>
            <a:pPr lvl="1"/>
            <a:r>
              <a:rPr lang="en-GB" dirty="0"/>
              <a:t>Worker collection contains worker docs</a:t>
            </a:r>
          </a:p>
          <a:p>
            <a:pPr lvl="3"/>
            <a:endParaRPr lang="en-GB" dirty="0"/>
          </a:p>
          <a:p>
            <a:r>
              <a:rPr lang="en-GB" dirty="0"/>
              <a:t>Identifiers</a:t>
            </a:r>
          </a:p>
          <a:p>
            <a:pPr lvl="1"/>
            <a:r>
              <a:rPr lang="en-GB" dirty="0"/>
              <a:t>Docs whose _id start with P: Projects.</a:t>
            </a:r>
          </a:p>
          <a:p>
            <a:pPr lvl="1"/>
            <a:r>
              <a:rPr lang="en-GB" dirty="0"/>
              <a:t>Docs whose _id start with W: Workers.</a:t>
            </a:r>
          </a:p>
          <a:p>
            <a:pPr lvl="3"/>
            <a:endParaRPr lang="en-GB" dirty="0"/>
          </a:p>
          <a:p>
            <a:r>
              <a:rPr lang="en-GB" dirty="0"/>
              <a:t>Interrelation:</a:t>
            </a:r>
          </a:p>
          <a:p>
            <a:pPr lvl="1"/>
            <a:r>
              <a:rPr lang="en-GB" dirty="0"/>
              <a:t>Worker references stored in an array embedded within the project doc.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3E0CCA-D32C-406C-BF4D-3B8DEE0C0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B458C-3622-4FDF-8CA7-83B6267620B8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94645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7BC9B-DBB3-44EF-B4B9-A00D83F2D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72" y="0"/>
            <a:ext cx="12087828" cy="800100"/>
          </a:xfrm>
        </p:spPr>
        <p:txBody>
          <a:bodyPr>
            <a:normAutofit/>
          </a:bodyPr>
          <a:lstStyle/>
          <a:p>
            <a:r>
              <a:rPr lang="en-GB" dirty="0"/>
              <a:t>MongoDB Design Example 3</a:t>
            </a:r>
          </a:p>
        </p:txBody>
      </p:sp>
      <p:pic>
        <p:nvPicPr>
          <p:cNvPr id="5" name="Picture 4" descr="This is a screenshot of JSON code to illustrate the third example of the design of documents in MongoDB: Pseudo-normalised with Multiple worker docs with different IDs to represent workers working on specific project.">
            <a:extLst>
              <a:ext uri="{FF2B5EF4-FFF2-40B4-BE49-F238E27FC236}">
                <a16:creationId xmlns:a16="http://schemas.microsoft.com/office/drawing/2014/main" id="{66577CF3-F15B-4FDE-8691-6EDF40511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097" y="800100"/>
            <a:ext cx="4605194" cy="5979325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E17D080-3073-4751-BC49-D33C2503BA6F}"/>
              </a:ext>
            </a:extLst>
          </p:cNvPr>
          <p:cNvSpPr txBox="1">
            <a:spLocks/>
          </p:cNvSpPr>
          <p:nvPr/>
        </p:nvSpPr>
        <p:spPr>
          <a:xfrm>
            <a:off x="4907667" y="765375"/>
            <a:ext cx="7160628" cy="6014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Char char="o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Design 3: “Normalized” documents</a:t>
            </a:r>
            <a:endParaRPr lang="en-GB" dirty="0"/>
          </a:p>
          <a:p>
            <a:pPr lvl="1"/>
            <a:r>
              <a:rPr lang="en-GB" dirty="0"/>
              <a:t>Pseudo-normalized design, almost like a M:M.</a:t>
            </a:r>
          </a:p>
          <a:p>
            <a:pPr lvl="3"/>
            <a:endParaRPr lang="en-GB" dirty="0"/>
          </a:p>
          <a:p>
            <a:r>
              <a:rPr lang="en-GB" dirty="0"/>
              <a:t>2 collections</a:t>
            </a:r>
          </a:p>
          <a:p>
            <a:pPr lvl="1"/>
            <a:r>
              <a:rPr lang="en-GB" dirty="0"/>
              <a:t>Project collection contains project docs.</a:t>
            </a:r>
          </a:p>
          <a:p>
            <a:pPr lvl="1"/>
            <a:r>
              <a:rPr lang="en-GB" dirty="0"/>
              <a:t>Worker collection contains worker docs.</a:t>
            </a:r>
          </a:p>
          <a:p>
            <a:pPr lvl="3"/>
            <a:endParaRPr lang="en-GB" dirty="0"/>
          </a:p>
          <a:p>
            <a:r>
              <a:rPr lang="en-GB" dirty="0"/>
              <a:t>Identifiers</a:t>
            </a:r>
          </a:p>
          <a:p>
            <a:pPr lvl="1"/>
            <a:r>
              <a:rPr lang="en-GB" dirty="0"/>
              <a:t>Docs whose _id start with P: Projects.</a:t>
            </a:r>
          </a:p>
          <a:p>
            <a:pPr lvl="1"/>
            <a:r>
              <a:rPr lang="en-GB" dirty="0"/>
              <a:t>Docs whose _id start with W: Workers.</a:t>
            </a:r>
          </a:p>
          <a:p>
            <a:pPr lvl="3"/>
            <a:endParaRPr lang="en-GB" dirty="0"/>
          </a:p>
          <a:p>
            <a:r>
              <a:rPr lang="en-GB" dirty="0"/>
              <a:t>Interrelation:</a:t>
            </a:r>
          </a:p>
          <a:p>
            <a:pPr lvl="1"/>
            <a:r>
              <a:rPr lang="en-GB" dirty="0"/>
              <a:t>Multiple worker docs with different IDs to represent workers working on specific project.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3E0CCA-D32C-406C-BF4D-3B8DEE0C0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B458C-3622-4FDF-8CA7-83B6267620B8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01630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05566-540F-4B08-824A-2BDC80397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CRUD Operations in MongoDB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3C53D-C7F9-4C9B-BCCE-38C2B39011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845" y="864972"/>
            <a:ext cx="11835089" cy="5886063"/>
          </a:xfrm>
        </p:spPr>
        <p:txBody>
          <a:bodyPr>
            <a:normAutofit/>
          </a:bodyPr>
          <a:lstStyle/>
          <a:p>
            <a:r>
              <a:rPr lang="en-GB" b="1" dirty="0"/>
              <a:t>CREATE</a:t>
            </a:r>
          </a:p>
          <a:p>
            <a:pPr lvl="1"/>
            <a:r>
              <a:rPr lang="en-GB" dirty="0"/>
              <a:t>Insert operation: 	</a:t>
            </a:r>
            <a:r>
              <a:rPr lang="en-GB" dirty="0" err="1">
                <a:latin typeface="Consolas" panose="020B0609020204030204" pitchFamily="49" charset="0"/>
              </a:rPr>
              <a:t>db.</a:t>
            </a:r>
            <a:r>
              <a:rPr lang="en-GB" i="1" dirty="0" err="1">
                <a:latin typeface="Consolas" panose="020B0609020204030204" pitchFamily="49" charset="0"/>
              </a:rPr>
              <a:t>collection_name</a:t>
            </a:r>
            <a:r>
              <a:rPr lang="en-GB" dirty="0" err="1">
                <a:latin typeface="Consolas" panose="020B0609020204030204" pitchFamily="49" charset="0"/>
              </a:rPr>
              <a:t>.insert</a:t>
            </a:r>
            <a:r>
              <a:rPr lang="en-GB" dirty="0">
                <a:latin typeface="Consolas" panose="020B0609020204030204" pitchFamily="49" charset="0"/>
              </a:rPr>
              <a:t>(</a:t>
            </a:r>
            <a:r>
              <a:rPr lang="en-GB" i="1" dirty="0">
                <a:latin typeface="Consolas" panose="020B0609020204030204" pitchFamily="49" charset="0"/>
              </a:rPr>
              <a:t>document</a:t>
            </a:r>
            <a:r>
              <a:rPr lang="en-GB" dirty="0">
                <a:latin typeface="Consolas" panose="020B0609020204030204" pitchFamily="49" charset="0"/>
              </a:rPr>
              <a:t>)</a:t>
            </a:r>
          </a:p>
          <a:p>
            <a:pPr lvl="1"/>
            <a:r>
              <a:rPr lang="en-GB" dirty="0"/>
              <a:t>Uses single docs or array of docs.</a:t>
            </a:r>
          </a:p>
          <a:p>
            <a:pPr lvl="3"/>
            <a:endParaRPr lang="en-GB" sz="800" dirty="0"/>
          </a:p>
          <a:p>
            <a:r>
              <a:rPr lang="en-GB" b="1" dirty="0"/>
              <a:t>READ</a:t>
            </a:r>
          </a:p>
          <a:p>
            <a:pPr lvl="1"/>
            <a:r>
              <a:rPr lang="en-GB" dirty="0"/>
              <a:t>Find operation: 	</a:t>
            </a:r>
            <a:r>
              <a:rPr lang="en-GB" dirty="0" err="1">
                <a:latin typeface="Consolas" panose="020B0609020204030204" pitchFamily="49" charset="0"/>
              </a:rPr>
              <a:t>db.</a:t>
            </a:r>
            <a:r>
              <a:rPr lang="en-GB" i="1" dirty="0" err="1">
                <a:latin typeface="Consolas" panose="020B0609020204030204" pitchFamily="49" charset="0"/>
              </a:rPr>
              <a:t>collection_name</a:t>
            </a:r>
            <a:r>
              <a:rPr lang="en-GB" dirty="0" err="1">
                <a:latin typeface="Consolas" panose="020B0609020204030204" pitchFamily="49" charset="0"/>
              </a:rPr>
              <a:t>.find</a:t>
            </a:r>
            <a:r>
              <a:rPr lang="en-GB" dirty="0">
                <a:latin typeface="Consolas" panose="020B0609020204030204" pitchFamily="49" charset="0"/>
              </a:rPr>
              <a:t>(</a:t>
            </a:r>
            <a:r>
              <a:rPr lang="en-GB" i="1" dirty="0">
                <a:latin typeface="Consolas" panose="020B0609020204030204" pitchFamily="49" charset="0"/>
              </a:rPr>
              <a:t>condition</a:t>
            </a:r>
            <a:r>
              <a:rPr lang="en-GB" dirty="0">
                <a:latin typeface="Consolas" panose="020B0609020204030204" pitchFamily="49" charset="0"/>
              </a:rPr>
              <a:t>)</a:t>
            </a:r>
          </a:p>
          <a:p>
            <a:pPr lvl="1"/>
            <a:r>
              <a:rPr lang="en-GB" dirty="0"/>
              <a:t>Boolean condition on docs in the collection, docs that return true are retrieved.</a:t>
            </a:r>
          </a:p>
          <a:p>
            <a:pPr lvl="3"/>
            <a:endParaRPr lang="en-GB" sz="800" dirty="0"/>
          </a:p>
          <a:p>
            <a:r>
              <a:rPr lang="en-GB" b="1" dirty="0"/>
              <a:t>UPDATE</a:t>
            </a:r>
          </a:p>
          <a:p>
            <a:pPr lvl="1"/>
            <a:r>
              <a:rPr lang="en-GB" dirty="0"/>
              <a:t>Update operation	</a:t>
            </a:r>
            <a:r>
              <a:rPr lang="en-GB" dirty="0" err="1">
                <a:latin typeface="Consolas" panose="020B0609020204030204" pitchFamily="49" charset="0"/>
              </a:rPr>
              <a:t>db.</a:t>
            </a:r>
            <a:r>
              <a:rPr lang="en-GB" i="1" dirty="0" err="1">
                <a:latin typeface="Consolas" panose="020B0609020204030204" pitchFamily="49" charset="0"/>
              </a:rPr>
              <a:t>collection</a:t>
            </a:r>
            <a:r>
              <a:rPr lang="en-GB" dirty="0" err="1">
                <a:latin typeface="Consolas" panose="020B0609020204030204" pitchFamily="49" charset="0"/>
              </a:rPr>
              <a:t>.update</a:t>
            </a:r>
            <a:r>
              <a:rPr lang="en-GB" dirty="0">
                <a:latin typeface="Consolas" panose="020B0609020204030204" pitchFamily="49" charset="0"/>
              </a:rPr>
              <a:t>(</a:t>
            </a:r>
            <a:r>
              <a:rPr lang="en-GB" i="1" dirty="0">
                <a:latin typeface="Consolas" panose="020B0609020204030204" pitchFamily="49" charset="0"/>
              </a:rPr>
              <a:t>selection</a:t>
            </a:r>
            <a:r>
              <a:rPr lang="en-GB" dirty="0">
                <a:latin typeface="Consolas" panose="020B0609020204030204" pitchFamily="49" charset="0"/>
              </a:rPr>
              <a:t>, </a:t>
            </a:r>
            <a:r>
              <a:rPr lang="en-GB" i="1" dirty="0" err="1">
                <a:latin typeface="Consolas" panose="020B0609020204030204" pitchFamily="49" charset="0"/>
              </a:rPr>
              <a:t>updated_data</a:t>
            </a:r>
            <a:r>
              <a:rPr lang="en-GB" dirty="0">
                <a:latin typeface="Consolas" panose="020B0609020204030204" pitchFamily="49" charset="0"/>
              </a:rPr>
              <a:t>)</a:t>
            </a:r>
          </a:p>
          <a:p>
            <a:pPr lvl="1"/>
            <a:r>
              <a:rPr lang="en-GB" dirty="0"/>
              <a:t>Condition to select certain documents and clause to specify the update.</a:t>
            </a:r>
          </a:p>
          <a:p>
            <a:pPr lvl="3"/>
            <a:endParaRPr lang="en-GB" sz="800" dirty="0"/>
          </a:p>
          <a:p>
            <a:r>
              <a:rPr lang="en-GB" b="1" dirty="0"/>
              <a:t>DELETE</a:t>
            </a:r>
          </a:p>
          <a:p>
            <a:pPr lvl="1"/>
            <a:r>
              <a:rPr lang="en-GB" dirty="0"/>
              <a:t>Remove operation: 	</a:t>
            </a:r>
            <a:r>
              <a:rPr lang="en-GB" dirty="0" err="1">
                <a:latin typeface="Consolas" panose="020B0609020204030204" pitchFamily="49" charset="0"/>
              </a:rPr>
              <a:t>db.</a:t>
            </a:r>
            <a:r>
              <a:rPr lang="en-GB" i="1" dirty="0" err="1">
                <a:latin typeface="Consolas" panose="020B0609020204030204" pitchFamily="49" charset="0"/>
              </a:rPr>
              <a:t>collection_name</a:t>
            </a:r>
            <a:r>
              <a:rPr lang="en-GB" dirty="0" err="1">
                <a:latin typeface="Consolas" panose="020B0609020204030204" pitchFamily="49" charset="0"/>
              </a:rPr>
              <a:t>.remove</a:t>
            </a:r>
            <a:r>
              <a:rPr lang="en-GB" dirty="0">
                <a:latin typeface="Consolas" panose="020B0609020204030204" pitchFamily="49" charset="0"/>
              </a:rPr>
              <a:t>(</a:t>
            </a:r>
            <a:r>
              <a:rPr lang="en-GB" i="1" dirty="0">
                <a:latin typeface="Consolas" panose="020B0609020204030204" pitchFamily="49" charset="0"/>
              </a:rPr>
              <a:t>condition</a:t>
            </a:r>
            <a:r>
              <a:rPr lang="en-GB" dirty="0">
                <a:latin typeface="Consolas" panose="020B0609020204030204" pitchFamily="49" charset="0"/>
              </a:rPr>
              <a:t>)</a:t>
            </a:r>
            <a:endParaRPr lang="en-GB" dirty="0"/>
          </a:p>
          <a:p>
            <a:pPr lvl="1"/>
            <a:r>
              <a:rPr lang="en-GB" dirty="0"/>
              <a:t>Boolean condition on docs in the collection, docs that return true are removed.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0E0F39-985B-4966-A39E-2C4F9646D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B458C-3622-4FDF-8CA7-83B6267620B8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06730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D014D-76EE-4BAF-B6B1-424A3E6C7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 and Essential Readings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87716-CC8C-4313-A4EB-E7FE38DFAF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Elmasri</a:t>
            </a:r>
            <a:r>
              <a:rPr lang="en-GB" dirty="0"/>
              <a:t>, R. &amp; </a:t>
            </a:r>
            <a:r>
              <a:rPr lang="en-GB" dirty="0" err="1"/>
              <a:t>Navathe</a:t>
            </a:r>
            <a:r>
              <a:rPr lang="en-GB" dirty="0"/>
              <a:t>, S. (2017). Fundamentals of Database Systems. 7</a:t>
            </a:r>
            <a:r>
              <a:rPr lang="en-GB" baseline="30000" dirty="0"/>
              <a:t>th</a:t>
            </a:r>
            <a:r>
              <a:rPr lang="en-GB" dirty="0"/>
              <a:t> Edition (Global Edition). Pearson Education. </a:t>
            </a:r>
          </a:p>
          <a:p>
            <a:endParaRPr lang="en-GB" dirty="0"/>
          </a:p>
          <a:p>
            <a:r>
              <a:rPr lang="en-GB" dirty="0"/>
              <a:t>IBM Cloud Education (2019). NoSQL Databases. Available from </a:t>
            </a:r>
            <a:r>
              <a:rPr lang="en-GB" dirty="0">
                <a:hlinkClick r:id="rId2"/>
              </a:rPr>
              <a:t>https://www.ibm.com/cloud/learn/nosql-databases</a:t>
            </a:r>
            <a:r>
              <a:rPr lang="en-GB" dirty="0"/>
              <a:t> [Accessed 30 May 2021]</a:t>
            </a:r>
          </a:p>
          <a:p>
            <a:endParaRPr lang="en-GB" dirty="0"/>
          </a:p>
          <a:p>
            <a:r>
              <a:rPr lang="en-GB" dirty="0"/>
              <a:t>MongoDB (2021). MongoDB Manual. Available from </a:t>
            </a:r>
            <a:r>
              <a:rPr lang="en-GB" dirty="0">
                <a:hlinkClick r:id="rId3"/>
              </a:rPr>
              <a:t>https://docs.mongodb.com/manual/introduction/</a:t>
            </a:r>
            <a:r>
              <a:rPr lang="en-GB" dirty="0"/>
              <a:t> [Accessed 30 May 2021]</a:t>
            </a:r>
          </a:p>
          <a:p>
            <a:r>
              <a:rPr lang="en-GB" dirty="0"/>
              <a:t>Sullivan, D. (2015). NoSQL for Mere Mortals. 1</a:t>
            </a:r>
            <a:r>
              <a:rPr lang="en-GB" baseline="30000" dirty="0"/>
              <a:t>st</a:t>
            </a:r>
            <a:r>
              <a:rPr lang="en-GB" dirty="0"/>
              <a:t> Edition. Addison-Wesley Professional.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EE81DF-FA2C-4DE2-9F33-8E7DE96E3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B458C-3622-4FDF-8CA7-83B6267620B8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26457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BD48665-44CD-4061-82F2-912A64595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125" y="0"/>
            <a:ext cx="11834813" cy="800100"/>
          </a:xfrm>
        </p:spPr>
        <p:txBody>
          <a:bodyPr>
            <a:normAutofit/>
          </a:bodyPr>
          <a:lstStyle/>
          <a:p>
            <a:r>
              <a:rPr lang="en-GB" dirty="0"/>
              <a:t>Database System</a:t>
            </a:r>
          </a:p>
        </p:txBody>
      </p:sp>
      <p:grpSp>
        <p:nvGrpSpPr>
          <p:cNvPr id="18" name="Group 17" descr="This is a diagram representing a database system with users, database applications, a DBMS and a database. ">
            <a:extLst>
              <a:ext uri="{FF2B5EF4-FFF2-40B4-BE49-F238E27FC236}">
                <a16:creationId xmlns:a16="http://schemas.microsoft.com/office/drawing/2014/main" id="{CF2CA98B-76B8-4679-9169-A318CC94A915}"/>
              </a:ext>
            </a:extLst>
          </p:cNvPr>
          <p:cNvGrpSpPr/>
          <p:nvPr/>
        </p:nvGrpSpPr>
        <p:grpSpPr>
          <a:xfrm>
            <a:off x="395537" y="908720"/>
            <a:ext cx="11730203" cy="5760639"/>
            <a:chOff x="395537" y="908720"/>
            <a:chExt cx="11730203" cy="5760639"/>
          </a:xfrm>
        </p:grpSpPr>
        <p:pic>
          <p:nvPicPr>
            <p:cNvPr id="6" name="Content Placeholder 4">
              <a:extLst>
                <a:ext uri="{FF2B5EF4-FFF2-40B4-BE49-F238E27FC236}">
                  <a16:creationId xmlns:a16="http://schemas.microsoft.com/office/drawing/2014/main" id="{A5CE7256-0297-415C-8D74-D4647AF62A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95537" y="908720"/>
              <a:ext cx="8404308" cy="57606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" name="Right Bracket 13">
              <a:extLst>
                <a:ext uri="{FF2B5EF4-FFF2-40B4-BE49-F238E27FC236}">
                  <a16:creationId xmlns:a16="http://schemas.microsoft.com/office/drawing/2014/main" id="{1B1C51D3-F495-4772-AE58-A6D59A870C54}"/>
                </a:ext>
              </a:extLst>
            </p:cNvPr>
            <p:cNvSpPr/>
            <p:nvPr/>
          </p:nvSpPr>
          <p:spPr>
            <a:xfrm>
              <a:off x="8799845" y="3957850"/>
              <a:ext cx="383912" cy="2429301"/>
            </a:xfrm>
            <a:prstGeom prst="rightBracket">
              <a:avLst/>
            </a:prstGeom>
            <a:ln w="50800">
              <a:solidFill>
                <a:srgbClr val="00B2A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Right Bracket 14">
              <a:extLst>
                <a:ext uri="{FF2B5EF4-FFF2-40B4-BE49-F238E27FC236}">
                  <a16:creationId xmlns:a16="http://schemas.microsoft.com/office/drawing/2014/main" id="{67008CE9-3A85-41F9-B7CE-0087C97E76A9}"/>
                </a:ext>
              </a:extLst>
            </p:cNvPr>
            <p:cNvSpPr/>
            <p:nvPr/>
          </p:nvSpPr>
          <p:spPr>
            <a:xfrm>
              <a:off x="8799845" y="2835969"/>
              <a:ext cx="383912" cy="953070"/>
            </a:xfrm>
            <a:prstGeom prst="rightBracket">
              <a:avLst/>
            </a:prstGeom>
            <a:ln w="50800">
              <a:solidFill>
                <a:srgbClr val="B5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00B050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4AFBB06-FC0A-42F5-AE11-C30648C11616}"/>
                </a:ext>
              </a:extLst>
            </p:cNvPr>
            <p:cNvSpPr txBox="1"/>
            <p:nvPr/>
          </p:nvSpPr>
          <p:spPr>
            <a:xfrm>
              <a:off x="9382539" y="4572000"/>
              <a:ext cx="258011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b="1" dirty="0">
                  <a:solidFill>
                    <a:srgbClr val="00B2A9"/>
                  </a:solidFill>
                </a:rPr>
                <a:t>5COSC020W</a:t>
              </a:r>
            </a:p>
            <a:p>
              <a:r>
                <a:rPr lang="en-GB" sz="2400" b="1" dirty="0">
                  <a:solidFill>
                    <a:srgbClr val="00B2A9"/>
                  </a:solidFill>
                </a:rPr>
                <a:t>DATABASE </a:t>
              </a:r>
            </a:p>
            <a:p>
              <a:r>
                <a:rPr lang="en-GB" sz="2400" b="1" dirty="0">
                  <a:solidFill>
                    <a:srgbClr val="00B2A9"/>
                  </a:solidFill>
                </a:rPr>
                <a:t>SYSTEMS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88AE953-B7AA-4BD2-8964-467B3F9D80D2}"/>
                </a:ext>
              </a:extLst>
            </p:cNvPr>
            <p:cNvSpPr txBox="1"/>
            <p:nvPr/>
          </p:nvSpPr>
          <p:spPr>
            <a:xfrm>
              <a:off x="9382539" y="2712339"/>
              <a:ext cx="274320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dirty="0">
                  <a:solidFill>
                    <a:srgbClr val="B50000"/>
                  </a:solidFill>
                </a:rPr>
                <a:t>5COSC024W</a:t>
              </a:r>
            </a:p>
            <a:p>
              <a:r>
                <a:rPr lang="en-GB" sz="2400" dirty="0">
                  <a:solidFill>
                    <a:srgbClr val="B50000"/>
                  </a:solidFill>
                </a:rPr>
                <a:t>Server-side</a:t>
              </a:r>
            </a:p>
            <a:p>
              <a:r>
                <a:rPr lang="en-GB" sz="2400" dirty="0">
                  <a:solidFill>
                    <a:srgbClr val="B50000"/>
                  </a:solidFill>
                </a:rPr>
                <a:t>Web Development</a:t>
              </a:r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470726-96AC-46C6-B588-6607E85F9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B458C-3622-4FDF-8CA7-83B6267620B8}" type="slidenum">
              <a:rPr lang="en-GB" smtClean="0"/>
              <a:t>18</a:t>
            </a:fld>
            <a:endParaRPr lang="en-GB"/>
          </a:p>
        </p:txBody>
      </p:sp>
      <p:grpSp>
        <p:nvGrpSpPr>
          <p:cNvPr id="10" name="Group 9" descr="This is a diagram representing a database system with users, database applications, a DBMS and a database. ">
            <a:extLst>
              <a:ext uri="{FF2B5EF4-FFF2-40B4-BE49-F238E27FC236}">
                <a16:creationId xmlns:a16="http://schemas.microsoft.com/office/drawing/2014/main" id="{4C07E66B-B932-44DB-A326-72EDFFF44E37}"/>
              </a:ext>
            </a:extLst>
          </p:cNvPr>
          <p:cNvGrpSpPr/>
          <p:nvPr/>
        </p:nvGrpSpPr>
        <p:grpSpPr>
          <a:xfrm>
            <a:off x="390493" y="908720"/>
            <a:ext cx="11730203" cy="5760639"/>
            <a:chOff x="395537" y="908720"/>
            <a:chExt cx="11730203" cy="5760639"/>
          </a:xfrm>
        </p:grpSpPr>
        <p:pic>
          <p:nvPicPr>
            <p:cNvPr id="11" name="Content Placeholder 4">
              <a:extLst>
                <a:ext uri="{FF2B5EF4-FFF2-40B4-BE49-F238E27FC236}">
                  <a16:creationId xmlns:a16="http://schemas.microsoft.com/office/drawing/2014/main" id="{77B8D224-A2C5-4E7E-8339-ACE1507E10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95537" y="908720"/>
              <a:ext cx="8404308" cy="57606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" name="Right Bracket 11">
              <a:extLst>
                <a:ext uri="{FF2B5EF4-FFF2-40B4-BE49-F238E27FC236}">
                  <a16:creationId xmlns:a16="http://schemas.microsoft.com/office/drawing/2014/main" id="{D7595187-5385-42CE-B9BF-869BDF1F9CE1}"/>
                </a:ext>
              </a:extLst>
            </p:cNvPr>
            <p:cNvSpPr/>
            <p:nvPr/>
          </p:nvSpPr>
          <p:spPr>
            <a:xfrm>
              <a:off x="8799845" y="3957850"/>
              <a:ext cx="383912" cy="2429301"/>
            </a:xfrm>
            <a:prstGeom prst="rightBracket">
              <a:avLst/>
            </a:prstGeom>
            <a:ln w="50800">
              <a:solidFill>
                <a:srgbClr val="00B2A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ight Bracket 12">
              <a:extLst>
                <a:ext uri="{FF2B5EF4-FFF2-40B4-BE49-F238E27FC236}">
                  <a16:creationId xmlns:a16="http://schemas.microsoft.com/office/drawing/2014/main" id="{ACAC17E0-C1D5-413F-B57C-EB0BF4E0B729}"/>
                </a:ext>
              </a:extLst>
            </p:cNvPr>
            <p:cNvSpPr/>
            <p:nvPr/>
          </p:nvSpPr>
          <p:spPr>
            <a:xfrm>
              <a:off x="8799845" y="2835969"/>
              <a:ext cx="383912" cy="953070"/>
            </a:xfrm>
            <a:prstGeom prst="rightBracket">
              <a:avLst/>
            </a:prstGeom>
            <a:ln w="50800">
              <a:solidFill>
                <a:srgbClr val="B5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00B050"/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CB2CC62-5581-49DF-ABE3-650A029BCA5E}"/>
                </a:ext>
              </a:extLst>
            </p:cNvPr>
            <p:cNvSpPr txBox="1"/>
            <p:nvPr/>
          </p:nvSpPr>
          <p:spPr>
            <a:xfrm>
              <a:off x="9382539" y="4572000"/>
              <a:ext cx="258011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b="1" dirty="0">
                  <a:solidFill>
                    <a:srgbClr val="00B2A9"/>
                  </a:solidFill>
                </a:rPr>
                <a:t>5COSC020W</a:t>
              </a:r>
            </a:p>
            <a:p>
              <a:r>
                <a:rPr lang="en-GB" sz="2400" b="1" dirty="0">
                  <a:solidFill>
                    <a:srgbClr val="00B2A9"/>
                  </a:solidFill>
                </a:rPr>
                <a:t>DATABASE </a:t>
              </a:r>
            </a:p>
            <a:p>
              <a:r>
                <a:rPr lang="en-GB" sz="2400" b="1" dirty="0">
                  <a:solidFill>
                    <a:srgbClr val="00B2A9"/>
                  </a:solidFill>
                </a:rPr>
                <a:t>SYSTEMS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0739B0E-28F4-4A30-9705-06EDD8FC9DE8}"/>
                </a:ext>
              </a:extLst>
            </p:cNvPr>
            <p:cNvSpPr txBox="1"/>
            <p:nvPr/>
          </p:nvSpPr>
          <p:spPr>
            <a:xfrm>
              <a:off x="9382539" y="2712339"/>
              <a:ext cx="274320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dirty="0">
                  <a:solidFill>
                    <a:srgbClr val="B50000"/>
                  </a:solidFill>
                </a:rPr>
                <a:t>5COSC024W</a:t>
              </a:r>
            </a:p>
            <a:p>
              <a:r>
                <a:rPr lang="en-GB" sz="2400" dirty="0">
                  <a:solidFill>
                    <a:srgbClr val="B50000"/>
                  </a:solidFill>
                </a:rPr>
                <a:t>Server-side</a:t>
              </a:r>
            </a:p>
            <a:p>
              <a:r>
                <a:rPr lang="en-GB" sz="2400" dirty="0">
                  <a:solidFill>
                    <a:srgbClr val="B50000"/>
                  </a:solidFill>
                </a:rPr>
                <a:t>Web Development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29916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1_5COSC020W_LECT_TEMPLATE" id="{F71C250F-6254-464A-833A-F0B5257B4D92}" vid="{9ECB937A-785A-4ED3-8EA4-7C71BFBAC98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21_5COSC020W_LECT_TEMPLATE</Template>
  <TotalTime>2063</TotalTime>
  <Words>1725</Words>
  <Application>Microsoft Office PowerPoint</Application>
  <PresentationFormat>Widescreen</PresentationFormat>
  <Paragraphs>254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Consolas</vt:lpstr>
      <vt:lpstr>Courier New</vt:lpstr>
      <vt:lpstr>Wingdings</vt:lpstr>
      <vt:lpstr>Office Theme</vt:lpstr>
      <vt:lpstr>5COSC020W DATABASE SYSTEMS – LECTURE 11</vt:lpstr>
      <vt:lpstr>Lecture 11 – Outline </vt:lpstr>
      <vt:lpstr>Classifying DBMSs based on Data Models (Recap)</vt:lpstr>
      <vt:lpstr>The NoSQL Database Paradigm</vt:lpstr>
      <vt:lpstr>Need for an alternative to the relational model</vt:lpstr>
      <vt:lpstr>Motivations for NoSQL Databases</vt:lpstr>
      <vt:lpstr>Distributed Databases</vt:lpstr>
      <vt:lpstr>Features of NoSQL DBMSs (related to Distributed Databases)</vt:lpstr>
      <vt:lpstr>Features of NoSQL DBMSs (Data Models &amp; Query Languages)</vt:lpstr>
      <vt:lpstr>Document-Based or Document-Oriented NoSQL DBMSs</vt:lpstr>
      <vt:lpstr>JSON – JavaScript Object Notation</vt:lpstr>
      <vt:lpstr>MongoDB – a Document-Based DBMS</vt:lpstr>
      <vt:lpstr>MongoDB Design Example 1</vt:lpstr>
      <vt:lpstr>MongoDB Design Example 2   </vt:lpstr>
      <vt:lpstr>MongoDB Design Example 3</vt:lpstr>
      <vt:lpstr>CRUD Operations in MongoDB</vt:lpstr>
      <vt:lpstr>References and Essential Readings</vt:lpstr>
      <vt:lpstr>Database System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Francois Roubert</dc:creator>
  <cp:lastModifiedBy>Francois Roubert</cp:lastModifiedBy>
  <cp:revision>107</cp:revision>
  <dcterms:created xsi:type="dcterms:W3CDTF">2021-07-28T19:02:41Z</dcterms:created>
  <dcterms:modified xsi:type="dcterms:W3CDTF">2021-12-12T15:44:45Z</dcterms:modified>
</cp:coreProperties>
</file>