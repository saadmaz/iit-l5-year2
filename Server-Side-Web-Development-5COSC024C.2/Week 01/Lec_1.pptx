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notesMasterIdLst>
    <p:notesMasterId r:id="rId34"/>
  </p:notesMasterIdLst>
  <p:sldIdLst>
    <p:sldId id="256" r:id="rId2"/>
    <p:sldId id="257" r:id="rId3"/>
    <p:sldId id="265" r:id="rId4"/>
    <p:sldId id="285" r:id="rId5"/>
    <p:sldId id="258" r:id="rId6"/>
    <p:sldId id="283" r:id="rId7"/>
    <p:sldId id="259" r:id="rId8"/>
    <p:sldId id="282" r:id="rId9"/>
    <p:sldId id="261" r:id="rId10"/>
    <p:sldId id="262" r:id="rId11"/>
    <p:sldId id="298" r:id="rId12"/>
    <p:sldId id="266" r:id="rId13"/>
    <p:sldId id="267" r:id="rId14"/>
    <p:sldId id="286" r:id="rId15"/>
    <p:sldId id="292" r:id="rId16"/>
    <p:sldId id="296" r:id="rId17"/>
    <p:sldId id="297" r:id="rId18"/>
    <p:sldId id="287" r:id="rId19"/>
    <p:sldId id="291" r:id="rId20"/>
    <p:sldId id="289" r:id="rId21"/>
    <p:sldId id="288" r:id="rId22"/>
    <p:sldId id="268" r:id="rId23"/>
    <p:sldId id="269" r:id="rId24"/>
    <p:sldId id="270" r:id="rId25"/>
    <p:sldId id="271" r:id="rId26"/>
    <p:sldId id="275" r:id="rId27"/>
    <p:sldId id="293" r:id="rId28"/>
    <p:sldId id="294" r:id="rId29"/>
    <p:sldId id="295" r:id="rId30"/>
    <p:sldId id="276" r:id="rId31"/>
    <p:sldId id="278" r:id="rId32"/>
    <p:sldId id="279"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66"/>
    <a:srgbClr val="FF66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70" autoAdjust="0"/>
    <p:restoredTop sz="86931" autoAdjust="0"/>
  </p:normalViewPr>
  <p:slideViewPr>
    <p:cSldViewPr snapToGrid="0">
      <p:cViewPr varScale="1">
        <p:scale>
          <a:sx n="100" d="100"/>
          <a:sy n="100" d="100"/>
        </p:scale>
        <p:origin x="1500"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691058-F08F-4E3F-BF09-EB1568BC12FE}" type="datetimeFigureOut">
              <a:rPr lang="en-US" smtClean="0"/>
              <a:t>1/24/2022</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81747-FE28-454E-8C2E-FECB8FEDEA74}" type="slidenum">
              <a:rPr lang="en-US" smtClean="0"/>
              <a:t>‹#›</a:t>
            </a:fld>
            <a:endParaRPr lang="en-US" dirty="0"/>
          </a:p>
        </p:txBody>
      </p:sp>
    </p:spTree>
    <p:extLst>
      <p:ext uri="{BB962C8B-B14F-4D97-AF65-F5344CB8AC3E}">
        <p14:creationId xmlns:p14="http://schemas.microsoft.com/office/powerpoint/2010/main" val="2349075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php.net/manual/en/refs.basic.text.php"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3A475BC-0875-4BA8-B6F3-6F413F0AB292}" type="slidenum">
              <a:rPr lang="en-US" altLang="en-US" smtClean="0">
                <a:latin typeface="Arial" panose="020B0604020202020204" pitchFamily="34" charset="0"/>
              </a:rPr>
              <a:pPr>
                <a:spcBef>
                  <a:spcPct val="0"/>
                </a:spcBef>
              </a:pPr>
              <a:t>3</a:t>
            </a:fld>
            <a:endParaRPr lang="en-US" altLang="en-US" dirty="0">
              <a:latin typeface="Arial" panose="020B0604020202020204" pitchFamily="34" charset="0"/>
            </a:endParaRPr>
          </a:p>
        </p:txBody>
      </p:sp>
      <p:sp>
        <p:nvSpPr>
          <p:cNvPr id="2560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buFont typeface="Arial" panose="020B0604020202020204" pitchFamily="34" charset="0"/>
              <a:buChar char="•"/>
            </a:pPr>
            <a:r>
              <a:rPr lang="en-GB" altLang="en-US" dirty="0">
                <a:latin typeface="Arial" panose="020B0604020202020204" pitchFamily="34" charset="0"/>
              </a:rPr>
              <a:t>HTML</a:t>
            </a:r>
          </a:p>
          <a:p>
            <a:pPr marL="171450" indent="-171450" eaLnBrk="1" hangingPunct="1">
              <a:buFont typeface="Arial" panose="020B0604020202020204" pitchFamily="34" charset="0"/>
              <a:buChar char="•"/>
            </a:pPr>
            <a:r>
              <a:rPr lang="en-GB" altLang="en-US" dirty="0">
                <a:latin typeface="Arial" panose="020B0604020202020204" pitchFamily="34" charset="0"/>
              </a:rPr>
              <a:t>CSS</a:t>
            </a:r>
          </a:p>
          <a:p>
            <a:pPr marL="171450" indent="-171450" eaLnBrk="1" hangingPunct="1">
              <a:buFont typeface="Arial" panose="020B0604020202020204" pitchFamily="34" charset="0"/>
              <a:buChar char="•"/>
            </a:pPr>
            <a:r>
              <a:rPr lang="en-GB" altLang="en-US" dirty="0">
                <a:latin typeface="Arial" panose="020B0604020202020204" pitchFamily="34" charset="0"/>
              </a:rPr>
              <a:t>SQL</a:t>
            </a:r>
          </a:p>
        </p:txBody>
      </p:sp>
    </p:spTree>
    <p:extLst>
      <p:ext uri="{BB962C8B-B14F-4D97-AF65-F5344CB8AC3E}">
        <p14:creationId xmlns:p14="http://schemas.microsoft.com/office/powerpoint/2010/main" val="3572460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Exact</a:t>
            </a:r>
            <a:r>
              <a:rPr lang="en-GB" baseline="0" dirty="0"/>
              <a:t> dates will be announced, most likely falling on the lecture date/time slots (both written tests)</a:t>
            </a:r>
            <a:endParaRPr lang="en-GB" dirty="0"/>
          </a:p>
        </p:txBody>
      </p:sp>
      <p:sp>
        <p:nvSpPr>
          <p:cNvPr id="4" name="Slide Number Placeholder 3"/>
          <p:cNvSpPr>
            <a:spLocks noGrp="1"/>
          </p:cNvSpPr>
          <p:nvPr>
            <p:ph type="sldNum" sz="quarter" idx="10"/>
          </p:nvPr>
        </p:nvSpPr>
        <p:spPr/>
        <p:txBody>
          <a:bodyPr/>
          <a:lstStyle/>
          <a:p>
            <a:fld id="{7A781747-FE28-454E-8C2E-FECB8FEDEA74}" type="slidenum">
              <a:rPr lang="en-US" smtClean="0"/>
              <a:t>6</a:t>
            </a:fld>
            <a:endParaRPr lang="en-US" dirty="0"/>
          </a:p>
        </p:txBody>
      </p:sp>
    </p:spTree>
    <p:extLst>
      <p:ext uri="{BB962C8B-B14F-4D97-AF65-F5344CB8AC3E}">
        <p14:creationId xmlns:p14="http://schemas.microsoft.com/office/powerpoint/2010/main" val="1743283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itchFamily="34" charset="0"/>
              <a:buNone/>
            </a:pPr>
            <a:r>
              <a:rPr lang="en-GB" b="1" u="sng" dirty="0"/>
              <a:t>Web Technologies</a:t>
            </a:r>
            <a:r>
              <a:rPr lang="en-GB" b="1" u="none" dirty="0"/>
              <a:t> </a:t>
            </a:r>
            <a:r>
              <a:rPr lang="en-GB" i="1" u="none" dirty="0"/>
              <a:t>(</a:t>
            </a:r>
            <a:r>
              <a:rPr lang="en-US" sz="1050" b="0" i="1" kern="1200" dirty="0">
                <a:solidFill>
                  <a:schemeClr val="tx1"/>
                </a:solidFill>
                <a:effectLst/>
                <a:latin typeface="+mn-lt"/>
                <a:ea typeface="+mn-ea"/>
                <a:cs typeface="+mn-cs"/>
              </a:rPr>
              <a:t>general term referring to the many languages, multimedia packages, frameworks that are used in conjunction with one another, to produce dynamic websites</a:t>
            </a:r>
            <a:r>
              <a:rPr lang="en-GB" i="1" u="none" dirty="0"/>
              <a:t>)</a:t>
            </a:r>
          </a:p>
          <a:p>
            <a:pPr marL="171450" indent="-171450">
              <a:buFont typeface="Arial" pitchFamily="34" charset="0"/>
              <a:buChar char="•"/>
            </a:pPr>
            <a:r>
              <a:rPr lang="en-GB" dirty="0"/>
              <a:t>Php – </a:t>
            </a:r>
            <a:r>
              <a:rPr lang="en-GB" i="1" dirty="0"/>
              <a:t>old,</a:t>
            </a:r>
            <a:r>
              <a:rPr lang="en-GB" i="1" baseline="0" dirty="0"/>
              <a:t> but timeless</a:t>
            </a:r>
            <a:endParaRPr lang="en-GB" dirty="0"/>
          </a:p>
          <a:p>
            <a:pPr marL="171450" indent="-171450">
              <a:buFont typeface="Arial" pitchFamily="34" charset="0"/>
              <a:buChar char="•"/>
            </a:pPr>
            <a:r>
              <a:rPr lang="en-GB" b="1" dirty="0"/>
              <a:t>Django</a:t>
            </a:r>
            <a:r>
              <a:rPr lang="en-GB" dirty="0"/>
              <a:t> – </a:t>
            </a:r>
            <a:r>
              <a:rPr lang="en-GB" i="1" dirty="0"/>
              <a:t>python based (but python</a:t>
            </a:r>
            <a:r>
              <a:rPr lang="en-GB" i="1" baseline="0" dirty="0"/>
              <a:t> is not for web, popular for data mining, etc.</a:t>
            </a:r>
            <a:r>
              <a:rPr lang="en-GB" i="1" dirty="0"/>
              <a:t>)</a:t>
            </a:r>
            <a:endParaRPr lang="en-GB" dirty="0"/>
          </a:p>
          <a:p>
            <a:pPr marL="171450" indent="-171450">
              <a:buFont typeface="Arial" pitchFamily="34" charset="0"/>
              <a:buChar char="•"/>
            </a:pPr>
            <a:r>
              <a:rPr lang="en-GB" b="1" dirty="0"/>
              <a:t>Angular JS </a:t>
            </a:r>
            <a:r>
              <a:rPr lang="en-GB" dirty="0"/>
              <a:t>– </a:t>
            </a:r>
            <a:r>
              <a:rPr lang="en-GB" i="1" dirty="0"/>
              <a:t>javascript based</a:t>
            </a:r>
            <a:endParaRPr lang="en-GB" dirty="0"/>
          </a:p>
          <a:p>
            <a:pPr marL="171450" indent="-171450">
              <a:buFont typeface="Arial" pitchFamily="34" charset="0"/>
              <a:buChar char="•"/>
            </a:pPr>
            <a:r>
              <a:rPr lang="en-GB" dirty="0"/>
              <a:t>Ruby on Rails</a:t>
            </a:r>
          </a:p>
          <a:p>
            <a:pPr marL="171450" indent="-171450">
              <a:buFont typeface="Arial" pitchFamily="34" charset="0"/>
              <a:buChar char="•"/>
            </a:pPr>
            <a:r>
              <a:rPr lang="en-GB" dirty="0"/>
              <a:t>jQuery – </a:t>
            </a:r>
            <a:r>
              <a:rPr lang="en-GB" i="1" dirty="0"/>
              <a:t>js based</a:t>
            </a:r>
            <a:r>
              <a:rPr lang="en-GB" i="1" baseline="0" dirty="0"/>
              <a:t> for Ajax</a:t>
            </a:r>
            <a:endParaRPr lang="en-GB" i="0" baseline="0" dirty="0"/>
          </a:p>
          <a:p>
            <a:pPr marL="171450" indent="-171450">
              <a:buFont typeface="Arial" pitchFamily="34" charset="0"/>
              <a:buChar char="•"/>
            </a:pPr>
            <a:r>
              <a:rPr lang="en-GB" dirty="0"/>
              <a:t>Bootstrap</a:t>
            </a:r>
            <a:r>
              <a:rPr lang="en-GB" baseline="0" dirty="0"/>
              <a:t> – </a:t>
            </a:r>
            <a:r>
              <a:rPr lang="en-GB" i="1" baseline="0" dirty="0"/>
              <a:t>for CSS/UI</a:t>
            </a:r>
            <a:endParaRPr lang="en-GB" i="0" baseline="0" dirty="0"/>
          </a:p>
          <a:p>
            <a:pPr marL="171450" indent="-171450">
              <a:buFont typeface="Arial" pitchFamily="34" charset="0"/>
              <a:buChar char="•"/>
            </a:pPr>
            <a:r>
              <a:rPr lang="en-GB" i="0" baseline="0" dirty="0"/>
              <a:t>NodeJS</a:t>
            </a:r>
          </a:p>
          <a:p>
            <a:pPr marL="171450" indent="-171450">
              <a:buFont typeface="Arial" pitchFamily="34" charset="0"/>
              <a:buChar char="•"/>
            </a:pPr>
            <a:r>
              <a:rPr lang="en-GB" i="0" baseline="0" dirty="0"/>
              <a:t>MongoDb – </a:t>
            </a:r>
            <a:r>
              <a:rPr lang="en-GB" i="1" baseline="0" dirty="0"/>
              <a:t>db</a:t>
            </a:r>
          </a:p>
          <a:p>
            <a:pPr marL="171450" indent="-171450">
              <a:buFont typeface="Arial" pitchFamily="34" charset="0"/>
              <a:buChar char="•"/>
            </a:pPr>
            <a:endParaRPr lang="en-GB" i="1" baseline="0" dirty="0"/>
          </a:p>
          <a:p>
            <a:pPr marL="0" indent="0">
              <a:buFont typeface="Arial" pitchFamily="34" charset="0"/>
              <a:buNone/>
            </a:pPr>
            <a:r>
              <a:rPr lang="en-GB" b="1" i="0" baseline="0" dirty="0"/>
              <a:t>Popular PHP websites </a:t>
            </a:r>
            <a:r>
              <a:rPr lang="en-GB" b="0" i="0" baseline="0" dirty="0"/>
              <a:t> - </a:t>
            </a:r>
            <a:r>
              <a:rPr lang="en-GB" b="0" i="1" baseline="0" dirty="0"/>
              <a:t>refer next 2 slides</a:t>
            </a:r>
            <a:endParaRPr lang="en-GB" b="1" i="0" baseline="0" dirty="0"/>
          </a:p>
          <a:p>
            <a:pPr marL="0" indent="0">
              <a:buFont typeface="Arial" pitchFamily="34" charset="0"/>
              <a:buNone/>
            </a:pPr>
            <a:r>
              <a:rPr lang="en-GB" b="1" i="0" baseline="0" dirty="0"/>
              <a:t>Web Trends</a:t>
            </a:r>
            <a:r>
              <a:rPr lang="en-GB" b="0" i="0" baseline="0" dirty="0"/>
              <a:t> – Cloud Computing, Virtualisation, IaaS (Infrastructure as a Service), SaaS (Software as a service, storage as a service), PaaS (Platform as a Service)</a:t>
            </a:r>
            <a:endParaRPr lang="en-GB" b="1" i="0" dirty="0"/>
          </a:p>
        </p:txBody>
      </p:sp>
      <p:sp>
        <p:nvSpPr>
          <p:cNvPr id="4" name="Slide Number Placeholder 3"/>
          <p:cNvSpPr>
            <a:spLocks noGrp="1"/>
          </p:cNvSpPr>
          <p:nvPr>
            <p:ph type="sldNum" sz="quarter" idx="10"/>
          </p:nvPr>
        </p:nvSpPr>
        <p:spPr/>
        <p:txBody>
          <a:bodyPr/>
          <a:lstStyle/>
          <a:p>
            <a:fld id="{7A781747-FE28-454E-8C2E-FECB8FEDEA74}" type="slidenum">
              <a:rPr lang="en-US" smtClean="0"/>
              <a:t>15</a:t>
            </a:fld>
            <a:endParaRPr lang="en-US" dirty="0"/>
          </a:p>
        </p:txBody>
      </p:sp>
    </p:spTree>
    <p:extLst>
      <p:ext uri="{BB962C8B-B14F-4D97-AF65-F5344CB8AC3E}">
        <p14:creationId xmlns:p14="http://schemas.microsoft.com/office/powerpoint/2010/main" val="28200135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itchFamily="34" charset="0"/>
              <a:buNone/>
            </a:pPr>
            <a:r>
              <a:rPr lang="en-GB" b="1" i="0" baseline="0" dirty="0"/>
              <a:t>Popular PHP websites  - </a:t>
            </a:r>
            <a:r>
              <a:rPr lang="en-GB" b="0" i="1" baseline="0" dirty="0"/>
              <a:t>refer next slide</a:t>
            </a:r>
            <a:endParaRPr lang="en-GB" b="0" i="0" baseline="0" dirty="0"/>
          </a:p>
          <a:p>
            <a:pPr marL="171450" indent="-171450">
              <a:buFont typeface="Arial" pitchFamily="34" charset="0"/>
              <a:buChar char="•"/>
            </a:pPr>
            <a:endParaRPr lang="en-GB" b="1" i="0" baseline="0" dirty="0"/>
          </a:p>
        </p:txBody>
      </p:sp>
      <p:sp>
        <p:nvSpPr>
          <p:cNvPr id="4" name="Slide Number Placeholder 3"/>
          <p:cNvSpPr>
            <a:spLocks noGrp="1"/>
          </p:cNvSpPr>
          <p:nvPr>
            <p:ph type="sldNum" sz="quarter" idx="10"/>
          </p:nvPr>
        </p:nvSpPr>
        <p:spPr/>
        <p:txBody>
          <a:bodyPr/>
          <a:lstStyle/>
          <a:p>
            <a:fld id="{7A781747-FE28-454E-8C2E-FECB8FEDEA74}" type="slidenum">
              <a:rPr lang="en-US" smtClean="0"/>
              <a:t>16</a:t>
            </a:fld>
            <a:endParaRPr lang="en-US" dirty="0"/>
          </a:p>
        </p:txBody>
      </p:sp>
    </p:spTree>
    <p:extLst>
      <p:ext uri="{BB962C8B-B14F-4D97-AF65-F5344CB8AC3E}">
        <p14:creationId xmlns:p14="http://schemas.microsoft.com/office/powerpoint/2010/main" val="678115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itchFamily="34" charset="0"/>
              <a:buNone/>
            </a:pPr>
            <a:r>
              <a:rPr lang="en-GB" b="1" i="0" u="sng" baseline="0" dirty="0"/>
              <a:t>Popular PHP websites</a:t>
            </a:r>
            <a:r>
              <a:rPr lang="en-GB" b="1" i="0" baseline="0" dirty="0"/>
              <a:t> - </a:t>
            </a:r>
            <a:r>
              <a:rPr lang="en-GB" b="0" i="0" baseline="0" dirty="0"/>
              <a:t>https://w3techs.com/technologies/details/pl-php/all/all </a:t>
            </a:r>
          </a:p>
          <a:p>
            <a:pPr marL="171450" indent="-171450">
              <a:buFont typeface="Arial" pitchFamily="34" charset="0"/>
              <a:buChar char="•"/>
            </a:pPr>
            <a:r>
              <a:rPr lang="en-GB" b="0" i="0" baseline="0" dirty="0"/>
              <a:t>Facebook </a:t>
            </a:r>
          </a:p>
          <a:p>
            <a:pPr marL="171450" indent="-171450">
              <a:buFont typeface="Arial" pitchFamily="34" charset="0"/>
              <a:buChar char="•"/>
            </a:pPr>
            <a:r>
              <a:rPr lang="en-GB" b="0" i="0" baseline="0" dirty="0"/>
              <a:t>Wikipedia</a:t>
            </a:r>
          </a:p>
          <a:p>
            <a:pPr marL="171450" indent="-171450">
              <a:buFont typeface="Arial" pitchFamily="34" charset="0"/>
              <a:buChar char="•"/>
            </a:pPr>
            <a:r>
              <a:rPr lang="en-GB" b="0" i="0" baseline="0" dirty="0"/>
              <a:t>Yahoo</a:t>
            </a:r>
          </a:p>
          <a:p>
            <a:pPr marL="171450" indent="-171450">
              <a:buFont typeface="Arial" pitchFamily="34" charset="0"/>
              <a:buChar char="•"/>
            </a:pPr>
            <a:r>
              <a:rPr lang="en-GB" b="0" i="0" baseline="0" dirty="0"/>
              <a:t>WordPress</a:t>
            </a:r>
          </a:p>
          <a:p>
            <a:pPr marL="171450" indent="-171450">
              <a:buFont typeface="Arial" pitchFamily="34" charset="0"/>
              <a:buChar char="•"/>
            </a:pPr>
            <a:r>
              <a:rPr lang="en-GB" b="0" i="0" baseline="0" dirty="0"/>
              <a:t>Pinterest</a:t>
            </a:r>
          </a:p>
          <a:p>
            <a:pPr marL="171450" indent="-171450">
              <a:buFont typeface="Arial" pitchFamily="34" charset="0"/>
              <a:buChar char="•"/>
            </a:pPr>
            <a:r>
              <a:rPr lang="en-GB" b="0" i="0" baseline="0" dirty="0"/>
              <a:t>Flickr</a:t>
            </a:r>
          </a:p>
          <a:p>
            <a:pPr marL="171450" indent="-171450">
              <a:buFont typeface="Arial" pitchFamily="34" charset="0"/>
              <a:buChar char="•"/>
            </a:pPr>
            <a:r>
              <a:rPr lang="en-GB" b="0" i="0" baseline="0" dirty="0" err="1"/>
              <a:t>iStock</a:t>
            </a:r>
            <a:endParaRPr lang="en-GB" b="0" i="0" baseline="0" dirty="0"/>
          </a:p>
          <a:p>
            <a:pPr marL="171450" indent="-171450">
              <a:buFont typeface="Arial" pitchFamily="34" charset="0"/>
              <a:buChar char="•"/>
            </a:pPr>
            <a:r>
              <a:rPr lang="en-GB" b="0" i="0" baseline="0" dirty="0" err="1"/>
              <a:t>Sourceforge</a:t>
            </a:r>
            <a:endParaRPr lang="en-GB" b="0" i="0" baseline="0" dirty="0"/>
          </a:p>
          <a:p>
            <a:pPr marL="171450" indent="-171450">
              <a:buFont typeface="Arial" pitchFamily="34" charset="0"/>
              <a:buChar char="•"/>
            </a:pPr>
            <a:r>
              <a:rPr lang="en-GB" b="0" i="0" baseline="0" dirty="0" err="1"/>
              <a:t>Mailchimp</a:t>
            </a:r>
            <a:r>
              <a:rPr lang="en-GB" b="0" i="0" baseline="0" dirty="0"/>
              <a:t> 	</a:t>
            </a:r>
          </a:p>
        </p:txBody>
      </p:sp>
      <p:sp>
        <p:nvSpPr>
          <p:cNvPr id="4" name="Slide Number Placeholder 3"/>
          <p:cNvSpPr>
            <a:spLocks noGrp="1"/>
          </p:cNvSpPr>
          <p:nvPr>
            <p:ph type="sldNum" sz="quarter" idx="10"/>
          </p:nvPr>
        </p:nvSpPr>
        <p:spPr/>
        <p:txBody>
          <a:bodyPr/>
          <a:lstStyle/>
          <a:p>
            <a:fld id="{7A781747-FE28-454E-8C2E-FECB8FEDEA74}" type="slidenum">
              <a:rPr lang="en-US" smtClean="0"/>
              <a:t>17</a:t>
            </a:fld>
            <a:endParaRPr lang="en-US" dirty="0"/>
          </a:p>
        </p:txBody>
      </p:sp>
    </p:spTree>
    <p:extLst>
      <p:ext uri="{BB962C8B-B14F-4D97-AF65-F5344CB8AC3E}">
        <p14:creationId xmlns:p14="http://schemas.microsoft.com/office/powerpoint/2010/main" val="2494038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a:t>PHP (recursive acronym for </a:t>
            </a:r>
            <a:r>
              <a:rPr lang="en-US" sz="1200" b="1" i="1" dirty="0"/>
              <a:t>PHP: Hypertext Preprocessor</a:t>
            </a:r>
            <a:r>
              <a:rPr lang="en-US" sz="1200" dirty="0"/>
              <a:t>)</a:t>
            </a:r>
          </a:p>
        </p:txBody>
      </p:sp>
      <p:sp>
        <p:nvSpPr>
          <p:cNvPr id="4" name="Slide Number Placeholder 3"/>
          <p:cNvSpPr>
            <a:spLocks noGrp="1"/>
          </p:cNvSpPr>
          <p:nvPr>
            <p:ph type="sldNum" sz="quarter" idx="10"/>
          </p:nvPr>
        </p:nvSpPr>
        <p:spPr/>
        <p:txBody>
          <a:bodyPr/>
          <a:lstStyle/>
          <a:p>
            <a:fld id="{7A781747-FE28-454E-8C2E-FECB8FEDEA74}" type="slidenum">
              <a:rPr lang="en-US" smtClean="0"/>
              <a:t>18</a:t>
            </a:fld>
            <a:endParaRPr lang="en-US" dirty="0"/>
          </a:p>
        </p:txBody>
      </p:sp>
    </p:spTree>
    <p:extLst>
      <p:ext uri="{BB962C8B-B14F-4D97-AF65-F5344CB8AC3E}">
        <p14:creationId xmlns:p14="http://schemas.microsoft.com/office/powerpoint/2010/main" val="1793332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itchFamily="34" charset="0"/>
              <a:buNone/>
            </a:pPr>
            <a:r>
              <a:rPr lang="en-GB" b="0" i="0" dirty="0"/>
              <a:t>//Refer</a:t>
            </a:r>
            <a:r>
              <a:rPr lang="en-GB" b="0" i="0" baseline="0" dirty="0"/>
              <a:t> next slide for PHP uses</a:t>
            </a:r>
            <a:endParaRPr lang="en-GB" b="0" i="0" dirty="0"/>
          </a:p>
        </p:txBody>
      </p:sp>
      <p:sp>
        <p:nvSpPr>
          <p:cNvPr id="4" name="Slide Number Placeholder 3"/>
          <p:cNvSpPr>
            <a:spLocks noGrp="1"/>
          </p:cNvSpPr>
          <p:nvPr>
            <p:ph type="sldNum" sz="quarter" idx="10"/>
          </p:nvPr>
        </p:nvSpPr>
        <p:spPr/>
        <p:txBody>
          <a:bodyPr/>
          <a:lstStyle/>
          <a:p>
            <a:fld id="{7A781747-FE28-454E-8C2E-FECB8FEDEA74}" type="slidenum">
              <a:rPr lang="en-US" smtClean="0"/>
              <a:t>19</a:t>
            </a:fld>
            <a:endParaRPr lang="en-US" dirty="0"/>
          </a:p>
        </p:txBody>
      </p:sp>
    </p:spTree>
    <p:extLst>
      <p:ext uri="{BB962C8B-B14F-4D97-AF65-F5344CB8AC3E}">
        <p14:creationId xmlns:p14="http://schemas.microsoft.com/office/powerpoint/2010/main" val="2820013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GB" sz="1200" b="1" dirty="0"/>
              <a:t>Server-side scripting </a:t>
            </a:r>
            <a:r>
              <a:rPr lang="en-GB" sz="1200" dirty="0"/>
              <a:t>- 3</a:t>
            </a:r>
            <a:r>
              <a:rPr lang="en-US" sz="1200" b="0" i="0" kern="1200" dirty="0">
                <a:solidFill>
                  <a:schemeClr val="tx1"/>
                </a:solidFill>
                <a:effectLst/>
                <a:latin typeface="+mn-lt"/>
                <a:ea typeface="+mn-ea"/>
                <a:cs typeface="+mn-cs"/>
              </a:rPr>
              <a:t> things needed to make this work: the PHP parser (CGI or server module), a web server and a web browser. You need to run the web server, with a connected PHP installation. You can access the PHP program output with a web browser, viewing the PHP page through the server. </a:t>
            </a:r>
            <a:endParaRPr lang="en-GB" sz="1200" b="0" i="0" u="sng"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GB" sz="1200" b="0" i="0" u="sng" kern="1200" dirty="0">
                <a:solidFill>
                  <a:schemeClr val="tx1"/>
                </a:solidFill>
                <a:effectLst/>
                <a:latin typeface="+mn-lt"/>
                <a:ea typeface="+mn-ea"/>
                <a:cs typeface="+mn-cs"/>
              </a:rPr>
              <a:t>Other uses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b="0" i="0" kern="1200" dirty="0">
                <a:solidFill>
                  <a:schemeClr val="tx1"/>
                </a:solidFill>
                <a:effectLst/>
                <a:latin typeface="+mn-lt"/>
                <a:ea typeface="+mn-ea"/>
                <a:cs typeface="+mn-cs"/>
              </a:rPr>
              <a:t>Command line scripting</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b="0" i="0" kern="1200" dirty="0">
                <a:solidFill>
                  <a:schemeClr val="tx1"/>
                </a:solidFill>
                <a:effectLst/>
                <a:latin typeface="+mn-lt"/>
                <a:ea typeface="+mn-ea"/>
                <a:cs typeface="+mn-cs"/>
              </a:rPr>
              <a:t>Writing desktop applications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b="0" i="0" kern="1200" dirty="0">
                <a:solidFill>
                  <a:schemeClr val="tx1"/>
                </a:solidFill>
                <a:effectLst/>
                <a:latin typeface="+mn-lt"/>
                <a:ea typeface="+mn-ea"/>
                <a:cs typeface="+mn-cs"/>
              </a:rPr>
              <a:t> </a:t>
            </a:r>
            <a:r>
              <a:rPr lang="en-GB" sz="1200" b="0" i="0" u="none" strike="noStrike" kern="1200" dirty="0">
                <a:solidFill>
                  <a:schemeClr val="tx1"/>
                </a:solidFill>
                <a:effectLst/>
                <a:latin typeface="+mn-lt"/>
                <a:ea typeface="+mn-ea"/>
                <a:cs typeface="+mn-cs"/>
                <a:hlinkClick r:id="rId3"/>
              </a:rPr>
              <a:t>text processing</a:t>
            </a:r>
            <a:r>
              <a:rPr lang="en-GB" sz="1200" b="0" i="0" kern="1200" dirty="0">
                <a:solidFill>
                  <a:schemeClr val="tx1"/>
                </a:solidFill>
                <a:effectLst/>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dirty="0"/>
              <a:t>http://php.net/manual/en/intro-whatcando.php </a:t>
            </a:r>
          </a:p>
        </p:txBody>
      </p:sp>
      <p:sp>
        <p:nvSpPr>
          <p:cNvPr id="4" name="Slide Number Placeholder 3"/>
          <p:cNvSpPr>
            <a:spLocks noGrp="1"/>
          </p:cNvSpPr>
          <p:nvPr>
            <p:ph type="sldNum" sz="quarter" idx="10"/>
          </p:nvPr>
        </p:nvSpPr>
        <p:spPr/>
        <p:txBody>
          <a:bodyPr/>
          <a:lstStyle/>
          <a:p>
            <a:fld id="{7A781747-FE28-454E-8C2E-FECB8FEDEA74}" type="slidenum">
              <a:rPr lang="en-US" smtClean="0"/>
              <a:t>20</a:t>
            </a:fld>
            <a:endParaRPr lang="en-US" dirty="0"/>
          </a:p>
        </p:txBody>
      </p:sp>
    </p:spTree>
    <p:extLst>
      <p:ext uri="{BB962C8B-B14F-4D97-AF65-F5344CB8AC3E}">
        <p14:creationId xmlns:p14="http://schemas.microsoft.com/office/powerpoint/2010/main" val="17933327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a:t>&lt;?php</a:t>
            </a:r>
            <a:r>
              <a:rPr lang="en-US" sz="1200" baseline="0" dirty="0"/>
              <a:t>  ?&gt; is the standard tag</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1" baseline="0" dirty="0"/>
              <a:t>Other alternatives</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aseline="0" dirty="0"/>
              <a:t>&lt;?  ?&gt;</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aseline="0" dirty="0"/>
              <a:t>&lt;script language=“php”&gt; &lt;/script&gt;</a:t>
            </a:r>
          </a:p>
        </p:txBody>
      </p:sp>
      <p:sp>
        <p:nvSpPr>
          <p:cNvPr id="4" name="Slide Number Placeholder 3"/>
          <p:cNvSpPr>
            <a:spLocks noGrp="1"/>
          </p:cNvSpPr>
          <p:nvPr>
            <p:ph type="sldNum" sz="quarter" idx="10"/>
          </p:nvPr>
        </p:nvSpPr>
        <p:spPr/>
        <p:txBody>
          <a:bodyPr/>
          <a:lstStyle/>
          <a:p>
            <a:fld id="{7A781747-FE28-454E-8C2E-FECB8FEDEA74}" type="slidenum">
              <a:rPr lang="en-US" smtClean="0"/>
              <a:t>21</a:t>
            </a:fld>
            <a:endParaRPr lang="en-US" dirty="0"/>
          </a:p>
        </p:txBody>
      </p:sp>
    </p:spTree>
    <p:extLst>
      <p:ext uri="{BB962C8B-B14F-4D97-AF65-F5344CB8AC3E}">
        <p14:creationId xmlns:p14="http://schemas.microsoft.com/office/powerpoint/2010/main" val="17933327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itchFamily="34" charset="0"/>
              <a:buNone/>
            </a:pPr>
            <a:endParaRPr lang="en-GB" b="1" i="0" dirty="0"/>
          </a:p>
        </p:txBody>
      </p:sp>
      <p:sp>
        <p:nvSpPr>
          <p:cNvPr id="4" name="Slide Number Placeholder 3"/>
          <p:cNvSpPr>
            <a:spLocks noGrp="1"/>
          </p:cNvSpPr>
          <p:nvPr>
            <p:ph type="sldNum" sz="quarter" idx="10"/>
          </p:nvPr>
        </p:nvSpPr>
        <p:spPr/>
        <p:txBody>
          <a:bodyPr/>
          <a:lstStyle/>
          <a:p>
            <a:fld id="{7A781747-FE28-454E-8C2E-FECB8FEDEA74}" type="slidenum">
              <a:rPr lang="en-US" smtClean="0"/>
              <a:t>27</a:t>
            </a:fld>
            <a:endParaRPr lang="en-US" dirty="0"/>
          </a:p>
        </p:txBody>
      </p:sp>
    </p:spTree>
    <p:extLst>
      <p:ext uri="{BB962C8B-B14F-4D97-AF65-F5344CB8AC3E}">
        <p14:creationId xmlns:p14="http://schemas.microsoft.com/office/powerpoint/2010/main" val="2820013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itchFamily="34" charset="0"/>
              <a:buNone/>
            </a:pPr>
            <a:endParaRPr lang="en-GB" b="1" i="0" dirty="0"/>
          </a:p>
        </p:txBody>
      </p:sp>
      <p:sp>
        <p:nvSpPr>
          <p:cNvPr id="4" name="Slide Number Placeholder 3"/>
          <p:cNvSpPr>
            <a:spLocks noGrp="1"/>
          </p:cNvSpPr>
          <p:nvPr>
            <p:ph type="sldNum" sz="quarter" idx="10"/>
          </p:nvPr>
        </p:nvSpPr>
        <p:spPr/>
        <p:txBody>
          <a:bodyPr/>
          <a:lstStyle/>
          <a:p>
            <a:fld id="{7A781747-FE28-454E-8C2E-FECB8FEDEA74}" type="slidenum">
              <a:rPr lang="en-US" smtClean="0"/>
              <a:t>28</a:t>
            </a:fld>
            <a:endParaRPr lang="en-US" dirty="0"/>
          </a:p>
        </p:txBody>
      </p:sp>
    </p:spTree>
    <p:extLst>
      <p:ext uri="{BB962C8B-B14F-4D97-AF65-F5344CB8AC3E}">
        <p14:creationId xmlns:p14="http://schemas.microsoft.com/office/powerpoint/2010/main" val="2820013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4954BE60-998D-4155-8697-AA6C6F916A2F}" type="datetime1">
              <a:rPr lang="en-US" smtClean="0"/>
              <a:t>1/24/2022</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32239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DBC133-2372-4BD9-8F45-55B417573FFE}" type="datetime1">
              <a:rPr lang="en-US" smtClean="0"/>
              <a:t>1/24/2022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034115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33745958-F042-42C7-923C-03B85825BD8A}" type="datetime1">
              <a:rPr lang="en-US" smtClean="0"/>
              <a:t>1/24/2022</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21568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01E09B-CF74-4A32-98B3-29B72E6659C1}" type="datetime1">
              <a:rPr lang="en-US" smtClean="0"/>
              <a:t>1/24/2022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98728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3FC827-107A-4988-95E2-5B4281E05EA9}" type="datetime1">
              <a:rPr lang="en-US" smtClean="0"/>
              <a:t>1/24/2022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83343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7631D5-B183-4988-A8A5-92D13990EAFF}" type="datetime1">
              <a:rPr lang="en-US" smtClean="0"/>
              <a:t>1/24/2022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12865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18FF03-F68B-4DAB-A0E1-9F16DDD474F5}" type="datetime1">
              <a:rPr lang="en-US" smtClean="0"/>
              <a:t>1/24/2022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93735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AA80080A-0717-414F-A282-D3D3FB6E430F}" type="datetime1">
              <a:rPr lang="en-US" smtClean="0"/>
              <a:t>1/24/2022</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4539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376B7A-2EE0-4B0B-B526-93A47177687F}" type="datetime1">
              <a:rPr lang="en-US" smtClean="0"/>
              <a:t>1/24/2022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57267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FEBC30-3BC3-489F-B75B-C72172376228}" type="datetime1">
              <a:rPr lang="en-US" smtClean="0"/>
              <a:t>1/24/2022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16096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fld id="{DA347C4A-A682-4678-A96A-0BBA55FB4F2A}" type="datetime1">
              <a:rPr lang="en-US" smtClean="0"/>
              <a:t>1/24/2022</a:t>
            </a:fld>
            <a:endParaRPr lang="en-US" dirty="0"/>
          </a:p>
        </p:txBody>
      </p:sp>
      <p:sp>
        <p:nvSpPr>
          <p:cNvPr id="5" name="Footer Placeholder 4"/>
          <p:cNvSpPr>
            <a:spLocks noGrp="1"/>
          </p:cNvSpPr>
          <p:nvPr>
            <p:ph type="ftr" sz="quarter" idx="11"/>
          </p:nvPr>
        </p:nvSpPr>
        <p:spPr>
          <a:xfrm>
            <a:off x="581192" y="5951810"/>
            <a:ext cx="5922209" cy="365125"/>
          </a:xfrm>
        </p:spPr>
        <p:txBody>
          <a:body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69166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fld id="{EF6240A4-93AC-4782-9357-A146B9E19005}" type="datetime1">
              <a:rPr lang="en-US" smtClean="0"/>
              <a:t>1/24/2022</a:t>
            </a:fld>
            <a:endParaRPr lang="en-US" dirty="0"/>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7044976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theja.p@iit.ac.lk" TargetMode="External"/><Relationship Id="rId2" Type="http://schemas.openxmlformats.org/officeDocument/2006/relationships/hyperlink" Target="mailto:jayani.a@iit.ac.lk"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www.w3schools.com/php/" TargetMode="External"/><Relationship Id="rId7" Type="http://schemas.openxmlformats.org/officeDocument/2006/relationships/image" Target="../media/image1.png"/><Relationship Id="rId2" Type="http://schemas.openxmlformats.org/officeDocument/2006/relationships/hyperlink" Target="http://php.net/manual/en/index.php" TargetMode="External"/><Relationship Id="rId1" Type="http://schemas.openxmlformats.org/officeDocument/2006/relationships/slideLayout" Target="../slideLayouts/slideLayout2.xml"/><Relationship Id="rId6" Type="http://schemas.openxmlformats.org/officeDocument/2006/relationships/hyperlink" Target="https://www.sololearn.com/Course/PHP/" TargetMode="External"/><Relationship Id="rId5" Type="http://schemas.openxmlformats.org/officeDocument/2006/relationships/hyperlink" Target="https://www.coursera.org/learn/database-applications-php" TargetMode="External"/><Relationship Id="rId10" Type="http://schemas.openxmlformats.org/officeDocument/2006/relationships/image" Target="../media/image4.jpeg"/><Relationship Id="rId4" Type="http://schemas.openxmlformats.org/officeDocument/2006/relationships/hyperlink" Target="https://www.coursera.org/learn/web-applications-php" TargetMode="External"/><Relationship Id="rId9" Type="http://schemas.openxmlformats.org/officeDocument/2006/relationships/image" Target="../media/image3.jpeg"/></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hyperlink" Target="http://www.apache.org/" TargetMode="External"/><Relationship Id="rId7" Type="http://schemas.openxmlformats.org/officeDocument/2006/relationships/image" Target="../media/image17.png"/><Relationship Id="rId2" Type="http://schemas.openxmlformats.org/officeDocument/2006/relationships/hyperlink" Target="http://www.iis.net/" TargetMode="Externa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hyperlink" Target="https://glassfish.dev.java.net/" TargetMode="External"/><Relationship Id="rId4" Type="http://schemas.openxmlformats.org/officeDocument/2006/relationships/hyperlink" Target="http://tomcat.apache.org/" TargetMode="External"/><Relationship Id="rId9"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wa4e.com/software-win.php"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youtube.com/watch?v=X0_pthMQPMM" TargetMode="External"/><Relationship Id="rId2" Type="http://schemas.openxmlformats.org/officeDocument/2006/relationships/hyperlink" Target="http://edn.embarcadero.com/article/10343" TargetMode="External"/><Relationship Id="rId1" Type="http://schemas.openxmlformats.org/officeDocument/2006/relationships/slideLayout" Target="../slideLayouts/slideLayout2.xml"/><Relationship Id="rId6" Type="http://schemas.openxmlformats.org/officeDocument/2006/relationships/hyperlink" Target="https://w3techs.com/technologies/overview/programming_language/all" TargetMode="External"/><Relationship Id="rId5" Type="http://schemas.openxmlformats.org/officeDocument/2006/relationships/hyperlink" Target="http://php.net/manual/en/intro-whatis.php" TargetMode="External"/><Relationship Id="rId4" Type="http://schemas.openxmlformats.org/officeDocument/2006/relationships/hyperlink" Target="http://iips.icci.edu.iq/images/exam/Computer-Networks---A-Tanenbaum---5th-edition.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990600"/>
            <a:ext cx="8127191" cy="1504844"/>
          </a:xfrm>
        </p:spPr>
        <p:txBody>
          <a:bodyPr>
            <a:normAutofit/>
          </a:bodyPr>
          <a:lstStyle/>
          <a:p>
            <a:r>
              <a:rPr lang="en-US" dirty="0"/>
              <a:t>Server Side Web Development  </a:t>
            </a:r>
            <a:r>
              <a:rPr lang="en-US" b="1" dirty="0"/>
              <a:t>5COSC006W</a:t>
            </a:r>
            <a:endParaRPr lang="en-US" dirty="0"/>
          </a:p>
        </p:txBody>
      </p:sp>
      <p:sp>
        <p:nvSpPr>
          <p:cNvPr id="3" name="Subtitle 2"/>
          <p:cNvSpPr>
            <a:spLocks noGrp="1"/>
          </p:cNvSpPr>
          <p:nvPr>
            <p:ph type="subTitle" idx="1"/>
          </p:nvPr>
        </p:nvSpPr>
        <p:spPr>
          <a:xfrm>
            <a:off x="473616" y="2495444"/>
            <a:ext cx="7989752" cy="590321"/>
          </a:xfrm>
        </p:spPr>
        <p:txBody>
          <a:bodyPr>
            <a:normAutofit/>
          </a:bodyPr>
          <a:lstStyle/>
          <a:p>
            <a:r>
              <a:rPr lang="en-US" sz="2800" cap="none" dirty="0"/>
              <a:t>Overview to Module</a:t>
            </a:r>
          </a:p>
        </p:txBody>
      </p:sp>
      <p:sp>
        <p:nvSpPr>
          <p:cNvPr id="4" name="Slide Number Placeholder 3"/>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2123873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MODULE DETAILS</a:t>
            </a:r>
          </a:p>
        </p:txBody>
      </p:sp>
      <p:sp>
        <p:nvSpPr>
          <p:cNvPr id="3" name="Content Placeholder 2"/>
          <p:cNvSpPr>
            <a:spLocks noGrp="1"/>
          </p:cNvSpPr>
          <p:nvPr>
            <p:ph idx="1"/>
          </p:nvPr>
        </p:nvSpPr>
        <p:spPr>
          <a:xfrm>
            <a:off x="581192" y="1833866"/>
            <a:ext cx="8148740" cy="4957801"/>
          </a:xfrm>
        </p:spPr>
        <p:txBody>
          <a:bodyPr>
            <a:normAutofit/>
          </a:bodyPr>
          <a:lstStyle/>
          <a:p>
            <a:pPr>
              <a:defRPr/>
            </a:pPr>
            <a:r>
              <a:rPr lang="en-GB" altLang="en-US" sz="2400" dirty="0"/>
              <a:t>Full module title: </a:t>
            </a:r>
            <a:r>
              <a:rPr lang="en-GB" altLang="en-US" sz="2400" b="1" dirty="0"/>
              <a:t>Server-side Web Development</a:t>
            </a:r>
          </a:p>
          <a:p>
            <a:pPr>
              <a:defRPr/>
            </a:pPr>
            <a:r>
              <a:rPr lang="en-GB" altLang="en-US" sz="2400" dirty="0"/>
              <a:t>Module Code : </a:t>
            </a:r>
            <a:r>
              <a:rPr lang="en-US" altLang="en-US" sz="2400" dirty="0"/>
              <a:t>5COSC006W (UoW), </a:t>
            </a:r>
            <a:r>
              <a:rPr lang="en-US" altLang="en-US" sz="2400" b="1" dirty="0"/>
              <a:t>5COSC024C (IIT)</a:t>
            </a:r>
          </a:p>
          <a:p>
            <a:pPr>
              <a:defRPr/>
            </a:pPr>
            <a:r>
              <a:rPr lang="en-US" altLang="en-US" sz="2400" dirty="0"/>
              <a:t>Length : 1 Semester</a:t>
            </a:r>
          </a:p>
          <a:p>
            <a:pPr>
              <a:defRPr/>
            </a:pPr>
            <a:r>
              <a:rPr lang="en-US" altLang="en-US" sz="2400" dirty="0"/>
              <a:t>Lecturers</a:t>
            </a:r>
          </a:p>
          <a:p>
            <a:pPr marL="547687" lvl="2" indent="0">
              <a:buFont typeface="Arial" panose="020B0604020202020204" pitchFamily="34" charset="0"/>
              <a:buNone/>
              <a:defRPr/>
            </a:pPr>
            <a:r>
              <a:rPr lang="en-US" altLang="en-US" sz="1800" b="1" dirty="0"/>
              <a:t>Module Leader</a:t>
            </a:r>
          </a:p>
          <a:p>
            <a:pPr lvl="2">
              <a:defRPr/>
            </a:pPr>
            <a:r>
              <a:rPr lang="en-US" altLang="en-US" sz="1800" dirty="0"/>
              <a:t>Ms. </a:t>
            </a:r>
            <a:r>
              <a:rPr lang="en-US" altLang="en-US" sz="1800" dirty="0" err="1"/>
              <a:t>Jayani</a:t>
            </a:r>
            <a:r>
              <a:rPr lang="en-US" altLang="en-US" sz="1800" dirty="0"/>
              <a:t> </a:t>
            </a:r>
            <a:r>
              <a:rPr lang="en-US" altLang="en-US" sz="1800" dirty="0" err="1"/>
              <a:t>Harischandra</a:t>
            </a:r>
            <a:r>
              <a:rPr lang="en-US" altLang="en-US" sz="1800" dirty="0"/>
              <a:t>(</a:t>
            </a:r>
            <a:r>
              <a:rPr lang="en-US" altLang="en-US" sz="1800" dirty="0">
                <a:hlinkClick r:id="rId2"/>
              </a:rPr>
              <a:t>jayani.a@iit.ac.lk</a:t>
            </a:r>
            <a:r>
              <a:rPr lang="en-US" altLang="en-US" sz="1800" dirty="0"/>
              <a:t>)</a:t>
            </a:r>
          </a:p>
          <a:p>
            <a:pPr marL="547687" lvl="2" indent="0">
              <a:buFont typeface="Arial" panose="020B0604020202020204" pitchFamily="34" charset="0"/>
              <a:buNone/>
              <a:defRPr/>
            </a:pPr>
            <a:r>
              <a:rPr lang="en-US" altLang="en-US" sz="1800" b="1" dirty="0"/>
              <a:t>Module Lecturers</a:t>
            </a:r>
          </a:p>
          <a:p>
            <a:pPr lvl="2">
              <a:defRPr/>
            </a:pPr>
            <a:r>
              <a:rPr lang="en-US" altLang="en-US" sz="1800" dirty="0"/>
              <a:t>Ms.Theja Perera (</a:t>
            </a:r>
            <a:r>
              <a:rPr lang="en-US" altLang="en-US" sz="1800" dirty="0">
                <a:hlinkClick r:id="rId3"/>
              </a:rPr>
              <a:t>theja.p@iit.ac.lk</a:t>
            </a:r>
            <a:r>
              <a:rPr lang="en-US" altLang="en-US" sz="1800" dirty="0"/>
              <a:t> )</a:t>
            </a:r>
          </a:p>
          <a:p>
            <a:pPr lvl="2">
              <a:defRPr/>
            </a:pPr>
            <a:r>
              <a:rPr lang="en-US" altLang="en-US" sz="1800" dirty="0"/>
              <a:t>Mr. Isuru </a:t>
            </a:r>
            <a:r>
              <a:rPr lang="en-US" altLang="en-US" sz="1800" dirty="0" err="1"/>
              <a:t>Kariyawasam</a:t>
            </a:r>
            <a:r>
              <a:rPr lang="en-US" altLang="en-US" sz="1800" dirty="0"/>
              <a:t> (PT)	</a:t>
            </a:r>
          </a:p>
          <a:p>
            <a:pPr lvl="2">
              <a:defRPr/>
            </a:pPr>
            <a:r>
              <a:rPr lang="en-US" altLang="en-US" sz="1800" dirty="0"/>
              <a:t>Ms. </a:t>
            </a:r>
            <a:r>
              <a:rPr lang="en-US" altLang="en-US" sz="1800" dirty="0" err="1"/>
              <a:t>Pumudu</a:t>
            </a:r>
            <a:r>
              <a:rPr lang="en-US" altLang="en-US" sz="1800" dirty="0"/>
              <a:t> Fernando</a:t>
            </a:r>
          </a:p>
          <a:p>
            <a:pPr lvl="2">
              <a:defRPr/>
            </a:pPr>
            <a:r>
              <a:rPr lang="en-US" altLang="en-US" sz="1800" dirty="0"/>
              <a:t>Ms. Sachni Bambaranda </a:t>
            </a:r>
          </a:p>
        </p:txBody>
      </p:sp>
      <p:sp>
        <p:nvSpPr>
          <p:cNvPr id="4" name="Slide Number Placeholder 3"/>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3451169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58">
            <a:extLst>
              <a:ext uri="{FF2B5EF4-FFF2-40B4-BE49-F238E27FC236}">
                <a16:creationId xmlns:a16="http://schemas.microsoft.com/office/drawing/2014/main" id="{AA28555C-0B7D-45EA-A6F2-140E5D63F494}"/>
              </a:ext>
            </a:extLst>
          </p:cNvPr>
          <p:cNvSpPr txBox="1">
            <a:spLocks noChangeArrowheads="1"/>
          </p:cNvSpPr>
          <p:nvPr/>
        </p:nvSpPr>
        <p:spPr bwMode="auto">
          <a:xfrm>
            <a:off x="579219" y="686999"/>
            <a:ext cx="564154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None/>
              <a:defRPr/>
            </a:pPr>
            <a:r>
              <a:rPr lang="en-US" altLang="en-US" sz="3600" cap="all" dirty="0">
                <a:solidFill>
                  <a:schemeClr val="bg1"/>
                </a:solidFill>
                <a:latin typeface="+mj-lt"/>
                <a:ea typeface="+mj-ea"/>
                <a:cs typeface="+mj-cs"/>
              </a:rPr>
              <a:t>Module Pre-requisites, </a:t>
            </a:r>
          </a:p>
          <a:p>
            <a:pPr>
              <a:spcBef>
                <a:spcPct val="0"/>
              </a:spcBef>
              <a:buNone/>
              <a:defRPr/>
            </a:pPr>
            <a:r>
              <a:rPr lang="en-US" altLang="en-US" sz="3600" cap="all" dirty="0">
                <a:solidFill>
                  <a:schemeClr val="bg1"/>
                </a:solidFill>
                <a:latin typeface="+mj-lt"/>
                <a:ea typeface="+mj-ea"/>
                <a:cs typeface="+mj-cs"/>
              </a:rPr>
              <a:t>Co-requisites</a:t>
            </a:r>
          </a:p>
        </p:txBody>
      </p:sp>
      <p:sp>
        <p:nvSpPr>
          <p:cNvPr id="30807" name="Text Box 87">
            <a:extLst>
              <a:ext uri="{FF2B5EF4-FFF2-40B4-BE49-F238E27FC236}">
                <a16:creationId xmlns:a16="http://schemas.microsoft.com/office/drawing/2014/main" id="{98B20E11-9914-45BD-A459-0CEBCC113E45}"/>
              </a:ext>
            </a:extLst>
          </p:cNvPr>
          <p:cNvSpPr txBox="1">
            <a:spLocks noChangeArrowheads="1"/>
          </p:cNvSpPr>
          <p:nvPr/>
        </p:nvSpPr>
        <p:spPr bwMode="auto">
          <a:xfrm>
            <a:off x="1004888" y="2392363"/>
            <a:ext cx="7340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defRPr/>
            </a:pPr>
            <a:r>
              <a:rPr lang="en-US" altLang="en-US" sz="2800" b="1" dirty="0">
                <a:solidFill>
                  <a:srgbClr val="FF0000"/>
                </a:solidFill>
                <a:latin typeface="+mj-lt"/>
              </a:rPr>
              <a:t>*</a:t>
            </a:r>
            <a:r>
              <a:rPr lang="en-US" altLang="en-US" sz="2800" b="1" dirty="0">
                <a:latin typeface="+mj-lt"/>
              </a:rPr>
              <a:t>None</a:t>
            </a:r>
          </a:p>
        </p:txBody>
      </p:sp>
      <p:sp>
        <p:nvSpPr>
          <p:cNvPr id="2" name="TextBox 1">
            <a:extLst>
              <a:ext uri="{FF2B5EF4-FFF2-40B4-BE49-F238E27FC236}">
                <a16:creationId xmlns:a16="http://schemas.microsoft.com/office/drawing/2014/main" id="{27EA419D-D2AB-48CE-AF27-A131713FB40A}"/>
              </a:ext>
            </a:extLst>
          </p:cNvPr>
          <p:cNvSpPr txBox="1">
            <a:spLocks noChangeArrowheads="1"/>
          </p:cNvSpPr>
          <p:nvPr/>
        </p:nvSpPr>
        <p:spPr bwMode="auto">
          <a:xfrm>
            <a:off x="579219" y="4815936"/>
            <a:ext cx="7981457"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defRPr/>
            </a:pPr>
            <a:r>
              <a:rPr lang="en-US" altLang="en-US" sz="2400" dirty="0">
                <a:solidFill>
                  <a:srgbClr val="FF0000"/>
                </a:solidFill>
                <a:latin typeface="+mj-lt"/>
              </a:rPr>
              <a:t>*</a:t>
            </a:r>
            <a:r>
              <a:rPr lang="en-US" altLang="en-US" sz="2400" u="sng" dirty="0">
                <a:solidFill>
                  <a:srgbClr val="FF0000"/>
                </a:solidFill>
                <a:latin typeface="+mj-lt"/>
              </a:rPr>
              <a:t>Conditions apply:</a:t>
            </a:r>
          </a:p>
          <a:p>
            <a:pPr marL="342900" indent="-342900">
              <a:spcBef>
                <a:spcPct val="0"/>
              </a:spcBef>
              <a:buFont typeface="Century Gothic" panose="020B0502020202020204" pitchFamily="34" charset="0"/>
              <a:buChar char="♠"/>
              <a:defRPr/>
            </a:pPr>
            <a:r>
              <a:rPr lang="en-US" sz="2400" dirty="0"/>
              <a:t>Recap on;</a:t>
            </a:r>
          </a:p>
          <a:p>
            <a:pPr marL="1085850" lvl="1" indent="-342900">
              <a:spcBef>
                <a:spcPct val="0"/>
              </a:spcBef>
              <a:buFont typeface="Century Gothic" panose="020B0502020202020204" pitchFamily="34" charset="0"/>
              <a:buChar char="♠"/>
              <a:defRPr/>
            </a:pPr>
            <a:r>
              <a:rPr lang="en-US" sz="2000" dirty="0"/>
              <a:t>Database - SQL</a:t>
            </a:r>
          </a:p>
          <a:p>
            <a:pPr marL="1085850" lvl="1" indent="-342900">
              <a:spcBef>
                <a:spcPct val="0"/>
              </a:spcBef>
              <a:buFont typeface="Century Gothic" panose="020B0502020202020204" pitchFamily="34" charset="0"/>
              <a:buChar char="♠"/>
              <a:defRPr/>
            </a:pPr>
            <a:r>
              <a:rPr lang="en-US" sz="2000" dirty="0"/>
              <a:t>Web programming – HTML, browser scripting</a:t>
            </a:r>
            <a:endParaRPr lang="en-US" altLang="en-US" sz="2000" u="sng" dirty="0">
              <a:latin typeface="+mj-lt"/>
            </a:endParaRPr>
          </a:p>
          <a:p>
            <a:pPr marL="342900" indent="-342900">
              <a:spcBef>
                <a:spcPct val="0"/>
              </a:spcBef>
              <a:buFont typeface="Century Gothic" panose="020B0502020202020204" pitchFamily="34" charset="0"/>
              <a:buChar char="♠"/>
              <a:defRPr/>
            </a:pPr>
            <a:r>
              <a:rPr lang="en-US" altLang="en-US" sz="2400" u="sng" dirty="0">
                <a:latin typeface="+mj-lt"/>
              </a:rPr>
              <a:t>YOUR</a:t>
            </a:r>
            <a:r>
              <a:rPr lang="en-US" altLang="en-US" sz="2400" dirty="0">
                <a:latin typeface="+mj-lt"/>
              </a:rPr>
              <a:t> </a:t>
            </a:r>
            <a:r>
              <a:rPr lang="en-US" altLang="en-US" sz="2400" b="1" dirty="0">
                <a:latin typeface="+mj-lt"/>
              </a:rPr>
              <a:t>100%</a:t>
            </a:r>
            <a:r>
              <a:rPr lang="en-US" altLang="en-US" sz="2400" dirty="0">
                <a:latin typeface="+mj-lt"/>
              </a:rPr>
              <a:t> </a:t>
            </a:r>
            <a:r>
              <a:rPr lang="en-US" altLang="en-US" sz="2400" b="1" dirty="0">
                <a:latin typeface="+mj-lt"/>
              </a:rPr>
              <a:t>commitment</a:t>
            </a:r>
            <a:r>
              <a:rPr lang="en-US" altLang="en-US" sz="2400" dirty="0">
                <a:latin typeface="+mj-lt"/>
              </a:rPr>
              <a:t> </a:t>
            </a:r>
            <a:r>
              <a:rPr lang="en-US" altLang="en-US" sz="2400" dirty="0">
                <a:latin typeface="+mj-lt"/>
                <a:sym typeface="Wingdings" panose="05000000000000000000" pitchFamily="2" charset="2"/>
              </a:rPr>
              <a:t></a:t>
            </a:r>
            <a:endParaRPr lang="en-GB" altLang="en-US" sz="2400" dirty="0">
              <a:latin typeface="+mj-lt"/>
            </a:endParaRPr>
          </a:p>
        </p:txBody>
      </p:sp>
      <p:sp>
        <p:nvSpPr>
          <p:cNvPr id="3" name="Slide Number Placeholder 2"/>
          <p:cNvSpPr>
            <a:spLocks noGrp="1"/>
          </p:cNvSpPr>
          <p:nvPr>
            <p:ph type="sldNum" sz="quarter" idx="12"/>
          </p:nvPr>
        </p:nvSpPr>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9400888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80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07"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MODULE AIM</a:t>
            </a:r>
          </a:p>
        </p:txBody>
      </p:sp>
      <p:sp>
        <p:nvSpPr>
          <p:cNvPr id="3" name="Content Placeholder 2"/>
          <p:cNvSpPr>
            <a:spLocks noGrp="1"/>
          </p:cNvSpPr>
          <p:nvPr>
            <p:ph idx="1"/>
          </p:nvPr>
        </p:nvSpPr>
        <p:spPr>
          <a:xfrm>
            <a:off x="581192" y="2159879"/>
            <a:ext cx="8148740" cy="4288218"/>
          </a:xfrm>
        </p:spPr>
        <p:txBody>
          <a:bodyPr anchor="t">
            <a:normAutofit/>
          </a:bodyPr>
          <a:lstStyle/>
          <a:p>
            <a:pPr>
              <a:defRPr/>
            </a:pPr>
            <a:r>
              <a:rPr lang="en-US" altLang="en-US" sz="2800" dirty="0"/>
              <a:t>To be able to </a:t>
            </a:r>
            <a:r>
              <a:rPr lang="en-GB" altLang="en-US" sz="2800" b="1" dirty="0"/>
              <a:t>analyse</a:t>
            </a:r>
            <a:r>
              <a:rPr lang="en-US" altLang="en-US" sz="2800" dirty="0"/>
              <a:t>, </a:t>
            </a:r>
            <a:r>
              <a:rPr lang="en-US" altLang="en-US" sz="2800" b="1" dirty="0"/>
              <a:t>design</a:t>
            </a:r>
            <a:r>
              <a:rPr lang="en-US" altLang="en-US" sz="2800" dirty="0"/>
              <a:t> and </a:t>
            </a:r>
            <a:r>
              <a:rPr lang="en-US" altLang="en-US" sz="2800" b="1" dirty="0"/>
              <a:t>implement</a:t>
            </a:r>
            <a:r>
              <a:rPr lang="en-US" altLang="en-US" sz="2800" dirty="0"/>
              <a:t> </a:t>
            </a:r>
            <a:r>
              <a:rPr lang="en-US" altLang="en-US" sz="2800" i="1" dirty="0"/>
              <a:t>commercial web applications</a:t>
            </a:r>
            <a:r>
              <a:rPr lang="en-US" altLang="en-US" sz="2800" dirty="0"/>
              <a:t> from a </a:t>
            </a:r>
            <a:r>
              <a:rPr lang="en-US" altLang="en-US" sz="2800" u="sng" dirty="0"/>
              <a:t>programming and database perspective</a:t>
            </a:r>
          </a:p>
          <a:p>
            <a:pPr>
              <a:defRPr/>
            </a:pPr>
            <a:r>
              <a:rPr lang="en-US" altLang="en-US" sz="2800" dirty="0"/>
              <a:t>Using </a:t>
            </a:r>
            <a:r>
              <a:rPr lang="en-US" altLang="en-US" sz="2800" b="1" dirty="0"/>
              <a:t>PHP</a:t>
            </a:r>
            <a:r>
              <a:rPr lang="en-US" altLang="en-US" sz="2800" dirty="0"/>
              <a:t> as a </a:t>
            </a:r>
            <a:r>
              <a:rPr lang="en-US" altLang="en-US" sz="2800" b="1" dirty="0"/>
              <a:t>server-side language </a:t>
            </a:r>
            <a:r>
              <a:rPr lang="en-US" altLang="en-US" sz="2800" dirty="0"/>
              <a:t>to </a:t>
            </a:r>
            <a:r>
              <a:rPr lang="en-US" altLang="en-US" sz="2800" i="1" dirty="0"/>
              <a:t>implement high-quality functional applications </a:t>
            </a:r>
            <a:r>
              <a:rPr lang="en-US" altLang="en-US" sz="2800" dirty="0"/>
              <a:t>that appropriately </a:t>
            </a:r>
            <a:r>
              <a:rPr lang="en-GB" altLang="en-US" sz="2800" u="sng" dirty="0"/>
              <a:t>fulfil</a:t>
            </a:r>
            <a:r>
              <a:rPr lang="en-US" altLang="en-US" sz="2800" u="sng" dirty="0"/>
              <a:t> user requirements</a:t>
            </a:r>
            <a:r>
              <a:rPr lang="en-US" altLang="en-US" sz="2800" dirty="0"/>
              <a:t> </a:t>
            </a:r>
            <a:endParaRPr lang="en-US" altLang="en-US" sz="2000"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1552992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Module Learning Outcomes</a:t>
            </a:r>
          </a:p>
        </p:txBody>
      </p:sp>
      <p:sp>
        <p:nvSpPr>
          <p:cNvPr id="3" name="Content Placeholder 2"/>
          <p:cNvSpPr>
            <a:spLocks noGrp="1"/>
          </p:cNvSpPr>
          <p:nvPr>
            <p:ph idx="1"/>
          </p:nvPr>
        </p:nvSpPr>
        <p:spPr>
          <a:xfrm>
            <a:off x="84730" y="1889478"/>
            <a:ext cx="9027738" cy="4873926"/>
          </a:xfrm>
        </p:spPr>
        <p:txBody>
          <a:bodyPr>
            <a:noAutofit/>
          </a:bodyPr>
          <a:lstStyle/>
          <a:p>
            <a:pPr marL="0" indent="0">
              <a:buNone/>
            </a:pPr>
            <a:r>
              <a:rPr lang="en-US" altLang="en-US" sz="2200" b="1" dirty="0">
                <a:solidFill>
                  <a:srgbClr val="C00000"/>
                </a:solidFill>
              </a:rPr>
              <a:t>LO1</a:t>
            </a:r>
            <a:r>
              <a:rPr lang="en-US" altLang="en-US" sz="2200" dirty="0">
                <a:solidFill>
                  <a:srgbClr val="C00000"/>
                </a:solidFill>
              </a:rPr>
              <a:t>	</a:t>
            </a:r>
            <a:r>
              <a:rPr lang="en-US" altLang="en-US" sz="2200" b="1" dirty="0"/>
              <a:t>Identify</a:t>
            </a:r>
            <a:r>
              <a:rPr lang="en-US" altLang="en-US" sz="2200" dirty="0"/>
              <a:t> and </a:t>
            </a:r>
            <a:r>
              <a:rPr lang="en-US" altLang="en-US" sz="2200" b="1" dirty="0"/>
              <a:t>argue</a:t>
            </a:r>
            <a:r>
              <a:rPr lang="en-US" altLang="en-US" sz="2200" dirty="0"/>
              <a:t> </a:t>
            </a:r>
            <a:r>
              <a:rPr lang="en-US" altLang="en-US" sz="2200" u="sng" dirty="0"/>
              <a:t>merits</a:t>
            </a:r>
            <a:r>
              <a:rPr lang="en-US" altLang="en-US" sz="2200" dirty="0"/>
              <a:t> of </a:t>
            </a:r>
            <a:r>
              <a:rPr lang="en-US" altLang="en-US" sz="2200" i="1" dirty="0"/>
              <a:t>alternative methods for</a:t>
            </a:r>
            <a:r>
              <a:rPr lang="en-US" altLang="en-US" sz="2200" dirty="0"/>
              <a:t> </a:t>
            </a:r>
            <a:r>
              <a:rPr lang="en-US" altLang="en-US" sz="2200" i="1" dirty="0"/>
              <a:t>creating 				dynamic web sites		</a:t>
            </a:r>
            <a:r>
              <a:rPr lang="en-US" altLang="en-US" sz="2200" dirty="0">
                <a:solidFill>
                  <a:schemeClr val="accent2"/>
                </a:solidFill>
              </a:rPr>
              <a:t> </a:t>
            </a:r>
            <a:r>
              <a:rPr lang="en-US" altLang="en-US" sz="2200" dirty="0">
                <a:solidFill>
                  <a:srgbClr val="CC0066"/>
                </a:solidFill>
              </a:rPr>
              <a:t>[ICT-2 focus]</a:t>
            </a:r>
            <a:endParaRPr lang="en-US" altLang="en-US" sz="2200" i="1" dirty="0">
              <a:solidFill>
                <a:srgbClr val="CC0066"/>
              </a:solidFill>
            </a:endParaRPr>
          </a:p>
          <a:p>
            <a:pPr marL="0" indent="0">
              <a:buNone/>
            </a:pPr>
            <a:r>
              <a:rPr lang="en-US" altLang="en-US" sz="2200" b="1" dirty="0">
                <a:solidFill>
                  <a:srgbClr val="C00000"/>
                </a:solidFill>
              </a:rPr>
              <a:t>LO2</a:t>
            </a:r>
            <a:r>
              <a:rPr lang="en-US" altLang="en-US" sz="2200" dirty="0">
                <a:solidFill>
                  <a:srgbClr val="C00000"/>
                </a:solidFill>
              </a:rPr>
              <a:t> 	</a:t>
            </a:r>
            <a:r>
              <a:rPr lang="en-US" altLang="en-US" sz="2200" b="1" dirty="0"/>
              <a:t>Critically evaluate</a:t>
            </a:r>
            <a:r>
              <a:rPr lang="en-US" altLang="en-US" sz="2200" dirty="0"/>
              <a:t> various </a:t>
            </a:r>
            <a:r>
              <a:rPr lang="en-US" altLang="en-US" sz="2200" u="sng" dirty="0"/>
              <a:t>Web-related technologies</a:t>
            </a:r>
            <a:r>
              <a:rPr lang="en-US" altLang="en-US" sz="2200" dirty="0"/>
              <a:t> and </a:t>
            </a:r>
            <a:r>
              <a:rPr lang="en-US" altLang="en-US" sz="2200" b="1" dirty="0"/>
              <a:t>select</a:t>
            </a:r>
            <a:r>
              <a:rPr lang="en-US" altLang="en-US" sz="2200" dirty="0"/>
              <a:t> 			the 	appropriate ones </a:t>
            </a:r>
            <a:r>
              <a:rPr lang="en-US" altLang="en-US" sz="2200" u="sng" dirty="0"/>
              <a:t>to develop a functional Web application</a:t>
            </a:r>
            <a:r>
              <a:rPr lang="en-US" altLang="en-US" sz="2200" dirty="0"/>
              <a:t> to 				</a:t>
            </a:r>
            <a:r>
              <a:rPr lang="en-US" altLang="en-US" sz="2200" i="1" dirty="0"/>
              <a:t>support 	the requirements of an organization		</a:t>
            </a:r>
            <a:r>
              <a:rPr lang="en-US" altLang="en-US" sz="2200" dirty="0">
                <a:solidFill>
                  <a:schemeClr val="accent2"/>
                </a:solidFill>
              </a:rPr>
              <a:t> </a:t>
            </a:r>
            <a:r>
              <a:rPr lang="en-US" altLang="en-US" sz="2200" dirty="0">
                <a:solidFill>
                  <a:srgbClr val="CC0066"/>
                </a:solidFill>
              </a:rPr>
              <a:t>[ICT-2 focus]</a:t>
            </a:r>
            <a:endParaRPr lang="en-US" altLang="en-US" sz="2200" i="1" dirty="0">
              <a:solidFill>
                <a:srgbClr val="CC0066"/>
              </a:solidFill>
            </a:endParaRPr>
          </a:p>
          <a:p>
            <a:pPr marL="0" indent="0">
              <a:buNone/>
            </a:pPr>
            <a:r>
              <a:rPr lang="en-US" altLang="en-US" sz="2200" b="1" dirty="0">
                <a:solidFill>
                  <a:srgbClr val="C00000"/>
                </a:solidFill>
              </a:rPr>
              <a:t>LO3</a:t>
            </a:r>
            <a:r>
              <a:rPr lang="en-US" altLang="en-US" sz="2200" dirty="0">
                <a:solidFill>
                  <a:srgbClr val="C00000"/>
                </a:solidFill>
              </a:rPr>
              <a:t> 	</a:t>
            </a:r>
            <a:r>
              <a:rPr lang="en-US" altLang="en-US" sz="2200" dirty="0"/>
              <a:t>Demonstrate a detailed understanding of the </a:t>
            </a:r>
            <a:r>
              <a:rPr lang="en-US" altLang="en-US" sz="2200" b="1" dirty="0"/>
              <a:t>Design</a:t>
            </a:r>
            <a:r>
              <a:rPr lang="en-US" altLang="en-US" sz="2200" dirty="0"/>
              <a:t> and 			</a:t>
            </a:r>
            <a:r>
              <a:rPr lang="en-US" altLang="en-US" sz="2200" b="1" dirty="0"/>
              <a:t>Implementation</a:t>
            </a:r>
            <a:r>
              <a:rPr lang="en-US" altLang="en-US" sz="2200" dirty="0"/>
              <a:t> of a </a:t>
            </a:r>
            <a:r>
              <a:rPr lang="en-US" altLang="en-US" sz="2200" i="1" dirty="0"/>
              <a:t>server-side processing solutions </a:t>
            </a:r>
            <a:r>
              <a:rPr lang="en-US" altLang="en-US" sz="2200" dirty="0"/>
              <a:t>involving </a:t>
            </a:r>
            <a:r>
              <a:rPr lang="en-US" altLang="en-US" sz="2200" u="sng" dirty="0"/>
              <a:t>database </a:t>
            </a:r>
            <a:r>
              <a:rPr lang="en-US" altLang="en-US" sz="2200" dirty="0"/>
              <a:t>		</a:t>
            </a:r>
            <a:r>
              <a:rPr lang="en-US" altLang="en-US" sz="2200" u="sng" dirty="0"/>
              <a:t>access</a:t>
            </a:r>
            <a:r>
              <a:rPr lang="en-US" altLang="en-US" sz="2200" dirty="0"/>
              <a:t> (create, read, update and delete), </a:t>
            </a:r>
            <a:r>
              <a:rPr lang="en-US" altLang="en-US" sz="2200" u="sng" dirty="0"/>
              <a:t>form handling</a:t>
            </a:r>
            <a:r>
              <a:rPr lang="en-US" altLang="en-US" sz="2200" dirty="0"/>
              <a:t>, </a:t>
            </a:r>
            <a:r>
              <a:rPr lang="en-US" altLang="en-US" sz="2200" u="sng" dirty="0"/>
              <a:t>data persistence, </a:t>
            </a:r>
            <a:r>
              <a:rPr lang="en-US" altLang="en-US" sz="2200" dirty="0"/>
              <a:t>	</a:t>
            </a:r>
            <a:r>
              <a:rPr lang="en-US" altLang="en-US" sz="2200" u="sng" dirty="0"/>
              <a:t>user authentication </a:t>
            </a:r>
            <a:r>
              <a:rPr lang="en-US" altLang="en-US" sz="2200" dirty="0"/>
              <a:t>and</a:t>
            </a:r>
            <a:r>
              <a:rPr lang="en-US" altLang="en-US" sz="2200" u="sng" dirty="0"/>
              <a:t> session handling</a:t>
            </a:r>
            <a:r>
              <a:rPr lang="en-US" altLang="en-US" sz="2200" dirty="0"/>
              <a:t>		</a:t>
            </a:r>
            <a:r>
              <a:rPr lang="en-US" altLang="en-US" sz="2200" dirty="0">
                <a:solidFill>
                  <a:srgbClr val="FF6600"/>
                </a:solidFill>
              </a:rPr>
              <a:t>[ICT-1 focus]</a:t>
            </a:r>
            <a:endParaRPr lang="en-US" altLang="en-US" sz="2200" u="sng" dirty="0">
              <a:solidFill>
                <a:srgbClr val="FF6600"/>
              </a:solidFill>
            </a:endParaRPr>
          </a:p>
          <a:p>
            <a:pPr marL="0" indent="0">
              <a:buNone/>
            </a:pPr>
            <a:r>
              <a:rPr lang="en-US" altLang="en-US" sz="2200" b="1" dirty="0">
                <a:solidFill>
                  <a:srgbClr val="C00000"/>
                </a:solidFill>
              </a:rPr>
              <a:t>LO4</a:t>
            </a:r>
            <a:r>
              <a:rPr lang="en-US" altLang="en-US" sz="2200" dirty="0">
                <a:solidFill>
                  <a:srgbClr val="C00000"/>
                </a:solidFill>
              </a:rPr>
              <a:t> 	</a:t>
            </a:r>
            <a:r>
              <a:rPr lang="en-US" altLang="en-US" sz="2200" b="1" dirty="0"/>
              <a:t>Design</a:t>
            </a:r>
            <a:r>
              <a:rPr lang="en-US" altLang="en-US" sz="2200" dirty="0"/>
              <a:t> and </a:t>
            </a:r>
            <a:r>
              <a:rPr lang="en-US" altLang="en-US" sz="2200" b="1" dirty="0"/>
              <a:t>Develop</a:t>
            </a:r>
            <a:r>
              <a:rPr lang="en-US" altLang="en-US" sz="2200" dirty="0"/>
              <a:t> a </a:t>
            </a:r>
            <a:r>
              <a:rPr lang="en-US" altLang="en-US" sz="2200" u="sng" dirty="0"/>
              <a:t>user interface</a:t>
            </a:r>
            <a:r>
              <a:rPr lang="en-US" altLang="en-US" sz="2200" dirty="0"/>
              <a:t> for the Web application using</a:t>
            </a:r>
            <a:r>
              <a:rPr lang="en-US" altLang="en-US" sz="2200" i="1" dirty="0"/>
              <a:t> 		appropriate technologies		</a:t>
            </a:r>
            <a:r>
              <a:rPr lang="en-US" altLang="en-US" sz="2200" dirty="0">
                <a:solidFill>
                  <a:schemeClr val="accent2"/>
                </a:solidFill>
              </a:rPr>
              <a:t> </a:t>
            </a:r>
            <a:r>
              <a:rPr lang="en-US" altLang="en-US" sz="2200" dirty="0">
                <a:solidFill>
                  <a:srgbClr val="FF6600"/>
                </a:solidFill>
              </a:rPr>
              <a:t>[ICT-1 focus]</a:t>
            </a:r>
            <a:endParaRPr lang="en-US" altLang="en-US" sz="2200" i="1" dirty="0">
              <a:solidFill>
                <a:srgbClr val="FF6600"/>
              </a:solidFill>
            </a:endParaRPr>
          </a:p>
          <a:p>
            <a:pPr marL="0" indent="0">
              <a:buNone/>
            </a:pPr>
            <a:r>
              <a:rPr lang="en-US" altLang="en-US" sz="2200" b="1" dirty="0">
                <a:solidFill>
                  <a:srgbClr val="C00000"/>
                </a:solidFill>
              </a:rPr>
              <a:t>LO5</a:t>
            </a:r>
            <a:r>
              <a:rPr lang="en-US" altLang="en-US" sz="2200" dirty="0">
                <a:solidFill>
                  <a:srgbClr val="C00000"/>
                </a:solidFill>
              </a:rPr>
              <a:t> 	</a:t>
            </a:r>
            <a:r>
              <a:rPr lang="en-US" altLang="en-US" sz="2200" dirty="0"/>
              <a:t>Carry out </a:t>
            </a:r>
            <a:r>
              <a:rPr lang="en-US" altLang="en-US" sz="2200" b="1" dirty="0"/>
              <a:t>research</a:t>
            </a:r>
            <a:r>
              <a:rPr lang="en-US" altLang="en-US" sz="2200" dirty="0"/>
              <a:t> and </a:t>
            </a:r>
            <a:r>
              <a:rPr lang="en-US" altLang="en-US" sz="2200" b="1" dirty="0"/>
              <a:t>discuss</a:t>
            </a:r>
            <a:r>
              <a:rPr lang="en-US" altLang="en-US" sz="2200" dirty="0"/>
              <a:t> </a:t>
            </a:r>
            <a:r>
              <a:rPr lang="en-US" altLang="en-US" sz="2200" u="sng" dirty="0"/>
              <a:t>issues</a:t>
            </a:r>
            <a:r>
              <a:rPr lang="en-US" altLang="en-US" sz="2200" dirty="0"/>
              <a:t> related to </a:t>
            </a:r>
            <a:r>
              <a:rPr lang="en-US" altLang="en-US" sz="2200" i="1" dirty="0"/>
              <a:t>emerging web 			application technologies</a:t>
            </a:r>
            <a:r>
              <a:rPr lang="en-US" altLang="en-US" sz="2200" dirty="0"/>
              <a:t>.		</a:t>
            </a:r>
            <a:r>
              <a:rPr lang="en-US" altLang="en-US" sz="2200" dirty="0">
                <a:solidFill>
                  <a:schemeClr val="accent2"/>
                </a:solidFill>
              </a:rPr>
              <a:t> </a:t>
            </a:r>
            <a:r>
              <a:rPr lang="en-US" altLang="en-US" sz="2200" dirty="0">
                <a:solidFill>
                  <a:srgbClr val="CC0066"/>
                </a:solidFill>
              </a:rPr>
              <a:t>[ICT-2 focus]</a:t>
            </a:r>
            <a:endParaRPr lang="en-US" altLang="en-US" sz="2200" i="1" dirty="0">
              <a:solidFill>
                <a:srgbClr val="CC0066"/>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338080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ASSESSMENT PLAN</a:t>
            </a:r>
          </a:p>
        </p:txBody>
      </p:sp>
      <p:sp>
        <p:nvSpPr>
          <p:cNvPr id="3" name="Content Placeholder 2"/>
          <p:cNvSpPr>
            <a:spLocks noGrp="1"/>
          </p:cNvSpPr>
          <p:nvPr>
            <p:ph idx="1"/>
          </p:nvPr>
        </p:nvSpPr>
        <p:spPr>
          <a:xfrm>
            <a:off x="400050" y="1984075"/>
            <a:ext cx="8743950" cy="4520242"/>
          </a:xfrm>
        </p:spPr>
        <p:txBody>
          <a:bodyPr>
            <a:noAutofit/>
          </a:bodyPr>
          <a:lstStyle/>
          <a:p>
            <a:r>
              <a:rPr lang="en-US" altLang="en-US" sz="2400" b="1" dirty="0"/>
              <a:t>Phase Test 1</a:t>
            </a:r>
            <a:r>
              <a:rPr lang="en-US" altLang="en-US" sz="2400" dirty="0"/>
              <a:t> – 50%</a:t>
            </a:r>
          </a:p>
          <a:p>
            <a:pPr marL="968375" lvl="1" indent="-304800"/>
            <a:r>
              <a:rPr lang="en-US" altLang="en-US" sz="2000" dirty="0"/>
              <a:t>Closed Exam – 1 hour</a:t>
            </a:r>
          </a:p>
          <a:p>
            <a:pPr marL="968375" lvl="1" indent="-304800"/>
            <a:r>
              <a:rPr lang="en-US" altLang="en-US" sz="2000" b="1" dirty="0"/>
              <a:t>Week 8</a:t>
            </a:r>
          </a:p>
          <a:p>
            <a:pPr marL="968375" lvl="1" indent="-304800"/>
            <a:r>
              <a:rPr lang="en-US" altLang="en-US" sz="2000" dirty="0"/>
              <a:t>LO3 &amp; LO4</a:t>
            </a:r>
          </a:p>
          <a:p>
            <a:r>
              <a:rPr lang="en-US" altLang="en-US" sz="2400" b="1" dirty="0"/>
              <a:t>Phase Test 2 </a:t>
            </a:r>
            <a:r>
              <a:rPr lang="en-US" altLang="en-US" sz="2400" dirty="0"/>
              <a:t>– 50%</a:t>
            </a:r>
          </a:p>
          <a:p>
            <a:pPr marL="968375" lvl="1" indent="-282575"/>
            <a:r>
              <a:rPr lang="en-US" altLang="en-US" sz="2000" dirty="0"/>
              <a:t>Closed Exam – 1 hour</a:t>
            </a:r>
          </a:p>
          <a:p>
            <a:pPr marL="968375" lvl="1" indent="-282575"/>
            <a:r>
              <a:rPr lang="en-US" altLang="en-US" sz="2000" b="1" dirty="0"/>
              <a:t>Week 12</a:t>
            </a:r>
          </a:p>
          <a:p>
            <a:pPr marL="968375" lvl="1" indent="-282575"/>
            <a:r>
              <a:rPr lang="en-US" altLang="en-US" sz="2000" dirty="0"/>
              <a:t>LO1, LO2 &amp; LO5</a:t>
            </a:r>
          </a:p>
          <a:p>
            <a:r>
              <a:rPr lang="en-US" altLang="en-US" sz="2400" i="1" dirty="0"/>
              <a:t>Qualifying marks for each component is 30% hence the student should achieve minimum 30/100 for each component</a:t>
            </a:r>
          </a:p>
        </p:txBody>
      </p:sp>
      <p:sp>
        <p:nvSpPr>
          <p:cNvPr id="4" name="Slide Number Placeholder 3"/>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1003505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MODULE DELIVERY</a:t>
            </a:r>
          </a:p>
        </p:txBody>
      </p:sp>
      <p:sp>
        <p:nvSpPr>
          <p:cNvPr id="3" name="Content Placeholder 2"/>
          <p:cNvSpPr>
            <a:spLocks noGrp="1"/>
          </p:cNvSpPr>
          <p:nvPr>
            <p:ph idx="1"/>
          </p:nvPr>
        </p:nvSpPr>
        <p:spPr/>
        <p:txBody>
          <a:bodyPr>
            <a:normAutofit fontScale="92500" lnSpcReduction="10000"/>
          </a:bodyPr>
          <a:lstStyle/>
          <a:p>
            <a:r>
              <a:rPr lang="en-US" altLang="en-US" sz="3600" dirty="0"/>
              <a:t>Single semester module</a:t>
            </a:r>
          </a:p>
          <a:p>
            <a:r>
              <a:rPr lang="en-US" altLang="en-US" sz="3600" b="1" dirty="0"/>
              <a:t>Lectures</a:t>
            </a:r>
            <a:r>
              <a:rPr lang="en-US" altLang="en-US" sz="3600" dirty="0"/>
              <a:t> (2 hours per week)</a:t>
            </a:r>
          </a:p>
          <a:p>
            <a:pPr marL="1025525" lvl="1" indent="-331788"/>
            <a:r>
              <a:rPr lang="en-US" altLang="en-US" sz="3200" dirty="0"/>
              <a:t>1 hour Lecture</a:t>
            </a:r>
          </a:p>
          <a:p>
            <a:pPr marL="1025525" lvl="1" indent="-331788"/>
            <a:r>
              <a:rPr lang="en-US" altLang="en-US" sz="3200" dirty="0"/>
              <a:t>1 hour Tutorial in-class</a:t>
            </a:r>
          </a:p>
          <a:p>
            <a:r>
              <a:rPr lang="en-US" altLang="en-US" sz="3600" b="1" dirty="0"/>
              <a:t>Tutorials</a:t>
            </a:r>
            <a:r>
              <a:rPr lang="en-US" altLang="en-US" sz="3600" dirty="0"/>
              <a:t> (2 hours per week)</a:t>
            </a:r>
          </a:p>
          <a:p>
            <a:pPr marL="1087438" lvl="1" indent="-393700"/>
            <a:r>
              <a:rPr lang="en-US" altLang="en-US" sz="3200" dirty="0"/>
              <a:t>2 hours Tutorial in-lab</a:t>
            </a:r>
          </a:p>
        </p:txBody>
      </p:sp>
      <p:sp>
        <p:nvSpPr>
          <p:cNvPr id="4" name="Slide Number Placeholder 3"/>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2635059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MODULE CONTENT</a:t>
            </a:r>
          </a:p>
        </p:txBody>
      </p:sp>
      <p:sp>
        <p:nvSpPr>
          <p:cNvPr id="3" name="Content Placeholder 2"/>
          <p:cNvSpPr>
            <a:spLocks noGrp="1"/>
          </p:cNvSpPr>
          <p:nvPr>
            <p:ph idx="1"/>
          </p:nvPr>
        </p:nvSpPr>
        <p:spPr>
          <a:xfrm>
            <a:off x="581193" y="2013386"/>
            <a:ext cx="7989752" cy="4552949"/>
          </a:xfrm>
        </p:spPr>
        <p:txBody>
          <a:bodyPr>
            <a:noAutofit/>
          </a:bodyPr>
          <a:lstStyle/>
          <a:p>
            <a:pPr fontAlgn="t"/>
            <a:r>
              <a:rPr lang="en-US" sz="2400" b="1" dirty="0"/>
              <a:t>Introduction to PHP &amp; Web-related Technologies</a:t>
            </a:r>
          </a:p>
          <a:p>
            <a:pPr fontAlgn="t"/>
            <a:r>
              <a:rPr lang="en-US" sz="2400" b="1" dirty="0"/>
              <a:t>HTML, CSS, PHP variables, control constructs</a:t>
            </a:r>
          </a:p>
          <a:p>
            <a:pPr fontAlgn="t"/>
            <a:r>
              <a:rPr lang="en-US" sz="2400" b="1" dirty="0"/>
              <a:t>GET POST methods</a:t>
            </a:r>
          </a:p>
          <a:p>
            <a:pPr fontAlgn="t"/>
            <a:r>
              <a:rPr lang="en-US" sz="2400" b="1" dirty="0"/>
              <a:t>Session Variables and Loops</a:t>
            </a:r>
          </a:p>
          <a:p>
            <a:pPr fontAlgn="t"/>
            <a:r>
              <a:rPr lang="en-US" sz="2400" b="1" dirty="0"/>
              <a:t>Embedded SQL, DB connections in PHP</a:t>
            </a:r>
          </a:p>
          <a:p>
            <a:pPr fontAlgn="t"/>
            <a:r>
              <a:rPr lang="en-US" sz="2400" b="1" dirty="0"/>
              <a:t>CRUD operations</a:t>
            </a:r>
          </a:p>
          <a:p>
            <a:pPr fontAlgn="t"/>
            <a:r>
              <a:rPr lang="en-US" sz="2400" b="1" dirty="0"/>
              <a:t>Error Handling</a:t>
            </a:r>
          </a:p>
          <a:p>
            <a:pPr fontAlgn="t"/>
            <a:r>
              <a:rPr lang="en-US" sz="2400" b="1" dirty="0"/>
              <a:t>Embed SQL and Date Functions</a:t>
            </a:r>
          </a:p>
        </p:txBody>
      </p:sp>
      <p:sp>
        <p:nvSpPr>
          <p:cNvPr id="4" name="Slide Number Placeholder 3"/>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3767037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ESSENTIAL READING</a:t>
            </a:r>
          </a:p>
        </p:txBody>
      </p:sp>
      <p:sp>
        <p:nvSpPr>
          <p:cNvPr id="3" name="Content Placeholder 2"/>
          <p:cNvSpPr>
            <a:spLocks noGrp="1"/>
          </p:cNvSpPr>
          <p:nvPr>
            <p:ph idx="1"/>
          </p:nvPr>
        </p:nvSpPr>
        <p:spPr>
          <a:xfrm>
            <a:off x="581192" y="2228003"/>
            <a:ext cx="7989752" cy="4220094"/>
          </a:xfrm>
        </p:spPr>
        <p:txBody>
          <a:bodyPr>
            <a:normAutofit fontScale="92500" lnSpcReduction="20000"/>
          </a:bodyPr>
          <a:lstStyle/>
          <a:p>
            <a:r>
              <a:rPr lang="en-US" altLang="en-US" sz="2800" dirty="0"/>
              <a:t>Nixon, R. (2012). </a:t>
            </a:r>
            <a:r>
              <a:rPr lang="en-US" altLang="en-US" sz="2800" b="1" dirty="0"/>
              <a:t>Learning PHP, MySQL, JavaScript, and CSS: A Step-by-Step Guide to Creating Dynamic Websites</a:t>
            </a:r>
            <a:r>
              <a:rPr lang="en-US" altLang="en-US" sz="2800" dirty="0"/>
              <a:t>, 2nd ed. O'Reilly Media.</a:t>
            </a:r>
          </a:p>
          <a:p>
            <a:pPr marL="0" indent="0">
              <a:buNone/>
            </a:pPr>
            <a:endParaRPr lang="en-US" altLang="en-US" sz="2800" dirty="0"/>
          </a:p>
          <a:p>
            <a:r>
              <a:rPr lang="en-US" altLang="en-US" sz="2800" dirty="0"/>
              <a:t>Ullman, L (2012). </a:t>
            </a:r>
            <a:r>
              <a:rPr lang="en-US" altLang="en-US" sz="2800" b="1" dirty="0"/>
              <a:t>PHP and MySQL for Dynamic Web Sites: Visual QuickPro Guide</a:t>
            </a:r>
            <a:r>
              <a:rPr lang="en-US" altLang="en-US" sz="2800" dirty="0"/>
              <a:t>, 4th ed. Peachpit Press.</a:t>
            </a:r>
          </a:p>
          <a:p>
            <a:pPr marL="0" indent="0">
              <a:buNone/>
            </a:pPr>
            <a:endParaRPr lang="en-US" altLang="en-US" sz="2800" dirty="0"/>
          </a:p>
          <a:p>
            <a:r>
              <a:rPr lang="en-US" altLang="en-US" sz="2800" dirty="0"/>
              <a:t>Wenz, C (2013). </a:t>
            </a:r>
            <a:r>
              <a:rPr lang="en-US" altLang="en-US" sz="2800" b="1" dirty="0"/>
              <a:t>PHP and MySQL Phrasebook</a:t>
            </a:r>
            <a:r>
              <a:rPr lang="en-US" altLang="en-US" sz="2800" dirty="0"/>
              <a:t>. Addison-Wesley Professional.</a:t>
            </a:r>
          </a:p>
        </p:txBody>
      </p:sp>
      <p:sp>
        <p:nvSpPr>
          <p:cNvPr id="4" name="Slide Number Placeholder 3"/>
          <p:cNvSpPr>
            <a:spLocks noGrp="1"/>
          </p:cNvSpPr>
          <p:nvPr>
            <p:ph type="sldNum" sz="quarter" idx="12"/>
          </p:nvPr>
        </p:nvSpPr>
        <p:spPr/>
        <p:txBody>
          <a:bodyPr/>
          <a:lstStyle/>
          <a:p>
            <a:fld id="{D57F1E4F-1CFF-5643-939E-217C01CDF565}" type="slidenum">
              <a:rPr lang="en-US" smtClean="0"/>
              <a:pPr/>
              <a:t>9</a:t>
            </a:fld>
            <a:endParaRPr lang="en-US" dirty="0"/>
          </a:p>
        </p:txBody>
      </p:sp>
    </p:spTree>
    <p:extLst>
      <p:ext uri="{BB962C8B-B14F-4D97-AF65-F5344CB8AC3E}">
        <p14:creationId xmlns:p14="http://schemas.microsoft.com/office/powerpoint/2010/main" val="2802283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FURTHER READING</a:t>
            </a:r>
          </a:p>
        </p:txBody>
      </p:sp>
      <p:sp>
        <p:nvSpPr>
          <p:cNvPr id="3" name="Content Placeholder 2"/>
          <p:cNvSpPr>
            <a:spLocks noGrp="1"/>
          </p:cNvSpPr>
          <p:nvPr>
            <p:ph idx="1"/>
          </p:nvPr>
        </p:nvSpPr>
        <p:spPr>
          <a:xfrm>
            <a:off x="396815" y="2137275"/>
            <a:ext cx="8402127" cy="5038440"/>
          </a:xfrm>
        </p:spPr>
        <p:txBody>
          <a:bodyPr>
            <a:noAutofit/>
          </a:bodyPr>
          <a:lstStyle/>
          <a:p>
            <a:pPr>
              <a:spcBef>
                <a:spcPts val="0"/>
              </a:spcBef>
            </a:pPr>
            <a:r>
              <a:rPr lang="en-US" sz="2800" dirty="0">
                <a:solidFill>
                  <a:schemeClr val="tx1"/>
                </a:solidFill>
              </a:rPr>
              <a:t>Mendez, M. (2014), </a:t>
            </a:r>
            <a:r>
              <a:rPr lang="en-US" sz="2800" b="1" i="1" dirty="0">
                <a:solidFill>
                  <a:schemeClr val="tx1"/>
                </a:solidFill>
              </a:rPr>
              <a:t>The Missing Link: An Introduction to Web Development and Programming</a:t>
            </a:r>
            <a:r>
              <a:rPr lang="en-US" sz="2800" dirty="0">
                <a:solidFill>
                  <a:schemeClr val="tx1"/>
                </a:solidFill>
              </a:rPr>
              <a:t>,  Open SUNY Textbooks.</a:t>
            </a:r>
          </a:p>
          <a:p>
            <a:pPr marL="0" indent="0">
              <a:spcBef>
                <a:spcPts val="0"/>
              </a:spcBef>
              <a:buNone/>
            </a:pPr>
            <a:endParaRPr lang="en-US" altLang="en-US" sz="2000" dirty="0">
              <a:solidFill>
                <a:schemeClr val="tx1"/>
              </a:solidFill>
            </a:endParaRPr>
          </a:p>
          <a:p>
            <a:pPr>
              <a:spcBef>
                <a:spcPts val="0"/>
              </a:spcBef>
            </a:pPr>
            <a:r>
              <a:rPr lang="en-US" altLang="en-US" sz="2800" dirty="0" err="1">
                <a:solidFill>
                  <a:schemeClr val="tx1"/>
                </a:solidFill>
              </a:rPr>
              <a:t>Beighley</a:t>
            </a:r>
            <a:r>
              <a:rPr lang="en-US" altLang="en-US" sz="2800" dirty="0">
                <a:solidFill>
                  <a:schemeClr val="tx1"/>
                </a:solidFill>
              </a:rPr>
              <a:t>, L. &amp; Morrison, M. (2009), </a:t>
            </a:r>
            <a:r>
              <a:rPr lang="en-US" altLang="en-US" sz="2800" b="1" i="1" dirty="0">
                <a:solidFill>
                  <a:schemeClr val="tx1"/>
                </a:solidFill>
              </a:rPr>
              <a:t>Head First PHP &amp; MySQL</a:t>
            </a:r>
            <a:r>
              <a:rPr lang="en-US" altLang="en-US" sz="2800" dirty="0">
                <a:solidFill>
                  <a:schemeClr val="tx1"/>
                </a:solidFill>
              </a:rPr>
              <a:t>, O'Reilly Media.</a:t>
            </a:r>
          </a:p>
          <a:p>
            <a:pPr marL="0" indent="0">
              <a:spcBef>
                <a:spcPts val="0"/>
              </a:spcBef>
              <a:buNone/>
            </a:pPr>
            <a:endParaRPr lang="en-US" altLang="en-US" sz="2000" dirty="0">
              <a:solidFill>
                <a:schemeClr val="tx1"/>
              </a:solidFill>
            </a:endParaRPr>
          </a:p>
          <a:p>
            <a:pPr>
              <a:spcBef>
                <a:spcPts val="0"/>
              </a:spcBef>
            </a:pPr>
            <a:r>
              <a:rPr lang="en-US" altLang="en-US" sz="2800" dirty="0">
                <a:solidFill>
                  <a:schemeClr val="tx1"/>
                </a:solidFill>
              </a:rPr>
              <a:t>Beak, A. (2017), </a:t>
            </a:r>
            <a:r>
              <a:rPr lang="en-US" altLang="en-US" sz="2800" b="1" i="1" dirty="0">
                <a:solidFill>
                  <a:schemeClr val="tx1"/>
                </a:solidFill>
              </a:rPr>
              <a:t>PHP 7 </a:t>
            </a:r>
            <a:r>
              <a:rPr lang="en-US" altLang="en-US" sz="2800" b="1" i="1" dirty="0" err="1">
                <a:solidFill>
                  <a:schemeClr val="tx1"/>
                </a:solidFill>
              </a:rPr>
              <a:t>Zend</a:t>
            </a:r>
            <a:r>
              <a:rPr lang="en-US" altLang="en-US" sz="2800" b="1" i="1" dirty="0">
                <a:solidFill>
                  <a:schemeClr val="tx1"/>
                </a:solidFill>
              </a:rPr>
              <a:t> Certification Study Guide:</a:t>
            </a:r>
            <a:r>
              <a:rPr lang="en-US" altLang="en-US" sz="2800" i="1" dirty="0">
                <a:solidFill>
                  <a:schemeClr val="tx1"/>
                </a:solidFill>
              </a:rPr>
              <a:t> Ace the ZCE 2017-PHP Exam</a:t>
            </a:r>
            <a:r>
              <a:rPr lang="en-US" altLang="en-US" sz="2800" dirty="0">
                <a:solidFill>
                  <a:schemeClr val="tx1"/>
                </a:solidFill>
              </a:rPr>
              <a:t>.  </a:t>
            </a:r>
            <a:r>
              <a:rPr lang="en-US" altLang="en-US" sz="2800" dirty="0" err="1">
                <a:solidFill>
                  <a:schemeClr val="tx1"/>
                </a:solidFill>
              </a:rPr>
              <a:t>Apress</a:t>
            </a:r>
            <a:r>
              <a:rPr lang="en-US" altLang="en-US" sz="2800" dirty="0">
                <a:solidFill>
                  <a:schemeClr val="tx1"/>
                </a:solidFill>
              </a:rPr>
              <a:t>. </a:t>
            </a:r>
          </a:p>
          <a:p>
            <a:pPr marL="0" indent="0">
              <a:spcBef>
                <a:spcPts val="0"/>
              </a:spcBef>
              <a:buNone/>
            </a:pPr>
            <a:endParaRPr lang="en-US" altLang="en-US" sz="2800" dirty="0">
              <a:solidFill>
                <a:schemeClr val="tx1"/>
              </a:solidFill>
            </a:endParaRPr>
          </a:p>
          <a:p>
            <a:endParaRPr lang="en-US" altLang="en-US" sz="2800"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10</a:t>
            </a:fld>
            <a:endParaRPr lang="en-US" dirty="0"/>
          </a:p>
        </p:txBody>
      </p:sp>
    </p:spTree>
    <p:extLst>
      <p:ext uri="{BB962C8B-B14F-4D97-AF65-F5344CB8AC3E}">
        <p14:creationId xmlns:p14="http://schemas.microsoft.com/office/powerpoint/2010/main" val="3931932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References</a:t>
            </a:r>
          </a:p>
        </p:txBody>
      </p:sp>
      <p:sp>
        <p:nvSpPr>
          <p:cNvPr id="3" name="Content Placeholder 2"/>
          <p:cNvSpPr>
            <a:spLocks noGrp="1"/>
          </p:cNvSpPr>
          <p:nvPr>
            <p:ph idx="1"/>
          </p:nvPr>
        </p:nvSpPr>
        <p:spPr>
          <a:xfrm>
            <a:off x="63060" y="1932317"/>
            <a:ext cx="9002109" cy="4744528"/>
          </a:xfrm>
        </p:spPr>
        <p:txBody>
          <a:bodyPr anchor="t">
            <a:noAutofit/>
          </a:bodyPr>
          <a:lstStyle/>
          <a:p>
            <a:r>
              <a:rPr lang="en-US" altLang="en-US" sz="2400" b="1" dirty="0">
                <a:cs typeface="Arial" panose="020B0604020202020204" pitchFamily="34" charset="0"/>
              </a:rPr>
              <a:t>PHP Manual - </a:t>
            </a:r>
            <a:r>
              <a:rPr lang="en-US" altLang="en-US" sz="2400" dirty="0">
                <a:cs typeface="Arial" panose="020B0604020202020204" pitchFamily="34" charset="0"/>
                <a:hlinkClick r:id="rId2"/>
              </a:rPr>
              <a:t>http://php.net/manual/en/index.php</a:t>
            </a:r>
            <a:r>
              <a:rPr lang="en-US" altLang="en-US" sz="2400" dirty="0">
                <a:cs typeface="Arial" panose="020B0604020202020204" pitchFamily="34" charset="0"/>
              </a:rPr>
              <a:t> </a:t>
            </a:r>
          </a:p>
          <a:p>
            <a:endParaRPr lang="en-US" altLang="en-US" sz="1200" dirty="0">
              <a:cs typeface="Arial" panose="020B0604020202020204" pitchFamily="34" charset="0"/>
            </a:endParaRPr>
          </a:p>
          <a:p>
            <a:r>
              <a:rPr lang="en-US" altLang="en-US" sz="2400" dirty="0">
                <a:cs typeface="Arial" panose="020B0604020202020204" pitchFamily="34" charset="0"/>
              </a:rPr>
              <a:t>Other supporting material – Textbooks/ YouTube videos/ online material/ course material from credible sources</a:t>
            </a:r>
          </a:p>
          <a:p>
            <a:pPr lvl="1"/>
            <a:r>
              <a:rPr lang="en-US" altLang="en-US" sz="2400" b="1" dirty="0">
                <a:cs typeface="Arial" panose="020B0604020202020204" pitchFamily="34" charset="0"/>
              </a:rPr>
              <a:t>W3Schools</a:t>
            </a:r>
            <a:r>
              <a:rPr lang="en-US" altLang="en-US" sz="2400" dirty="0">
                <a:cs typeface="Arial" panose="020B0604020202020204" pitchFamily="34" charset="0"/>
              </a:rPr>
              <a:t> - </a:t>
            </a:r>
            <a:r>
              <a:rPr lang="en-US" altLang="en-US" sz="2400" dirty="0">
                <a:cs typeface="Arial" panose="020B0604020202020204" pitchFamily="34" charset="0"/>
                <a:hlinkClick r:id="rId3"/>
              </a:rPr>
              <a:t>https://www.w3schools.com/php/</a:t>
            </a:r>
            <a:r>
              <a:rPr lang="en-US" altLang="en-US" sz="2400" dirty="0">
                <a:cs typeface="Arial" panose="020B0604020202020204" pitchFamily="34" charset="0"/>
              </a:rPr>
              <a:t> </a:t>
            </a:r>
          </a:p>
          <a:p>
            <a:pPr lvl="1"/>
            <a:r>
              <a:rPr lang="en-US" altLang="en-US" sz="2400" b="1" dirty="0">
                <a:cs typeface="Arial" panose="020B0604020202020204" pitchFamily="34" charset="0"/>
              </a:rPr>
              <a:t>Coursera</a:t>
            </a:r>
            <a:r>
              <a:rPr lang="en-US" altLang="en-US" sz="2400" dirty="0">
                <a:cs typeface="Arial" panose="020B0604020202020204" pitchFamily="34" charset="0"/>
              </a:rPr>
              <a:t>: </a:t>
            </a:r>
            <a:r>
              <a:rPr lang="en-US" sz="2400" dirty="0"/>
              <a:t>Building Web Applications in PHP</a:t>
            </a:r>
          </a:p>
          <a:p>
            <a:pPr lvl="2"/>
            <a:r>
              <a:rPr lang="en-US" altLang="en-US" sz="2000" dirty="0">
                <a:cs typeface="Arial" panose="020B0604020202020204" pitchFamily="34" charset="0"/>
                <a:hlinkClick r:id="rId4"/>
              </a:rPr>
              <a:t>https://www.coursera.org/learn/web-applications-php</a:t>
            </a:r>
            <a:r>
              <a:rPr lang="en-US" altLang="en-US" sz="2000" dirty="0">
                <a:cs typeface="Arial" panose="020B0604020202020204" pitchFamily="34" charset="0"/>
              </a:rPr>
              <a:t> </a:t>
            </a:r>
          </a:p>
          <a:p>
            <a:pPr lvl="1"/>
            <a:r>
              <a:rPr lang="en-US" altLang="en-US" sz="2400" b="1" dirty="0">
                <a:cs typeface="Arial" panose="020B0604020202020204" pitchFamily="34" charset="0"/>
              </a:rPr>
              <a:t>Coursera</a:t>
            </a:r>
            <a:r>
              <a:rPr lang="en-US" altLang="en-US" sz="2400" dirty="0">
                <a:cs typeface="Arial" panose="020B0604020202020204" pitchFamily="34" charset="0"/>
              </a:rPr>
              <a:t>: </a:t>
            </a:r>
            <a:r>
              <a:rPr lang="en-US" sz="2400" dirty="0">
                <a:cs typeface="Arial" panose="020B0604020202020204" pitchFamily="34" charset="0"/>
              </a:rPr>
              <a:t>Building Database Applications in PHP</a:t>
            </a:r>
          </a:p>
          <a:p>
            <a:pPr lvl="2"/>
            <a:r>
              <a:rPr lang="en-US" altLang="en-US" sz="2000" dirty="0">
                <a:cs typeface="Arial" panose="020B0604020202020204" pitchFamily="34" charset="0"/>
                <a:hlinkClick r:id="rId5"/>
              </a:rPr>
              <a:t>https://www.coursera.org/learn/database-applications-php</a:t>
            </a:r>
            <a:r>
              <a:rPr lang="en-US" altLang="en-US" sz="2000" dirty="0">
                <a:cs typeface="Arial" panose="020B0604020202020204" pitchFamily="34" charset="0"/>
              </a:rPr>
              <a:t> </a:t>
            </a:r>
          </a:p>
          <a:p>
            <a:pPr lvl="1"/>
            <a:r>
              <a:rPr lang="en-US" altLang="en-US" sz="2400" b="1" dirty="0">
                <a:cs typeface="Arial" panose="020B0604020202020204" pitchFamily="34" charset="0"/>
              </a:rPr>
              <a:t>SoloLearn</a:t>
            </a:r>
            <a:r>
              <a:rPr lang="en-US" altLang="en-US" sz="2400" dirty="0">
                <a:cs typeface="Arial" panose="020B0604020202020204" pitchFamily="34" charset="0"/>
              </a:rPr>
              <a:t> - </a:t>
            </a:r>
            <a:r>
              <a:rPr lang="en-US" altLang="en-US" sz="2400" dirty="0">
                <a:cs typeface="Arial" panose="020B0604020202020204" pitchFamily="34" charset="0"/>
                <a:hlinkClick r:id="rId6"/>
              </a:rPr>
              <a:t>https://www.sololearn.com/Course/PHP/</a:t>
            </a:r>
            <a:r>
              <a:rPr lang="en-US" altLang="en-US" sz="2400" dirty="0">
                <a:cs typeface="Arial" panose="020B0604020202020204" pitchFamily="34" charset="0"/>
              </a:rPr>
              <a:t> </a:t>
            </a:r>
          </a:p>
        </p:txBody>
      </p:sp>
      <p:sp>
        <p:nvSpPr>
          <p:cNvPr id="4" name="Slide Number Placeholder 3"/>
          <p:cNvSpPr>
            <a:spLocks noGrp="1"/>
          </p:cNvSpPr>
          <p:nvPr>
            <p:ph type="sldNum" sz="quarter" idx="12"/>
          </p:nvPr>
        </p:nvSpPr>
        <p:spPr>
          <a:xfrm>
            <a:off x="8294701" y="6492875"/>
            <a:ext cx="770468" cy="365125"/>
          </a:xfrm>
        </p:spPr>
        <p:txBody>
          <a:bodyPr/>
          <a:lstStyle/>
          <a:p>
            <a:fld id="{D57F1E4F-1CFF-5643-939E-217C01CDF565}" type="slidenum">
              <a:rPr lang="en-US" smtClean="0"/>
              <a:pPr/>
              <a:t>11</a:t>
            </a:fld>
            <a:endParaRPr lang="en-US" dirty="0"/>
          </a:p>
        </p:txBody>
      </p:sp>
      <p:pic>
        <p:nvPicPr>
          <p:cNvPr id="1028" name="Picture 4" descr="Related imag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19013" y="3155542"/>
            <a:ext cx="1452118" cy="145211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elated imag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40706" y="4689179"/>
            <a:ext cx="930424" cy="93042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sololearn logo"/>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08807" y="5827724"/>
            <a:ext cx="924646" cy="92464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Related imag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61566" y="1903286"/>
            <a:ext cx="1294483" cy="858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4082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Let’s Get Started</a:t>
            </a:r>
          </a:p>
        </p:txBody>
      </p:sp>
      <p:sp>
        <p:nvSpPr>
          <p:cNvPr id="3" name="Content Placeholder 2"/>
          <p:cNvSpPr>
            <a:spLocks noGrp="1"/>
          </p:cNvSpPr>
          <p:nvPr>
            <p:ph idx="1"/>
          </p:nvPr>
        </p:nvSpPr>
        <p:spPr>
          <a:xfrm>
            <a:off x="581192" y="2018453"/>
            <a:ext cx="8306134" cy="3630795"/>
          </a:xfrm>
        </p:spPr>
        <p:txBody>
          <a:bodyPr anchor="t">
            <a:normAutofit/>
          </a:bodyPr>
          <a:lstStyle/>
          <a:p>
            <a:r>
              <a:rPr lang="en-US" sz="2800" dirty="0"/>
              <a:t>Introduction to PHP &amp; Server-side Web programming</a:t>
            </a:r>
          </a:p>
        </p:txBody>
      </p:sp>
      <p:pic>
        <p:nvPicPr>
          <p:cNvPr id="31746" name="Picture 2" descr="Image result for internet and related technologies wallpap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2714126"/>
            <a:ext cx="8060268" cy="453390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3000059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Introduction to PHP &amp; </a:t>
            </a:r>
            <a:br>
              <a:rPr lang="en-US" dirty="0"/>
            </a:br>
            <a:r>
              <a:rPr lang="en-US" dirty="0"/>
              <a:t>Server-side Web programming</a:t>
            </a:r>
          </a:p>
        </p:txBody>
      </p:sp>
      <p:sp>
        <p:nvSpPr>
          <p:cNvPr id="3" name="Subtitle 2"/>
          <p:cNvSpPr>
            <a:spLocks noGrp="1"/>
          </p:cNvSpPr>
          <p:nvPr>
            <p:ph type="subTitle" idx="1"/>
          </p:nvPr>
        </p:nvSpPr>
        <p:spPr/>
        <p:txBody>
          <a:bodyPr>
            <a:normAutofit/>
          </a:bodyPr>
          <a:lstStyle/>
          <a:p>
            <a:r>
              <a:rPr lang="en-US" sz="2400" dirty="0"/>
              <a:t>Server-side Web Development </a:t>
            </a:r>
            <a:r>
              <a:rPr lang="en-US" sz="2400"/>
              <a:t>- </a:t>
            </a:r>
            <a:r>
              <a:rPr lang="en-US" sz="2400" b="1"/>
              <a:t>5COSC024C</a:t>
            </a:r>
            <a:r>
              <a:rPr lang="en-US" sz="2400" b="1" dirty="0"/>
              <a:t>.2  </a:t>
            </a:r>
          </a:p>
        </p:txBody>
      </p:sp>
      <p:sp>
        <p:nvSpPr>
          <p:cNvPr id="4" name="Slide Number Placeholder 3"/>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2072567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Today’s topics</a:t>
            </a:r>
          </a:p>
        </p:txBody>
      </p:sp>
      <p:sp>
        <p:nvSpPr>
          <p:cNvPr id="3" name="Content Placeholder 2"/>
          <p:cNvSpPr>
            <a:spLocks noGrp="1"/>
          </p:cNvSpPr>
          <p:nvPr>
            <p:ph idx="1"/>
          </p:nvPr>
        </p:nvSpPr>
        <p:spPr>
          <a:xfrm>
            <a:off x="581193" y="2076450"/>
            <a:ext cx="7989752" cy="4552949"/>
          </a:xfrm>
        </p:spPr>
        <p:txBody>
          <a:bodyPr anchor="t">
            <a:noAutofit/>
          </a:bodyPr>
          <a:lstStyle/>
          <a:p>
            <a:pPr fontAlgn="t"/>
            <a:r>
              <a:rPr lang="en-US" sz="2800" dirty="0"/>
              <a:t>Web-related Technologies</a:t>
            </a:r>
          </a:p>
          <a:p>
            <a:pPr fontAlgn="t"/>
            <a:r>
              <a:rPr lang="en-US" sz="2800" dirty="0"/>
              <a:t>Why PHP</a:t>
            </a:r>
          </a:p>
          <a:p>
            <a:pPr fontAlgn="t"/>
            <a:r>
              <a:rPr lang="en-US" sz="2800" dirty="0"/>
              <a:t>Uses of PHP</a:t>
            </a:r>
          </a:p>
          <a:p>
            <a:pPr fontAlgn="t"/>
            <a:r>
              <a:rPr lang="en-US" sz="2800" dirty="0"/>
              <a:t>PHP Code Example</a:t>
            </a:r>
          </a:p>
          <a:p>
            <a:pPr fontAlgn="t"/>
            <a:r>
              <a:rPr lang="en-US" sz="2800" dirty="0"/>
              <a:t>Request/ Response cycle</a:t>
            </a:r>
          </a:p>
          <a:p>
            <a:pPr fontAlgn="t"/>
            <a:r>
              <a:rPr lang="en-US" sz="2800" dirty="0"/>
              <a:t>Web architecture </a:t>
            </a:r>
          </a:p>
        </p:txBody>
      </p:sp>
      <p:sp>
        <p:nvSpPr>
          <p:cNvPr id="4" name="Slide Number Placeholder 3"/>
          <p:cNvSpPr>
            <a:spLocks noGrp="1"/>
          </p:cNvSpPr>
          <p:nvPr>
            <p:ph type="sldNum" sz="quarter" idx="12"/>
          </p:nvPr>
        </p:nvSpPr>
        <p:spPr/>
        <p:txBody>
          <a:bodyPr/>
          <a:lstStyle/>
          <a:p>
            <a:fld id="{D57F1E4F-1CFF-5643-939E-217C01CDF565}" type="slidenum">
              <a:rPr lang="en-US" smtClean="0"/>
              <a:pPr/>
              <a:t>14</a:t>
            </a:fld>
            <a:endParaRPr lang="en-US" dirty="0"/>
          </a:p>
        </p:txBody>
      </p:sp>
    </p:spTree>
    <p:extLst>
      <p:ext uri="{BB962C8B-B14F-4D97-AF65-F5344CB8AC3E}">
        <p14:creationId xmlns:p14="http://schemas.microsoft.com/office/powerpoint/2010/main" val="3919505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Activity-TIME</a:t>
            </a:r>
          </a:p>
        </p:txBody>
      </p:sp>
      <p:sp>
        <p:nvSpPr>
          <p:cNvPr id="3" name="Content Placeholder 2"/>
          <p:cNvSpPr>
            <a:spLocks noGrp="1"/>
          </p:cNvSpPr>
          <p:nvPr>
            <p:ph idx="1"/>
          </p:nvPr>
        </p:nvSpPr>
        <p:spPr>
          <a:xfrm>
            <a:off x="536028" y="2076450"/>
            <a:ext cx="8056179" cy="4552949"/>
          </a:xfrm>
        </p:spPr>
        <p:txBody>
          <a:bodyPr anchor="t">
            <a:noAutofit/>
          </a:bodyPr>
          <a:lstStyle/>
          <a:p>
            <a:pPr fontAlgn="t"/>
            <a:r>
              <a:rPr lang="en-US" sz="3600" dirty="0"/>
              <a:t>What are related </a:t>
            </a:r>
            <a:r>
              <a:rPr lang="en-US" sz="3600" b="1" dirty="0"/>
              <a:t>Web Technologies </a:t>
            </a:r>
            <a:br>
              <a:rPr lang="en-US" sz="3600" b="1" dirty="0"/>
            </a:br>
            <a:r>
              <a:rPr lang="en-US" sz="3600" dirty="0"/>
              <a:t>that can be used </a:t>
            </a:r>
            <a:r>
              <a:rPr lang="en-US" sz="3600" b="1" dirty="0"/>
              <a:t>to create dynamic websites</a:t>
            </a:r>
            <a:r>
              <a:rPr lang="en-US" sz="3600" dirty="0"/>
              <a:t>? </a:t>
            </a:r>
          </a:p>
          <a:p>
            <a:pPr fontAlgn="t"/>
            <a:r>
              <a:rPr lang="en-US" sz="3600" dirty="0"/>
              <a:t>What are examples for </a:t>
            </a:r>
            <a:r>
              <a:rPr lang="en-US" sz="3600" b="1" dirty="0"/>
              <a:t>popular PHP Websites</a:t>
            </a:r>
            <a:r>
              <a:rPr lang="en-US" sz="3600" dirty="0"/>
              <a:t>?</a:t>
            </a:r>
          </a:p>
        </p:txBody>
      </p:sp>
      <p:sp>
        <p:nvSpPr>
          <p:cNvPr id="4" name="Slide Number Placeholder 3"/>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4202439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t>% of websites using server-side programming languages</a:t>
            </a:r>
          </a:p>
        </p:txBody>
      </p:sp>
      <p:sp>
        <p:nvSpPr>
          <p:cNvPr id="4" name="Slide Number Placeholder 3"/>
          <p:cNvSpPr>
            <a:spLocks noGrp="1"/>
          </p:cNvSpPr>
          <p:nvPr>
            <p:ph type="sldNum" sz="quarter" idx="12"/>
          </p:nvPr>
        </p:nvSpPr>
        <p:spPr/>
        <p:txBody>
          <a:bodyPr/>
          <a:lstStyle/>
          <a:p>
            <a:fld id="{D57F1E4F-1CFF-5643-939E-217C01CDF565}" type="slidenum">
              <a:rPr lang="en-US" smtClean="0"/>
              <a:pPr/>
              <a:t>16</a:t>
            </a:fld>
            <a:endParaRPr lang="en-US" dirty="0"/>
          </a:p>
        </p:txBody>
      </p:sp>
      <p:sp>
        <p:nvSpPr>
          <p:cNvPr id="19" name="Rectangle 1"/>
          <p:cNvSpPr>
            <a:spLocks noChangeArrowheads="1"/>
          </p:cNvSpPr>
          <p:nvPr/>
        </p:nvSpPr>
        <p:spPr bwMode="auto">
          <a:xfrm>
            <a:off x="6219649" y="6571102"/>
            <a:ext cx="142124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r"/>
            <a:r>
              <a:rPr lang="en-US" altLang="en-US" sz="1200" b="0" dirty="0">
                <a:latin typeface="+mn-lt"/>
                <a:ea typeface="Arial Unicode MS" panose="020B0604020202020204" pitchFamily="34" charset="-128"/>
                <a:cs typeface="Arial Unicode MS" panose="020B0604020202020204" pitchFamily="34" charset="-128"/>
              </a:rPr>
              <a:t>(W3Techs, 2019)</a:t>
            </a:r>
          </a:p>
        </p:txBody>
      </p:sp>
      <p:pic>
        <p:nvPicPr>
          <p:cNvPr id="15" name="Content Placeholder 14"/>
          <p:cNvPicPr>
            <a:picLocks noGrp="1" noChangeAspect="1"/>
          </p:cNvPicPr>
          <p:nvPr>
            <p:ph idx="1"/>
          </p:nvPr>
        </p:nvPicPr>
        <p:blipFill>
          <a:blip r:embed="rId3"/>
          <a:stretch>
            <a:fillRect/>
          </a:stretch>
        </p:blipFill>
        <p:spPr>
          <a:xfrm>
            <a:off x="418456" y="1872088"/>
            <a:ext cx="5873856" cy="4976013"/>
          </a:xfrm>
          <a:prstGeom prst="rect">
            <a:avLst/>
          </a:prstGeom>
        </p:spPr>
      </p:pic>
    </p:spTree>
    <p:extLst>
      <p:ext uri="{BB962C8B-B14F-4D97-AF65-F5344CB8AC3E}">
        <p14:creationId xmlns:p14="http://schemas.microsoft.com/office/powerpoint/2010/main" val="4075252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Websites based on PHP</a:t>
            </a:r>
          </a:p>
        </p:txBody>
      </p:sp>
      <p:sp>
        <p:nvSpPr>
          <p:cNvPr id="4" name="Slide Number Placeholder 3"/>
          <p:cNvSpPr>
            <a:spLocks noGrp="1"/>
          </p:cNvSpPr>
          <p:nvPr>
            <p:ph type="sldNum" sz="quarter" idx="12"/>
          </p:nvPr>
        </p:nvSpPr>
        <p:spPr/>
        <p:txBody>
          <a:bodyPr/>
          <a:lstStyle/>
          <a:p>
            <a:fld id="{D57F1E4F-1CFF-5643-939E-217C01CDF565}" type="slidenum">
              <a:rPr lang="en-US" smtClean="0"/>
              <a:pPr/>
              <a:t>17</a:t>
            </a:fld>
            <a:endParaRPr lang="en-US" dirty="0"/>
          </a:p>
        </p:txBody>
      </p:sp>
      <p:pic>
        <p:nvPicPr>
          <p:cNvPr id="10" name="Picture 10" descr="Image result for Facebook logo"/>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84903" y="2211054"/>
            <a:ext cx="1276066" cy="127606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Image result for wikipedia 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4610" y="2192002"/>
            <a:ext cx="1419064" cy="129511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Related imag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54305" y="2112904"/>
            <a:ext cx="2203234" cy="132194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Image result for wordpress log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1840" y="4491382"/>
            <a:ext cx="1464754" cy="146475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pinterest logo"/>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64610" y="4407359"/>
            <a:ext cx="1549831" cy="154983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mage result for flickr log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08673" y="4407359"/>
            <a:ext cx="1548777" cy="1548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3065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a:t>Why PHP?</a:t>
            </a:r>
            <a:br>
              <a:rPr lang="en-US" sz="3600" dirty="0"/>
            </a:br>
            <a:r>
              <a:rPr lang="en-US" sz="3100" dirty="0"/>
              <a:t>(</a:t>
            </a:r>
            <a:r>
              <a:rPr lang="en-US" sz="2700" b="1" i="1" dirty="0"/>
              <a:t>PHP: Hypertext Preprocessor</a:t>
            </a:r>
            <a:r>
              <a:rPr lang="en-US" sz="3100" dirty="0"/>
              <a:t>)</a:t>
            </a:r>
            <a:endParaRPr lang="en-US" sz="3600" dirty="0"/>
          </a:p>
        </p:txBody>
      </p:sp>
      <p:sp>
        <p:nvSpPr>
          <p:cNvPr id="3" name="Content Placeholder 2"/>
          <p:cNvSpPr>
            <a:spLocks noGrp="1"/>
          </p:cNvSpPr>
          <p:nvPr>
            <p:ph idx="1"/>
          </p:nvPr>
        </p:nvSpPr>
        <p:spPr>
          <a:xfrm>
            <a:off x="425668" y="4083269"/>
            <a:ext cx="8276897" cy="2546131"/>
          </a:xfrm>
        </p:spPr>
        <p:txBody>
          <a:bodyPr anchor="t">
            <a:noAutofit/>
          </a:bodyPr>
          <a:lstStyle/>
          <a:p>
            <a:pPr fontAlgn="t"/>
            <a:r>
              <a:rPr lang="en-US" sz="2400" dirty="0"/>
              <a:t>Universal language for Web, to build a foundation for programming Web applications</a:t>
            </a:r>
          </a:p>
          <a:p>
            <a:r>
              <a:rPr lang="en-US" sz="2400" dirty="0"/>
              <a:t>Widely-used, open source scripting language, free to download, </a:t>
            </a:r>
            <a:r>
              <a:rPr lang="en-GB" sz="2400" dirty="0"/>
              <a:t>runs on multiple platforms</a:t>
            </a:r>
            <a:endParaRPr lang="en-US" sz="2400" dirty="0"/>
          </a:p>
          <a:p>
            <a:r>
              <a:rPr lang="en-US" sz="2400" dirty="0"/>
              <a:t>Server side scripting language that is embedded in HTML, integrated with popular databases</a:t>
            </a:r>
          </a:p>
        </p:txBody>
      </p:sp>
      <p:sp>
        <p:nvSpPr>
          <p:cNvPr id="4" name="TextBox 3"/>
          <p:cNvSpPr txBox="1"/>
          <p:nvPr/>
        </p:nvSpPr>
        <p:spPr>
          <a:xfrm>
            <a:off x="425669" y="2081048"/>
            <a:ext cx="8276897" cy="1815882"/>
          </a:xfrm>
          <a:prstGeom prst="rect">
            <a:avLst/>
          </a:prstGeom>
          <a:solidFill>
            <a:srgbClr val="FFC000"/>
          </a:solidFill>
        </p:spPr>
        <p:txBody>
          <a:bodyPr wrap="square" rtlCol="0">
            <a:spAutoFit/>
          </a:bodyPr>
          <a:lstStyle/>
          <a:p>
            <a:r>
              <a:rPr lang="en-US" sz="2800" dirty="0"/>
              <a:t>“</a:t>
            </a:r>
            <a:r>
              <a:rPr lang="en-US" sz="2800" b="1" dirty="0"/>
              <a:t>PHP</a:t>
            </a:r>
            <a:r>
              <a:rPr lang="en-US" sz="2800" dirty="0"/>
              <a:t> is a widely-used </a:t>
            </a:r>
            <a:r>
              <a:rPr lang="en-US" sz="2800" b="1" dirty="0"/>
              <a:t>open source </a:t>
            </a:r>
            <a:r>
              <a:rPr lang="en-US" sz="2800" dirty="0"/>
              <a:t>general-purpose </a:t>
            </a:r>
            <a:r>
              <a:rPr lang="en-US" sz="2800" b="1" dirty="0"/>
              <a:t>scripting language</a:t>
            </a:r>
            <a:r>
              <a:rPr lang="en-US" sz="2800" dirty="0"/>
              <a:t> that is especially suited for </a:t>
            </a:r>
            <a:r>
              <a:rPr lang="en-US" sz="2800" b="1" dirty="0"/>
              <a:t>web development </a:t>
            </a:r>
            <a:r>
              <a:rPr lang="en-US" sz="2800" dirty="0"/>
              <a:t>and can be </a:t>
            </a:r>
            <a:r>
              <a:rPr lang="en-US" sz="2800" b="1" dirty="0"/>
              <a:t>embedded into HTML</a:t>
            </a:r>
            <a:r>
              <a:rPr lang="en-US" sz="2800" dirty="0"/>
              <a:t>.” </a:t>
            </a:r>
            <a:r>
              <a:rPr lang="en-US" sz="2800" i="1" dirty="0"/>
              <a:t>(The PHP Group, 2019)</a:t>
            </a:r>
            <a:endParaRPr lang="en-GB" sz="2800" i="1"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18</a:t>
            </a:fld>
            <a:endParaRPr lang="en-US" dirty="0"/>
          </a:p>
        </p:txBody>
      </p:sp>
    </p:spTree>
    <p:extLst>
      <p:ext uri="{BB962C8B-B14F-4D97-AF65-F5344CB8AC3E}">
        <p14:creationId xmlns:p14="http://schemas.microsoft.com/office/powerpoint/2010/main" val="3273473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Activity-TIME</a:t>
            </a:r>
          </a:p>
        </p:txBody>
      </p:sp>
      <p:sp>
        <p:nvSpPr>
          <p:cNvPr id="3" name="Content Placeholder 2"/>
          <p:cNvSpPr>
            <a:spLocks noGrp="1"/>
          </p:cNvSpPr>
          <p:nvPr>
            <p:ph idx="1"/>
          </p:nvPr>
        </p:nvSpPr>
        <p:spPr>
          <a:xfrm>
            <a:off x="472966" y="2076450"/>
            <a:ext cx="8229600" cy="4552949"/>
          </a:xfrm>
        </p:spPr>
        <p:txBody>
          <a:bodyPr anchor="t">
            <a:noAutofit/>
          </a:bodyPr>
          <a:lstStyle/>
          <a:p>
            <a:pPr fontAlgn="t"/>
            <a:r>
              <a:rPr lang="en-US" sz="3600" dirty="0"/>
              <a:t>What are the uses/ application of </a:t>
            </a:r>
            <a:r>
              <a:rPr lang="en-US" sz="3600" b="1" dirty="0"/>
              <a:t>PHP</a:t>
            </a:r>
            <a:r>
              <a:rPr lang="en-US" sz="3600" dirty="0"/>
              <a:t>? </a:t>
            </a:r>
          </a:p>
        </p:txBody>
      </p:sp>
      <p:sp>
        <p:nvSpPr>
          <p:cNvPr id="4" name="Slide Number Placeholder 3"/>
          <p:cNvSpPr>
            <a:spLocks noGrp="1"/>
          </p:cNvSpPr>
          <p:nvPr>
            <p:ph type="sldNum" sz="quarter" idx="12"/>
          </p:nvPr>
        </p:nvSpPr>
        <p:spPr/>
        <p:txBody>
          <a:bodyPr/>
          <a:lstStyle/>
          <a:p>
            <a:fld id="{D57F1E4F-1CFF-5643-939E-217C01CDF565}" type="slidenum">
              <a:rPr lang="en-US" smtClean="0"/>
              <a:pPr/>
              <a:t>19</a:t>
            </a:fld>
            <a:endParaRPr lang="en-US" dirty="0"/>
          </a:p>
        </p:txBody>
      </p:sp>
    </p:spTree>
    <p:extLst>
      <p:ext uri="{BB962C8B-B14F-4D97-AF65-F5344CB8AC3E}">
        <p14:creationId xmlns:p14="http://schemas.microsoft.com/office/powerpoint/2010/main" val="3013937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Uses of PHP</a:t>
            </a:r>
          </a:p>
        </p:txBody>
      </p:sp>
      <p:sp>
        <p:nvSpPr>
          <p:cNvPr id="3" name="Content Placeholder 2"/>
          <p:cNvSpPr>
            <a:spLocks noGrp="1"/>
          </p:cNvSpPr>
          <p:nvPr>
            <p:ph idx="1"/>
          </p:nvPr>
        </p:nvSpPr>
        <p:spPr>
          <a:xfrm>
            <a:off x="268018" y="2065282"/>
            <a:ext cx="8860220" cy="4493173"/>
          </a:xfrm>
        </p:spPr>
        <p:txBody>
          <a:bodyPr anchor="t">
            <a:noAutofit/>
          </a:bodyPr>
          <a:lstStyle/>
          <a:p>
            <a:pPr fontAlgn="t"/>
            <a:r>
              <a:rPr lang="en-GB" sz="2800" dirty="0"/>
              <a:t>Server-side scripting (generate dynamic page content)</a:t>
            </a:r>
          </a:p>
          <a:p>
            <a:pPr fontAlgn="t"/>
            <a:r>
              <a:rPr lang="en-GB" sz="2800" dirty="0"/>
              <a:t>File handling (</a:t>
            </a:r>
            <a:r>
              <a:rPr lang="en-US" sz="2800" dirty="0"/>
              <a:t>create, open, read, write, delete, close files</a:t>
            </a:r>
            <a:r>
              <a:rPr lang="en-GB" sz="2800" dirty="0"/>
              <a:t>)</a:t>
            </a:r>
          </a:p>
          <a:p>
            <a:pPr fontAlgn="t"/>
            <a:r>
              <a:rPr lang="en-GB" sz="2800" dirty="0"/>
              <a:t>Form handling</a:t>
            </a:r>
          </a:p>
          <a:p>
            <a:pPr fontAlgn="t"/>
            <a:r>
              <a:rPr lang="en-GB" sz="2800" dirty="0"/>
              <a:t>Database functions (add, delete, modify data in database)</a:t>
            </a:r>
          </a:p>
          <a:p>
            <a:pPr fontAlgn="t"/>
            <a:r>
              <a:rPr lang="en-GB" sz="2800" dirty="0"/>
              <a:t>Access, set, send, receive Cookies</a:t>
            </a:r>
          </a:p>
          <a:p>
            <a:pPr fontAlgn="t"/>
            <a:r>
              <a:rPr lang="en-GB" sz="2800" dirty="0"/>
              <a:t>Control user-access</a:t>
            </a:r>
          </a:p>
          <a:p>
            <a:pPr fontAlgn="t"/>
            <a:r>
              <a:rPr lang="en-GB" sz="2800" dirty="0"/>
              <a:t>Session handling</a:t>
            </a:r>
          </a:p>
          <a:p>
            <a:pPr fontAlgn="t"/>
            <a:r>
              <a:rPr lang="en-GB" sz="2800" dirty="0"/>
              <a:t>Encrypt data</a:t>
            </a:r>
          </a:p>
        </p:txBody>
      </p:sp>
      <p:sp>
        <p:nvSpPr>
          <p:cNvPr id="5" name="Slide Number Placeholder 4"/>
          <p:cNvSpPr>
            <a:spLocks noGrp="1"/>
          </p:cNvSpPr>
          <p:nvPr>
            <p:ph type="sldNum" sz="quarter" idx="12"/>
          </p:nvPr>
        </p:nvSpPr>
        <p:spPr/>
        <p:txBody>
          <a:bodyPr/>
          <a:lstStyle/>
          <a:p>
            <a:fld id="{D57F1E4F-1CFF-5643-939E-217C01CDF565}" type="slidenum">
              <a:rPr lang="en-US" smtClean="0"/>
              <a:pPr/>
              <a:t>20</a:t>
            </a:fld>
            <a:endParaRPr lang="en-US" dirty="0"/>
          </a:p>
        </p:txBody>
      </p:sp>
    </p:spTree>
    <p:extLst>
      <p:ext uri="{BB962C8B-B14F-4D97-AF65-F5344CB8AC3E}">
        <p14:creationId xmlns:p14="http://schemas.microsoft.com/office/powerpoint/2010/main" val="36294714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Code Example</a:t>
            </a:r>
          </a:p>
        </p:txBody>
      </p:sp>
      <p:sp>
        <p:nvSpPr>
          <p:cNvPr id="3" name="Content Placeholder 2"/>
          <p:cNvSpPr>
            <a:spLocks noGrp="1"/>
          </p:cNvSpPr>
          <p:nvPr>
            <p:ph idx="1"/>
          </p:nvPr>
        </p:nvSpPr>
        <p:spPr>
          <a:xfrm>
            <a:off x="425668" y="2049520"/>
            <a:ext cx="8276897" cy="4099033"/>
          </a:xfrm>
          <a:solidFill>
            <a:schemeClr val="accent4">
              <a:lumMod val="20000"/>
              <a:lumOff val="80000"/>
            </a:schemeClr>
          </a:solidFill>
        </p:spPr>
        <p:txBody>
          <a:bodyPr anchor="t">
            <a:noAutofit/>
          </a:bodyPr>
          <a:lstStyle/>
          <a:p>
            <a:pPr marL="0" indent="0" fontAlgn="t">
              <a:buNone/>
            </a:pPr>
            <a:r>
              <a:rPr lang="en-US" sz="2400" b="1" dirty="0">
                <a:latin typeface="Courier New" pitchFamily="49" charset="0"/>
                <a:cs typeface="Courier New" pitchFamily="49" charset="0"/>
              </a:rPr>
              <a:t>&lt;!DOCTYPE HTML&gt;</a:t>
            </a:r>
            <a:br>
              <a:rPr lang="en-US" sz="2400" b="1" dirty="0">
                <a:latin typeface="Courier New" pitchFamily="49" charset="0"/>
                <a:cs typeface="Courier New" pitchFamily="49" charset="0"/>
              </a:rPr>
            </a:br>
            <a:r>
              <a:rPr lang="en-US" sz="2400" b="1" dirty="0">
                <a:latin typeface="Courier New" pitchFamily="49" charset="0"/>
                <a:cs typeface="Courier New" pitchFamily="49" charset="0"/>
              </a:rPr>
              <a:t>&lt;html&gt;</a:t>
            </a:r>
            <a:br>
              <a:rPr lang="en-US" sz="2400" b="1" dirty="0">
                <a:latin typeface="Courier New" pitchFamily="49" charset="0"/>
                <a:cs typeface="Courier New" pitchFamily="49" charset="0"/>
              </a:rPr>
            </a:br>
            <a:r>
              <a:rPr lang="en-US" sz="2400" b="1" dirty="0">
                <a:latin typeface="Courier New" pitchFamily="49" charset="0"/>
                <a:cs typeface="Courier New" pitchFamily="49" charset="0"/>
              </a:rPr>
              <a:t>    &lt;head&gt;</a:t>
            </a:r>
            <a:br>
              <a:rPr lang="en-US" sz="2400" b="1" dirty="0">
                <a:latin typeface="Courier New" pitchFamily="49" charset="0"/>
                <a:cs typeface="Courier New" pitchFamily="49" charset="0"/>
              </a:rPr>
            </a:br>
            <a:r>
              <a:rPr lang="en-US" sz="2400" b="1" dirty="0">
                <a:latin typeface="Courier New" pitchFamily="49" charset="0"/>
                <a:cs typeface="Courier New" pitchFamily="49" charset="0"/>
              </a:rPr>
              <a:t>        &lt;title&gt;Example&lt;/title&gt;</a:t>
            </a:r>
            <a:br>
              <a:rPr lang="en-US" sz="2400" b="1" dirty="0">
                <a:latin typeface="Courier New" pitchFamily="49" charset="0"/>
                <a:cs typeface="Courier New" pitchFamily="49" charset="0"/>
              </a:rPr>
            </a:br>
            <a:r>
              <a:rPr lang="en-US" sz="2400" b="1" dirty="0">
                <a:latin typeface="Courier New" pitchFamily="49" charset="0"/>
                <a:cs typeface="Courier New" pitchFamily="49" charset="0"/>
              </a:rPr>
              <a:t>    &lt;/head&gt;</a:t>
            </a:r>
            <a:br>
              <a:rPr lang="en-US" sz="2400" b="1" dirty="0">
                <a:latin typeface="Courier New" pitchFamily="49" charset="0"/>
                <a:cs typeface="Courier New" pitchFamily="49" charset="0"/>
              </a:rPr>
            </a:br>
            <a:r>
              <a:rPr lang="en-US" sz="2400" b="1" dirty="0">
                <a:latin typeface="Courier New" pitchFamily="49" charset="0"/>
                <a:cs typeface="Courier New" pitchFamily="49" charset="0"/>
              </a:rPr>
              <a:t>    &lt;body&gt;</a:t>
            </a:r>
            <a:br>
              <a:rPr lang="en-US" sz="2400" b="1" dirty="0">
                <a:latin typeface="Courier New" pitchFamily="49" charset="0"/>
                <a:cs typeface="Courier New" pitchFamily="49" charset="0"/>
              </a:rPr>
            </a:br>
            <a:r>
              <a:rPr lang="en-US" sz="2400" b="1" dirty="0">
                <a:latin typeface="Courier New" pitchFamily="49" charset="0"/>
                <a:cs typeface="Courier New" pitchFamily="49" charset="0"/>
              </a:rPr>
              <a:t>        </a:t>
            </a:r>
            <a:r>
              <a:rPr lang="en-US" sz="2400" b="1" dirty="0">
                <a:solidFill>
                  <a:srgbClr val="C00000"/>
                </a:solidFill>
                <a:latin typeface="Courier New" pitchFamily="49" charset="0"/>
                <a:cs typeface="Courier New" pitchFamily="49" charset="0"/>
              </a:rPr>
              <a:t>&lt;?php</a:t>
            </a:r>
            <a:br>
              <a:rPr lang="en-US" sz="2400" b="1" dirty="0">
                <a:solidFill>
                  <a:srgbClr val="C00000"/>
                </a:solidFill>
                <a:latin typeface="Courier New" pitchFamily="49" charset="0"/>
                <a:cs typeface="Courier New" pitchFamily="49" charset="0"/>
              </a:rPr>
            </a:br>
            <a:r>
              <a:rPr lang="en-US" sz="2400" b="1" dirty="0">
                <a:solidFill>
                  <a:srgbClr val="7030A0"/>
                </a:solidFill>
                <a:latin typeface="Courier New" pitchFamily="49" charset="0"/>
                <a:cs typeface="Courier New" pitchFamily="49" charset="0"/>
              </a:rPr>
              <a:t>            echo “Hello World!";</a:t>
            </a:r>
            <a:br>
              <a:rPr lang="en-US" sz="2400" b="1" dirty="0">
                <a:solidFill>
                  <a:srgbClr val="7030A0"/>
                </a:solidFill>
                <a:latin typeface="Courier New" pitchFamily="49" charset="0"/>
                <a:cs typeface="Courier New" pitchFamily="49" charset="0"/>
              </a:rPr>
            </a:br>
            <a:r>
              <a:rPr lang="en-US" sz="2400" b="1" dirty="0">
                <a:solidFill>
                  <a:srgbClr val="7030A0"/>
                </a:solidFill>
                <a:latin typeface="Courier New" pitchFamily="49" charset="0"/>
                <a:cs typeface="Courier New" pitchFamily="49" charset="0"/>
              </a:rPr>
              <a:t>       </a:t>
            </a:r>
            <a:r>
              <a:rPr lang="en-US" sz="2400" b="1" dirty="0">
                <a:solidFill>
                  <a:srgbClr val="C00000"/>
                </a:solidFill>
                <a:latin typeface="Courier New" pitchFamily="49" charset="0"/>
                <a:cs typeface="Courier New" pitchFamily="49" charset="0"/>
              </a:rPr>
              <a:t> ?&gt;</a:t>
            </a:r>
            <a:br>
              <a:rPr lang="en-US" sz="2400" b="1" dirty="0">
                <a:latin typeface="Courier New" pitchFamily="49" charset="0"/>
                <a:cs typeface="Courier New" pitchFamily="49" charset="0"/>
              </a:rPr>
            </a:br>
            <a:r>
              <a:rPr lang="en-US" sz="2400" b="1" dirty="0">
                <a:latin typeface="Courier New" pitchFamily="49" charset="0"/>
                <a:cs typeface="Courier New" pitchFamily="49" charset="0"/>
              </a:rPr>
              <a:t>    &lt;/body&gt;</a:t>
            </a:r>
            <a:br>
              <a:rPr lang="en-US" sz="2400" b="1" dirty="0">
                <a:latin typeface="Courier New" pitchFamily="49" charset="0"/>
                <a:cs typeface="Courier New" pitchFamily="49" charset="0"/>
              </a:rPr>
            </a:br>
            <a:r>
              <a:rPr lang="en-US" sz="2400" b="1" dirty="0">
                <a:latin typeface="Courier New" pitchFamily="49" charset="0"/>
                <a:cs typeface="Courier New" pitchFamily="49" charset="0"/>
              </a:rPr>
              <a:t>&lt;/html&gt;</a:t>
            </a:r>
          </a:p>
        </p:txBody>
      </p:sp>
      <p:sp>
        <p:nvSpPr>
          <p:cNvPr id="5" name="Slide Number Placeholder 4"/>
          <p:cNvSpPr>
            <a:spLocks noGrp="1"/>
          </p:cNvSpPr>
          <p:nvPr>
            <p:ph type="sldNum" sz="quarter" idx="12"/>
          </p:nvPr>
        </p:nvSpPr>
        <p:spPr/>
        <p:txBody>
          <a:bodyPr/>
          <a:lstStyle/>
          <a:p>
            <a:fld id="{D57F1E4F-1CFF-5643-939E-217C01CDF565}" type="slidenum">
              <a:rPr lang="en-US" smtClean="0"/>
              <a:pPr/>
              <a:t>21</a:t>
            </a:fld>
            <a:endParaRPr lang="en-US" dirty="0"/>
          </a:p>
        </p:txBody>
      </p:sp>
    </p:spTree>
    <p:extLst>
      <p:ext uri="{BB962C8B-B14F-4D97-AF65-F5344CB8AC3E}">
        <p14:creationId xmlns:p14="http://schemas.microsoft.com/office/powerpoint/2010/main" val="21695720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609600" y="793480"/>
            <a:ext cx="8534400" cy="758825"/>
          </a:xfrm>
        </p:spPr>
        <p:txBody>
          <a:bodyPr/>
          <a:lstStyle/>
          <a:p>
            <a:pPr eaLnBrk="1" fontAlgn="auto" hangingPunct="1">
              <a:spcAft>
                <a:spcPts val="0"/>
              </a:spcAft>
              <a:defRPr/>
            </a:pPr>
            <a:r>
              <a:rPr lang="en-US" sz="2700" b="1" dirty="0"/>
              <a:t>Request/ Response Cycle</a:t>
            </a:r>
          </a:p>
        </p:txBody>
      </p:sp>
      <p:sp>
        <p:nvSpPr>
          <p:cNvPr id="6" name="Content Placeholder 2"/>
          <p:cNvSpPr txBox="1">
            <a:spLocks/>
          </p:cNvSpPr>
          <p:nvPr/>
        </p:nvSpPr>
        <p:spPr bwMode="auto">
          <a:xfrm>
            <a:off x="532724" y="1960563"/>
            <a:ext cx="8423307" cy="3243838"/>
          </a:xfrm>
          <a:prstGeom prst="rect">
            <a:avLst/>
          </a:prstGeom>
          <a:noFill/>
          <a:ln w="9525">
            <a:noFill/>
            <a:miter lim="800000"/>
            <a:headEnd/>
            <a:tailEnd/>
          </a:ln>
        </p:spPr>
        <p:txBody>
          <a:bodyPr/>
          <a:lstStyle/>
          <a:p>
            <a:pPr marL="90488" indent="-273050">
              <a:spcBef>
                <a:spcPct val="20000"/>
              </a:spcBef>
              <a:buClr>
                <a:schemeClr val="accent2"/>
              </a:buClr>
              <a:buSzPct val="70000"/>
              <a:buFont typeface="Wingdings" pitchFamily="2" charset="2"/>
              <a:buChar char=""/>
              <a:defRPr/>
            </a:pPr>
            <a:r>
              <a:rPr kumimoji="1" lang="en-US" altLang="ja-JP" sz="2400" b="0" dirty="0">
                <a:solidFill>
                  <a:srgbClr val="C00000"/>
                </a:solidFill>
                <a:cs typeface="Arial" pitchFamily="34" charset="0"/>
              </a:rPr>
              <a:t>Server: Service providers</a:t>
            </a:r>
          </a:p>
          <a:p>
            <a:pPr marL="547688" lvl="1" indent="-273050">
              <a:spcBef>
                <a:spcPct val="20000"/>
              </a:spcBef>
              <a:buClr>
                <a:schemeClr val="accent2"/>
              </a:buClr>
              <a:buSzPct val="70000"/>
              <a:buFont typeface="Wingdings" pitchFamily="2" charset="2"/>
              <a:buChar char=""/>
              <a:defRPr/>
            </a:pPr>
            <a:r>
              <a:rPr kumimoji="1" lang="en-US" altLang="ja-JP" sz="2400" b="0" dirty="0">
                <a:cs typeface="Arial" pitchFamily="34" charset="0"/>
              </a:rPr>
              <a:t>Computer program or machine  that provide services to (Web Services or FTP services) to other programs or users (machines).</a:t>
            </a:r>
            <a:endParaRPr kumimoji="1" lang="en-US" altLang="ja-JP" sz="2400" b="0" dirty="0">
              <a:solidFill>
                <a:srgbClr val="C00000"/>
              </a:solidFill>
              <a:cs typeface="Arial" pitchFamily="34" charset="0"/>
            </a:endParaRPr>
          </a:p>
          <a:p>
            <a:pPr marL="90488" indent="-273050">
              <a:spcBef>
                <a:spcPct val="20000"/>
              </a:spcBef>
              <a:buClr>
                <a:schemeClr val="accent2"/>
              </a:buClr>
              <a:buSzPct val="70000"/>
              <a:buFont typeface="Wingdings" pitchFamily="2" charset="2"/>
              <a:buChar char=""/>
              <a:defRPr/>
            </a:pPr>
            <a:r>
              <a:rPr kumimoji="1" lang="en-US" altLang="ja-JP" sz="2400" b="0" dirty="0">
                <a:solidFill>
                  <a:srgbClr val="C00000"/>
                </a:solidFill>
                <a:cs typeface="Arial" pitchFamily="34" charset="0"/>
              </a:rPr>
              <a:t>Client: Service requesters</a:t>
            </a:r>
          </a:p>
          <a:p>
            <a:pPr marL="547688" lvl="1" indent="-273050">
              <a:spcBef>
                <a:spcPct val="20000"/>
              </a:spcBef>
              <a:buClr>
                <a:schemeClr val="accent2"/>
              </a:buClr>
              <a:buSzPct val="70000"/>
              <a:buFont typeface="Wingdings" pitchFamily="2" charset="2"/>
              <a:buChar char=""/>
              <a:defRPr/>
            </a:pPr>
            <a:r>
              <a:rPr kumimoji="1" lang="en-US" altLang="ja-JP" sz="2400" b="0" dirty="0">
                <a:cs typeface="Arial" pitchFamily="34" charset="0"/>
              </a:rPr>
              <a:t>Computer program or machine that request the services from servers.</a:t>
            </a:r>
          </a:p>
        </p:txBody>
      </p:sp>
      <p:sp>
        <p:nvSpPr>
          <p:cNvPr id="8" name="Picture 6"/>
          <p:cNvSpPr>
            <a:spLocks noChangeAspect="1" noChangeArrowheads="1"/>
          </p:cNvSpPr>
          <p:nvPr/>
        </p:nvSpPr>
        <p:spPr bwMode="auto">
          <a:xfrm>
            <a:off x="3995738" y="1201738"/>
            <a:ext cx="4800600" cy="313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dirty="0"/>
          </a:p>
        </p:txBody>
      </p:sp>
      <p:sp>
        <p:nvSpPr>
          <p:cNvPr id="31761"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06FFC11F-BDCF-40FD-A242-142113BC0AE0}" type="slidenum">
              <a:rPr lang="en-US" altLang="ja-JP" smtClean="0"/>
              <a:pPr/>
              <a:t>22</a:t>
            </a:fld>
            <a:endParaRPr lang="en-US" altLang="ja-JP" dirty="0"/>
          </a:p>
        </p:txBody>
      </p:sp>
      <p:pic>
        <p:nvPicPr>
          <p:cNvPr id="14338" name="Picture 2" descr="Image result for client server architecture tanenbaum"/>
          <p:cNvPicPr>
            <a:picLocks noChangeAspect="1" noChangeArrowheads="1"/>
          </p:cNvPicPr>
          <p:nvPr/>
        </p:nvPicPr>
        <p:blipFill rotWithShape="1">
          <a:blip r:embed="rId2">
            <a:extLst>
              <a:ext uri="{28A0092B-C50C-407E-A947-70E740481C1C}">
                <a14:useLocalDpi xmlns:a14="http://schemas.microsoft.com/office/drawing/2010/main" val="0"/>
              </a:ext>
            </a:extLst>
          </a:blip>
          <a:srcRect t="37202" b="30167"/>
          <a:stretch/>
        </p:blipFill>
        <p:spPr bwMode="auto">
          <a:xfrm>
            <a:off x="1466189" y="4931172"/>
            <a:ext cx="6556375" cy="1604513"/>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
          <p:cNvSpPr>
            <a:spLocks noChangeArrowheads="1"/>
          </p:cNvSpPr>
          <p:nvPr/>
        </p:nvSpPr>
        <p:spPr bwMode="auto">
          <a:xfrm>
            <a:off x="3191774" y="6532547"/>
            <a:ext cx="260517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r"/>
            <a:r>
              <a:rPr lang="en-US" altLang="en-US" sz="1200" b="0" dirty="0">
                <a:latin typeface="+mn-lt"/>
                <a:ea typeface="Arial Unicode MS" panose="020B0604020202020204" pitchFamily="34" charset="-128"/>
                <a:cs typeface="Arial Unicode MS" panose="020B0604020202020204" pitchFamily="34" charset="-128"/>
              </a:rPr>
              <a:t>(Tanenbaum &amp; Wetherall, 2011)</a:t>
            </a:r>
          </a:p>
        </p:txBody>
      </p:sp>
    </p:spTree>
    <p:extLst>
      <p:ext uri="{BB962C8B-B14F-4D97-AF65-F5344CB8AC3E}">
        <p14:creationId xmlns:p14="http://schemas.microsoft.com/office/powerpoint/2010/main" val="3743341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479425" y="652328"/>
            <a:ext cx="8534400" cy="758825"/>
          </a:xfrm>
        </p:spPr>
        <p:txBody>
          <a:bodyPr>
            <a:noAutofit/>
          </a:bodyPr>
          <a:lstStyle/>
          <a:p>
            <a:pPr algn="ctr" eaLnBrk="1" fontAlgn="auto" hangingPunct="1">
              <a:spcAft>
                <a:spcPts val="0"/>
              </a:spcAft>
              <a:defRPr/>
            </a:pPr>
            <a:r>
              <a:rPr lang="en-US" altLang="ja-JP" sz="2700" dirty="0"/>
              <a:t>Client-Server Architecture</a:t>
            </a:r>
            <a:endParaRPr lang="en-US" sz="2700" dirty="0"/>
          </a:p>
        </p:txBody>
      </p:sp>
      <p:grpSp>
        <p:nvGrpSpPr>
          <p:cNvPr id="32771" name="Group 12"/>
          <p:cNvGrpSpPr>
            <a:grpSpLocks/>
          </p:cNvGrpSpPr>
          <p:nvPr/>
        </p:nvGrpSpPr>
        <p:grpSpPr bwMode="auto">
          <a:xfrm>
            <a:off x="1069590" y="3298152"/>
            <a:ext cx="6974734" cy="3513412"/>
            <a:chOff x="990599" y="1828800"/>
            <a:chExt cx="6805143" cy="3353385"/>
          </a:xfrm>
        </p:grpSpPr>
        <p:sp>
          <p:nvSpPr>
            <p:cNvPr id="8" name="Rectangle 7"/>
            <p:cNvSpPr/>
            <p:nvPr/>
          </p:nvSpPr>
          <p:spPr>
            <a:xfrm>
              <a:off x="2971522" y="1828800"/>
              <a:ext cx="2819868" cy="11428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kumimoji="1" lang="en-US" altLang="ja-JP" sz="2400" b="1" dirty="0">
                  <a:solidFill>
                    <a:srgbClr val="FFFFFF"/>
                  </a:solidFill>
                  <a:cs typeface="Arial" pitchFamily="34" charset="0"/>
                </a:rPr>
                <a:t>Client-Server Architecture</a:t>
              </a:r>
              <a:endParaRPr kumimoji="1" lang="ja-JP" altLang="en-US" sz="2400" b="1" dirty="0">
                <a:solidFill>
                  <a:srgbClr val="FFFFFF"/>
                </a:solidFill>
                <a:cs typeface="Arial" pitchFamily="34" charset="0"/>
              </a:endParaRPr>
            </a:p>
          </p:txBody>
        </p:sp>
        <p:sp>
          <p:nvSpPr>
            <p:cNvPr id="9" name="Down Arrow 8"/>
            <p:cNvSpPr/>
            <p:nvPr/>
          </p:nvSpPr>
          <p:spPr>
            <a:xfrm rot="2462384">
              <a:off x="2479097" y="3029302"/>
              <a:ext cx="457352" cy="76190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kumimoji="1" lang="ja-JP" altLang="en-US">
                <a:solidFill>
                  <a:srgbClr val="FFFFFF"/>
                </a:solidFill>
                <a:cs typeface="Arial" pitchFamily="34" charset="0"/>
              </a:endParaRPr>
            </a:p>
          </p:txBody>
        </p:sp>
        <p:sp>
          <p:nvSpPr>
            <p:cNvPr id="10" name="Rectangle 9"/>
            <p:cNvSpPr/>
            <p:nvPr/>
          </p:nvSpPr>
          <p:spPr>
            <a:xfrm>
              <a:off x="990599" y="4039327"/>
              <a:ext cx="2074826" cy="1142858"/>
            </a:xfrm>
            <a:prstGeom prst="rect">
              <a:avLst/>
            </a:prstGeom>
          </p:spPr>
          <p:style>
            <a:lnRef idx="3">
              <a:schemeClr val="lt1"/>
            </a:lnRef>
            <a:fillRef idx="1">
              <a:schemeClr val="accent4"/>
            </a:fillRef>
            <a:effectRef idx="1">
              <a:schemeClr val="accent4"/>
            </a:effectRef>
            <a:fontRef idx="minor">
              <a:schemeClr val="lt1"/>
            </a:fontRef>
          </p:style>
          <p:txBody>
            <a:bodyPr anchor="ctr"/>
            <a:lstStyle/>
            <a:p>
              <a:pPr algn="ctr" eaLnBrk="1" hangingPunct="1">
                <a:defRPr/>
              </a:pPr>
              <a:r>
                <a:rPr kumimoji="1" lang="en-US" altLang="ja-JP" sz="2400" b="1" dirty="0">
                  <a:solidFill>
                    <a:srgbClr val="FFFFFF"/>
                  </a:solidFill>
                  <a:cs typeface="Arial" pitchFamily="34" charset="0"/>
                </a:rPr>
                <a:t>2-Tier Architecture</a:t>
              </a:r>
              <a:endParaRPr kumimoji="1" lang="ja-JP" altLang="en-US" sz="2400" b="1" dirty="0">
                <a:solidFill>
                  <a:srgbClr val="FFFFFF"/>
                </a:solidFill>
                <a:cs typeface="Arial" pitchFamily="34" charset="0"/>
              </a:endParaRPr>
            </a:p>
          </p:txBody>
        </p:sp>
        <p:sp>
          <p:nvSpPr>
            <p:cNvPr id="11" name="Rectangle 10"/>
            <p:cNvSpPr/>
            <p:nvPr/>
          </p:nvSpPr>
          <p:spPr>
            <a:xfrm>
              <a:off x="3276867" y="4038559"/>
              <a:ext cx="2073647" cy="1143626"/>
            </a:xfrm>
            <a:prstGeom prst="rect">
              <a:avLst/>
            </a:prstGeom>
          </p:spPr>
          <p:style>
            <a:lnRef idx="0">
              <a:schemeClr val="dk1"/>
            </a:lnRef>
            <a:fillRef idx="3">
              <a:schemeClr val="dk1"/>
            </a:fillRef>
            <a:effectRef idx="3">
              <a:schemeClr val="dk1"/>
            </a:effectRef>
            <a:fontRef idx="minor">
              <a:schemeClr val="lt1"/>
            </a:fontRef>
          </p:style>
          <p:txBody>
            <a:bodyPr anchor="ctr"/>
            <a:lstStyle>
              <a:lvl1pPr>
                <a:defRPr b="1">
                  <a:solidFill>
                    <a:schemeClr val="tx1"/>
                  </a:solidFill>
                  <a:latin typeface="Tahoma" pitchFamily="34" charset="0"/>
                </a:defRPr>
              </a:lvl1pPr>
              <a:lvl2pPr marL="742950" indent="-285750">
                <a:defRPr b="1">
                  <a:solidFill>
                    <a:schemeClr val="tx1"/>
                  </a:solidFill>
                  <a:latin typeface="Tahoma" pitchFamily="34" charset="0"/>
                </a:defRPr>
              </a:lvl2pPr>
              <a:lvl3pPr marL="1143000" indent="-228600">
                <a:defRPr b="1">
                  <a:solidFill>
                    <a:schemeClr val="tx1"/>
                  </a:solidFill>
                  <a:latin typeface="Tahoma" pitchFamily="34" charset="0"/>
                </a:defRPr>
              </a:lvl3pPr>
              <a:lvl4pPr marL="1600200" indent="-228600">
                <a:defRPr b="1">
                  <a:solidFill>
                    <a:schemeClr val="tx1"/>
                  </a:solidFill>
                  <a:latin typeface="Tahoma" pitchFamily="34" charset="0"/>
                </a:defRPr>
              </a:lvl4pPr>
              <a:lvl5pPr marL="2057400" indent="-228600">
                <a:defRPr b="1">
                  <a:solidFill>
                    <a:schemeClr val="tx1"/>
                  </a:solidFill>
                  <a:latin typeface="Tahoma" pitchFamily="34" charset="0"/>
                </a:defRPr>
              </a:lvl5pPr>
              <a:lvl6pPr marL="2514600" indent="-228600" eaLnBrk="0" fontAlgn="base" hangingPunct="0">
                <a:spcBef>
                  <a:spcPct val="0"/>
                </a:spcBef>
                <a:spcAft>
                  <a:spcPct val="0"/>
                </a:spcAft>
                <a:defRPr b="1">
                  <a:solidFill>
                    <a:schemeClr val="tx1"/>
                  </a:solidFill>
                  <a:latin typeface="Tahoma" pitchFamily="34" charset="0"/>
                </a:defRPr>
              </a:lvl6pPr>
              <a:lvl7pPr marL="2971800" indent="-228600" eaLnBrk="0" fontAlgn="base" hangingPunct="0">
                <a:spcBef>
                  <a:spcPct val="0"/>
                </a:spcBef>
                <a:spcAft>
                  <a:spcPct val="0"/>
                </a:spcAft>
                <a:defRPr b="1">
                  <a:solidFill>
                    <a:schemeClr val="tx1"/>
                  </a:solidFill>
                  <a:latin typeface="Tahoma" pitchFamily="34" charset="0"/>
                </a:defRPr>
              </a:lvl7pPr>
              <a:lvl8pPr marL="3429000" indent="-228600" eaLnBrk="0" fontAlgn="base" hangingPunct="0">
                <a:spcBef>
                  <a:spcPct val="0"/>
                </a:spcBef>
                <a:spcAft>
                  <a:spcPct val="0"/>
                </a:spcAft>
                <a:defRPr b="1">
                  <a:solidFill>
                    <a:schemeClr val="tx1"/>
                  </a:solidFill>
                  <a:latin typeface="Tahoma" pitchFamily="34" charset="0"/>
                </a:defRPr>
              </a:lvl8pPr>
              <a:lvl9pPr marL="3886200" indent="-228600" eaLnBrk="0" fontAlgn="base" hangingPunct="0">
                <a:spcBef>
                  <a:spcPct val="0"/>
                </a:spcBef>
                <a:spcAft>
                  <a:spcPct val="0"/>
                </a:spcAft>
                <a:defRPr b="1">
                  <a:solidFill>
                    <a:schemeClr val="tx1"/>
                  </a:solidFill>
                  <a:latin typeface="Tahoma" pitchFamily="34" charset="0"/>
                </a:defRPr>
              </a:lvl9pPr>
            </a:lstStyle>
            <a:p>
              <a:pPr algn="ctr" eaLnBrk="1" hangingPunct="1">
                <a:defRPr/>
              </a:pPr>
              <a:r>
                <a:rPr kumimoji="1" lang="en-US" altLang="ja-JP" sz="2400" dirty="0">
                  <a:solidFill>
                    <a:schemeClr val="bg1"/>
                  </a:solidFill>
                  <a:latin typeface="+mn-lt"/>
                  <a:cs typeface="Arial" pitchFamily="34" charset="0"/>
                </a:rPr>
                <a:t>3-Tier  Architecture</a:t>
              </a:r>
              <a:endParaRPr kumimoji="1" lang="ja-JP" altLang="en-US" sz="2400">
                <a:solidFill>
                  <a:schemeClr val="bg1"/>
                </a:solidFill>
                <a:latin typeface="+mn-lt"/>
                <a:cs typeface="Arial" pitchFamily="34" charset="0"/>
              </a:endParaRPr>
            </a:p>
          </p:txBody>
        </p:sp>
        <p:sp>
          <p:nvSpPr>
            <p:cNvPr id="12" name="Rectangle 11"/>
            <p:cNvSpPr/>
            <p:nvPr/>
          </p:nvSpPr>
          <p:spPr>
            <a:xfrm>
              <a:off x="5639149" y="4000879"/>
              <a:ext cx="2156593" cy="1143850"/>
            </a:xfrm>
            <a:prstGeom prst="rect">
              <a:avLst/>
            </a:prstGeom>
          </p:spPr>
          <p:style>
            <a:lnRef idx="0">
              <a:schemeClr val="accent5"/>
            </a:lnRef>
            <a:fillRef idx="3">
              <a:schemeClr val="accent5"/>
            </a:fillRef>
            <a:effectRef idx="3">
              <a:schemeClr val="accent5"/>
            </a:effectRef>
            <a:fontRef idx="minor">
              <a:schemeClr val="lt1"/>
            </a:fontRef>
          </p:style>
          <p:txBody>
            <a:bodyPr anchor="ctr"/>
            <a:lstStyle>
              <a:lvl1pPr>
                <a:defRPr b="1">
                  <a:solidFill>
                    <a:schemeClr val="tx1"/>
                  </a:solidFill>
                  <a:latin typeface="Tahoma" pitchFamily="34" charset="0"/>
                </a:defRPr>
              </a:lvl1pPr>
              <a:lvl2pPr marL="742950" indent="-285750">
                <a:defRPr b="1">
                  <a:solidFill>
                    <a:schemeClr val="tx1"/>
                  </a:solidFill>
                  <a:latin typeface="Tahoma" pitchFamily="34" charset="0"/>
                </a:defRPr>
              </a:lvl2pPr>
              <a:lvl3pPr marL="1143000" indent="-228600">
                <a:defRPr b="1">
                  <a:solidFill>
                    <a:schemeClr val="tx1"/>
                  </a:solidFill>
                  <a:latin typeface="Tahoma" pitchFamily="34" charset="0"/>
                </a:defRPr>
              </a:lvl3pPr>
              <a:lvl4pPr marL="1600200" indent="-228600">
                <a:defRPr b="1">
                  <a:solidFill>
                    <a:schemeClr val="tx1"/>
                  </a:solidFill>
                  <a:latin typeface="Tahoma" pitchFamily="34" charset="0"/>
                </a:defRPr>
              </a:lvl4pPr>
              <a:lvl5pPr marL="2057400" indent="-228600">
                <a:defRPr b="1">
                  <a:solidFill>
                    <a:schemeClr val="tx1"/>
                  </a:solidFill>
                  <a:latin typeface="Tahoma" pitchFamily="34" charset="0"/>
                </a:defRPr>
              </a:lvl5pPr>
              <a:lvl6pPr marL="2514600" indent="-228600" eaLnBrk="0" fontAlgn="base" hangingPunct="0">
                <a:spcBef>
                  <a:spcPct val="0"/>
                </a:spcBef>
                <a:spcAft>
                  <a:spcPct val="0"/>
                </a:spcAft>
                <a:defRPr b="1">
                  <a:solidFill>
                    <a:schemeClr val="tx1"/>
                  </a:solidFill>
                  <a:latin typeface="Tahoma" pitchFamily="34" charset="0"/>
                </a:defRPr>
              </a:lvl6pPr>
              <a:lvl7pPr marL="2971800" indent="-228600" eaLnBrk="0" fontAlgn="base" hangingPunct="0">
                <a:spcBef>
                  <a:spcPct val="0"/>
                </a:spcBef>
                <a:spcAft>
                  <a:spcPct val="0"/>
                </a:spcAft>
                <a:defRPr b="1">
                  <a:solidFill>
                    <a:schemeClr val="tx1"/>
                  </a:solidFill>
                  <a:latin typeface="Tahoma" pitchFamily="34" charset="0"/>
                </a:defRPr>
              </a:lvl7pPr>
              <a:lvl8pPr marL="3429000" indent="-228600" eaLnBrk="0" fontAlgn="base" hangingPunct="0">
                <a:spcBef>
                  <a:spcPct val="0"/>
                </a:spcBef>
                <a:spcAft>
                  <a:spcPct val="0"/>
                </a:spcAft>
                <a:defRPr b="1">
                  <a:solidFill>
                    <a:schemeClr val="tx1"/>
                  </a:solidFill>
                  <a:latin typeface="Tahoma" pitchFamily="34" charset="0"/>
                </a:defRPr>
              </a:lvl8pPr>
              <a:lvl9pPr marL="3886200" indent="-228600" eaLnBrk="0" fontAlgn="base" hangingPunct="0">
                <a:spcBef>
                  <a:spcPct val="0"/>
                </a:spcBef>
                <a:spcAft>
                  <a:spcPct val="0"/>
                </a:spcAft>
                <a:defRPr b="1">
                  <a:solidFill>
                    <a:schemeClr val="tx1"/>
                  </a:solidFill>
                  <a:latin typeface="Tahoma" pitchFamily="34" charset="0"/>
                </a:defRPr>
              </a:lvl9pPr>
            </a:lstStyle>
            <a:p>
              <a:pPr algn="ctr" eaLnBrk="1" hangingPunct="1">
                <a:defRPr/>
              </a:pPr>
              <a:r>
                <a:rPr kumimoji="1" lang="en-US" altLang="ja-JP" sz="2400" dirty="0">
                  <a:solidFill>
                    <a:srgbClr val="FFFFFF"/>
                  </a:solidFill>
                  <a:latin typeface="+mn-lt"/>
                  <a:cs typeface="Arial" pitchFamily="34" charset="0"/>
                </a:rPr>
                <a:t>N-Tier Architecture</a:t>
              </a:r>
              <a:endParaRPr kumimoji="1" lang="ja-JP" altLang="en-US" sz="2400">
                <a:solidFill>
                  <a:srgbClr val="FFFFFF"/>
                </a:solidFill>
                <a:latin typeface="+mn-lt"/>
                <a:cs typeface="Arial" pitchFamily="34" charset="0"/>
              </a:endParaRPr>
            </a:p>
          </p:txBody>
        </p:sp>
        <p:sp>
          <p:nvSpPr>
            <p:cNvPr id="13" name="Down Arrow 12"/>
            <p:cNvSpPr/>
            <p:nvPr/>
          </p:nvSpPr>
          <p:spPr>
            <a:xfrm>
              <a:off x="4114901" y="3124540"/>
              <a:ext cx="457352" cy="76190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kumimoji="1" lang="ja-JP" altLang="en-US">
                <a:solidFill>
                  <a:srgbClr val="FFFFFF"/>
                </a:solidFill>
                <a:cs typeface="Arial" pitchFamily="34" charset="0"/>
              </a:endParaRPr>
            </a:p>
          </p:txBody>
        </p:sp>
        <p:sp>
          <p:nvSpPr>
            <p:cNvPr id="14" name="Down Arrow 13"/>
            <p:cNvSpPr/>
            <p:nvPr/>
          </p:nvSpPr>
          <p:spPr>
            <a:xfrm rot="19225723">
              <a:off x="5752109" y="3106996"/>
              <a:ext cx="457352" cy="76190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kumimoji="1" lang="ja-JP" altLang="en-US">
                <a:solidFill>
                  <a:srgbClr val="FFFFFF"/>
                </a:solidFill>
                <a:cs typeface="Arial" pitchFamily="34" charset="0"/>
              </a:endParaRPr>
            </a:p>
          </p:txBody>
        </p:sp>
      </p:grpSp>
      <p:sp>
        <p:nvSpPr>
          <p:cNvPr id="32772" name="Slide Number Placeholder 1"/>
          <p:cNvSpPr>
            <a:spLocks noGrp="1"/>
          </p:cNvSpPr>
          <p:nvPr>
            <p:ph type="sldNum" sz="quarter" idx="12"/>
          </p:nvPr>
        </p:nvSpPr>
        <p:spPr bwMode="auto">
          <a:xfrm>
            <a:off x="7800476" y="6456473"/>
            <a:ext cx="770468"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848CD305-FE0B-4AD3-86DA-BB4CA5047693}" type="slidenum">
              <a:rPr lang="en-US" altLang="ja-JP" smtClean="0"/>
              <a:pPr/>
              <a:t>23</a:t>
            </a:fld>
            <a:endParaRPr lang="en-US" altLang="ja-JP" dirty="0"/>
          </a:p>
        </p:txBody>
      </p:sp>
      <p:sp>
        <p:nvSpPr>
          <p:cNvPr id="2" name="Rectangle 1"/>
          <p:cNvSpPr/>
          <p:nvPr/>
        </p:nvSpPr>
        <p:spPr>
          <a:xfrm>
            <a:off x="479425" y="1970826"/>
            <a:ext cx="8260393" cy="1569660"/>
          </a:xfrm>
          <a:prstGeom prst="rect">
            <a:avLst/>
          </a:prstGeom>
        </p:spPr>
        <p:txBody>
          <a:bodyPr wrap="square">
            <a:spAutoFit/>
          </a:bodyPr>
          <a:lstStyle/>
          <a:p>
            <a:pPr marL="90488" indent="-273050">
              <a:spcBef>
                <a:spcPct val="20000"/>
              </a:spcBef>
              <a:buClr>
                <a:schemeClr val="accent2"/>
              </a:buClr>
              <a:buSzPct val="70000"/>
              <a:buFont typeface="Wingdings 2" pitchFamily="18" charset="2"/>
              <a:buNone/>
              <a:defRPr/>
            </a:pPr>
            <a:r>
              <a:rPr lang="en-US" altLang="ja-JP" sz="2400" dirty="0">
                <a:cs typeface="Arial" panose="020B0604020202020204" pitchFamily="34" charset="0"/>
              </a:rPr>
              <a:t>Client/server describes the relationship between two computer programs in which one program, the client, makes a service request from another program, the server, which fulfils the request</a:t>
            </a:r>
            <a:endParaRPr lang="en-US" sz="2400" dirty="0">
              <a:solidFill>
                <a:schemeClr val="accent6">
                  <a:lumMod val="50000"/>
                </a:schemeClr>
              </a:solidFill>
              <a:cs typeface="Arial" pitchFamily="34" charset="0"/>
            </a:endParaRPr>
          </a:p>
        </p:txBody>
      </p:sp>
    </p:spTree>
    <p:extLst>
      <p:ext uri="{BB962C8B-B14F-4D97-AF65-F5344CB8AC3E}">
        <p14:creationId xmlns:p14="http://schemas.microsoft.com/office/powerpoint/2010/main" val="682869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8" name="Picture 8" descr="http://weblogs.foxite.com/photos/1000.257.6936.cs0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974" y="3408198"/>
            <a:ext cx="7743825" cy="273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2"/>
          <p:cNvSpPr>
            <a:spLocks noGrp="1"/>
          </p:cNvSpPr>
          <p:nvPr>
            <p:ph idx="1"/>
          </p:nvPr>
        </p:nvSpPr>
        <p:spPr>
          <a:xfrm>
            <a:off x="457200" y="1627980"/>
            <a:ext cx="8461375" cy="1780217"/>
          </a:xfrm>
          <a:solidFill>
            <a:schemeClr val="accent2">
              <a:lumMod val="60000"/>
              <a:lumOff val="40000"/>
            </a:schemeClr>
          </a:solidFill>
        </p:spPr>
        <p:txBody>
          <a:bodyPr rtlCol="0">
            <a:noAutofit/>
          </a:bodyPr>
          <a:lstStyle/>
          <a:p>
            <a:pPr marL="274320" indent="-274320" eaLnBrk="1" fontAlgn="auto" hangingPunct="1">
              <a:spcAft>
                <a:spcPts val="0"/>
              </a:spcAft>
              <a:buFont typeface="Wingdings 2"/>
              <a:buChar char=""/>
              <a:defRPr/>
            </a:pPr>
            <a:r>
              <a:rPr lang="en-US" altLang="ja-JP" sz="2400" dirty="0">
                <a:solidFill>
                  <a:schemeClr val="tx1"/>
                </a:solidFill>
              </a:rPr>
              <a:t>A two-way interaction in a client/server environment, in which the user interface is stored in the client and the data are stored in the server. </a:t>
            </a:r>
            <a:endParaRPr lang="en-US" altLang="ja-JP" sz="1050" dirty="0">
              <a:solidFill>
                <a:schemeClr val="tx1"/>
              </a:solidFill>
            </a:endParaRPr>
          </a:p>
          <a:p>
            <a:pPr marL="274320" indent="-274320" eaLnBrk="1" fontAlgn="auto" hangingPunct="1">
              <a:spcAft>
                <a:spcPts val="0"/>
              </a:spcAft>
              <a:buFont typeface="Wingdings 2"/>
              <a:buChar char=""/>
              <a:defRPr/>
            </a:pPr>
            <a:r>
              <a:rPr lang="en-US" altLang="ja-JP" sz="2400" dirty="0">
                <a:solidFill>
                  <a:schemeClr val="tx1"/>
                </a:solidFill>
              </a:rPr>
              <a:t>The application logic can be in either the client or the server.</a:t>
            </a:r>
            <a:endParaRPr kumimoji="1" lang="ja-JP" altLang="en-US" sz="2400" dirty="0">
              <a:solidFill>
                <a:schemeClr val="tx1"/>
              </a:solidFill>
            </a:endParaRPr>
          </a:p>
        </p:txBody>
      </p:sp>
      <p:sp>
        <p:nvSpPr>
          <p:cNvPr id="2" name="Title 1"/>
          <p:cNvSpPr txBox="1">
            <a:spLocks/>
          </p:cNvSpPr>
          <p:nvPr/>
        </p:nvSpPr>
        <p:spPr bwMode="auto">
          <a:xfrm>
            <a:off x="341344" y="934245"/>
            <a:ext cx="8229600" cy="735012"/>
          </a:xfrm>
          <a:prstGeom prst="rect">
            <a:avLst/>
          </a:prstGeom>
          <a:noFill/>
          <a:ln w="9525">
            <a:noFill/>
            <a:miter lim="800000"/>
            <a:headEnd/>
            <a:tailEnd/>
          </a:ln>
        </p:spPr>
        <p:txBody>
          <a:bodyPr/>
          <a:lstStyle/>
          <a:p>
            <a:pPr algn="ctr" fontAlgn="auto">
              <a:spcAft>
                <a:spcPts val="0"/>
              </a:spcAft>
              <a:defRPr/>
            </a:pPr>
            <a:r>
              <a:rPr lang="en-US" altLang="ja-JP" sz="2700" cap="all" dirty="0">
                <a:solidFill>
                  <a:schemeClr val="bg1"/>
                </a:solidFill>
                <a:latin typeface="+mj-lt"/>
                <a:ea typeface="+mj-ea"/>
                <a:cs typeface="+mj-cs"/>
              </a:rPr>
              <a:t>2-Tier</a:t>
            </a:r>
            <a:r>
              <a:rPr lang="en-US" altLang="ja-JP" sz="2700" cap="small" dirty="0">
                <a:solidFill>
                  <a:srgbClr val="0033CC"/>
                </a:solidFill>
                <a:latin typeface="+mj-lt"/>
                <a:ea typeface="Arial Unicode MS" panose="020B0604020202020204" pitchFamily="34" charset="-128"/>
                <a:cs typeface="Arial Unicode MS" panose="020B0604020202020204" pitchFamily="34" charset="-128"/>
              </a:rPr>
              <a:t> </a:t>
            </a:r>
            <a:r>
              <a:rPr lang="en-US" altLang="ja-JP" sz="2700" cap="all" dirty="0">
                <a:solidFill>
                  <a:schemeClr val="bg1"/>
                </a:solidFill>
                <a:latin typeface="+mj-lt"/>
                <a:ea typeface="+mj-ea"/>
                <a:cs typeface="+mj-cs"/>
              </a:rPr>
              <a:t>Architecture</a:t>
            </a:r>
            <a:r>
              <a:rPr lang="en-US" altLang="ja-JP" sz="2700" cap="small" dirty="0">
                <a:solidFill>
                  <a:srgbClr val="0033CC"/>
                </a:solidFill>
                <a:latin typeface="+mj-lt"/>
                <a:ea typeface="Arial Unicode MS" panose="020B0604020202020204" pitchFamily="34" charset="-128"/>
                <a:cs typeface="Arial Unicode MS" panose="020B0604020202020204" pitchFamily="34" charset="-128"/>
              </a:rPr>
              <a:t> </a:t>
            </a:r>
            <a:endParaRPr lang="ja-JP" altLang="en-US" sz="2700" cap="small" dirty="0">
              <a:solidFill>
                <a:srgbClr val="0033CC"/>
              </a:solidFill>
              <a:latin typeface="+mj-lt"/>
              <a:ea typeface="Arial Unicode MS" panose="020B0604020202020204" pitchFamily="34" charset="-128"/>
              <a:cs typeface="Arial Unicode MS" panose="020B0604020202020204" pitchFamily="34" charset="-128"/>
            </a:endParaRPr>
          </a:p>
        </p:txBody>
      </p:sp>
      <p:sp>
        <p:nvSpPr>
          <p:cNvPr id="33796" name="Rectangle 9"/>
          <p:cNvSpPr>
            <a:spLocks noChangeArrowheads="1"/>
          </p:cNvSpPr>
          <p:nvPr/>
        </p:nvSpPr>
        <p:spPr bwMode="auto">
          <a:xfrm>
            <a:off x="2309993" y="5961774"/>
            <a:ext cx="44466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b="0" dirty="0"/>
              <a:t>Basic two-tier architecture (Clinton, 2013)</a:t>
            </a:r>
          </a:p>
        </p:txBody>
      </p:sp>
      <p:sp>
        <p:nvSpPr>
          <p:cNvPr id="33799"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EA7961F7-E488-4DEF-8CF8-120CCDBE9D4B}" type="slidenum">
              <a:rPr lang="en-US" altLang="ja-JP" smtClean="0"/>
              <a:pPr/>
              <a:t>24</a:t>
            </a:fld>
            <a:endParaRPr lang="en-US" altLang="ja-JP" dirty="0"/>
          </a:p>
        </p:txBody>
      </p:sp>
    </p:spTree>
    <p:extLst>
      <p:ext uri="{BB962C8B-B14F-4D97-AF65-F5344CB8AC3E}">
        <p14:creationId xmlns:p14="http://schemas.microsoft.com/office/powerpoint/2010/main" val="17773346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441325" y="279400"/>
            <a:ext cx="8229600" cy="990600"/>
          </a:xfrm>
        </p:spPr>
        <p:txBody>
          <a:bodyPr/>
          <a:lstStyle/>
          <a:p>
            <a:pPr algn="ctr" eaLnBrk="1" fontAlgn="auto" hangingPunct="1">
              <a:spcAft>
                <a:spcPts val="0"/>
              </a:spcAft>
              <a:defRPr/>
            </a:pPr>
            <a:r>
              <a:rPr lang="en-US" altLang="ja-JP" sz="2700" dirty="0"/>
              <a:t>3-Tier Architecture </a:t>
            </a:r>
            <a:endParaRPr lang="en-US" altLang="en-US" sz="2700" dirty="0"/>
          </a:p>
        </p:txBody>
      </p:sp>
      <p:sp>
        <p:nvSpPr>
          <p:cNvPr id="6" name="Content Placeholder 2"/>
          <p:cNvSpPr>
            <a:spLocks noGrp="1"/>
          </p:cNvSpPr>
          <p:nvPr>
            <p:ph idx="1"/>
          </p:nvPr>
        </p:nvSpPr>
        <p:spPr>
          <a:xfrm>
            <a:off x="335293" y="1538021"/>
            <a:ext cx="8670684" cy="1430338"/>
          </a:xfrm>
          <a:solidFill>
            <a:schemeClr val="accent2">
              <a:lumMod val="40000"/>
              <a:lumOff val="60000"/>
            </a:schemeClr>
          </a:solidFill>
        </p:spPr>
        <p:txBody>
          <a:bodyPr rtlCol="0">
            <a:noAutofit/>
          </a:bodyPr>
          <a:lstStyle/>
          <a:p>
            <a:pPr marL="274320" indent="-274320" eaLnBrk="1" fontAlgn="auto" hangingPunct="1">
              <a:spcAft>
                <a:spcPts val="0"/>
              </a:spcAft>
              <a:buFont typeface="Wingdings 2" pitchFamily="18" charset="2"/>
              <a:buNone/>
              <a:defRPr/>
            </a:pPr>
            <a:r>
              <a:rPr lang="en-US" altLang="ja-JP" sz="2400" dirty="0"/>
              <a:t>A three-way interaction in a client/server environment, in which the user interface is stored in the client, the bulk of the business application logic is stored in one or more servers, and the data are stored in a database server. </a:t>
            </a:r>
            <a:endParaRPr kumimoji="1" lang="ja-JP" altLang="en-US" sz="2400" dirty="0"/>
          </a:p>
        </p:txBody>
      </p:sp>
      <p:sp>
        <p:nvSpPr>
          <p:cNvPr id="34821" name="Rectangle 12"/>
          <p:cNvSpPr>
            <a:spLocks noChangeArrowheads="1"/>
          </p:cNvSpPr>
          <p:nvPr/>
        </p:nvSpPr>
        <p:spPr bwMode="auto">
          <a:xfrm>
            <a:off x="1629707" y="5719496"/>
            <a:ext cx="4604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r>
              <a:rPr lang="en-US" altLang="en-US" b="0" dirty="0"/>
              <a:t>Basic three-tier architecture (Clinton, 2013)</a:t>
            </a:r>
            <a:endParaRPr lang="en-US" altLang="en-US" dirty="0"/>
          </a:p>
        </p:txBody>
      </p:sp>
      <p:pic>
        <p:nvPicPr>
          <p:cNvPr id="34822" name="Picture 10" descr="http://weblogs.foxite.com/photos/1000.257.6937.cs0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906" y="2968359"/>
            <a:ext cx="8140700" cy="272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3" name="Slide Number Placeholder 1"/>
          <p:cNvSpPr>
            <a:spLocks noGrp="1"/>
          </p:cNvSpPr>
          <p:nvPr>
            <p:ph type="sldNum" sz="quarter" idx="12"/>
          </p:nvPr>
        </p:nvSpPr>
        <p:spPr bwMode="auto">
          <a:xfrm>
            <a:off x="7903994" y="6370207"/>
            <a:ext cx="770468"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CF496D19-7A8C-4B35-B5CC-7A6C1C1579B3}" type="slidenum">
              <a:rPr lang="en-US" altLang="ja-JP" smtClean="0"/>
              <a:pPr/>
              <a:t>25</a:t>
            </a:fld>
            <a:endParaRPr lang="en-US" altLang="ja-JP" dirty="0"/>
          </a:p>
        </p:txBody>
      </p:sp>
    </p:spTree>
    <p:extLst>
      <p:ext uri="{BB962C8B-B14F-4D97-AF65-F5344CB8AC3E}">
        <p14:creationId xmlns:p14="http://schemas.microsoft.com/office/powerpoint/2010/main" val="40667634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pPr algn="ctr" eaLnBrk="1" fontAlgn="auto" hangingPunct="1">
              <a:spcAft>
                <a:spcPts val="0"/>
              </a:spcAft>
              <a:defRPr/>
            </a:pPr>
            <a:r>
              <a:rPr lang="en-US" altLang="ja-JP" sz="2700" dirty="0"/>
              <a:t>Web</a:t>
            </a:r>
            <a:r>
              <a:rPr lang="en-US" altLang="ja-JP" sz="3600" b="1" dirty="0">
                <a:solidFill>
                  <a:schemeClr val="tx1"/>
                </a:solidFill>
              </a:rPr>
              <a:t> </a:t>
            </a:r>
            <a:r>
              <a:rPr lang="en-US" altLang="ja-JP" sz="2700" dirty="0"/>
              <a:t>Servers</a:t>
            </a:r>
            <a:endParaRPr lang="en-US" altLang="en-US" sz="2700" dirty="0"/>
          </a:p>
        </p:txBody>
      </p:sp>
      <p:sp>
        <p:nvSpPr>
          <p:cNvPr id="13" name="Content Placeholder 2"/>
          <p:cNvSpPr>
            <a:spLocks noGrp="1"/>
          </p:cNvSpPr>
          <p:nvPr>
            <p:ph idx="1"/>
          </p:nvPr>
        </p:nvSpPr>
        <p:spPr>
          <a:xfrm>
            <a:off x="468312" y="2989338"/>
            <a:ext cx="4727575" cy="3429000"/>
          </a:xfrm>
          <a:solidFill>
            <a:schemeClr val="accent6">
              <a:lumMod val="60000"/>
              <a:lumOff val="40000"/>
            </a:schemeClr>
          </a:solidFill>
        </p:spPr>
        <p:txBody>
          <a:bodyPr rtlCol="0">
            <a:normAutofit/>
          </a:bodyPr>
          <a:lstStyle/>
          <a:p>
            <a:pPr marL="274320" indent="-274320" eaLnBrk="1" fontAlgn="auto" hangingPunct="1">
              <a:lnSpc>
                <a:spcPct val="80000"/>
              </a:lnSpc>
              <a:spcAft>
                <a:spcPts val="0"/>
              </a:spcAft>
              <a:buFont typeface="Wingdings 2"/>
              <a:buChar char=""/>
              <a:defRPr/>
            </a:pPr>
            <a:r>
              <a:rPr lang="en-US" altLang="ja-JP" sz="2300" dirty="0"/>
              <a:t>IIS</a:t>
            </a:r>
          </a:p>
          <a:p>
            <a:pPr marL="548640" lvl="1" indent="-274320" eaLnBrk="1" fontAlgn="auto" hangingPunct="1">
              <a:lnSpc>
                <a:spcPct val="80000"/>
              </a:lnSpc>
              <a:spcAft>
                <a:spcPts val="0"/>
              </a:spcAft>
              <a:buFont typeface="Wingdings"/>
              <a:buChar char=""/>
              <a:defRPr/>
            </a:pPr>
            <a:r>
              <a:rPr lang="en-US" altLang="ja-JP" sz="1500" dirty="0">
                <a:hlinkClick r:id="rId2"/>
              </a:rPr>
              <a:t>http://www.iis.net/</a:t>
            </a:r>
            <a:endParaRPr lang="en-US" altLang="ja-JP" sz="1500" dirty="0"/>
          </a:p>
          <a:p>
            <a:pPr marL="548640" lvl="1" indent="-274320" eaLnBrk="1" fontAlgn="auto" hangingPunct="1">
              <a:lnSpc>
                <a:spcPct val="80000"/>
              </a:lnSpc>
              <a:spcAft>
                <a:spcPts val="0"/>
              </a:spcAft>
              <a:buFont typeface="Wingdings"/>
              <a:buChar char=""/>
              <a:defRPr/>
            </a:pPr>
            <a:endParaRPr lang="en-US" altLang="ja-JP" dirty="0"/>
          </a:p>
          <a:p>
            <a:pPr marL="274320" indent="-274320" eaLnBrk="1" fontAlgn="auto" hangingPunct="1">
              <a:lnSpc>
                <a:spcPct val="80000"/>
              </a:lnSpc>
              <a:spcAft>
                <a:spcPts val="0"/>
              </a:spcAft>
              <a:buFont typeface="Wingdings 2"/>
              <a:buChar char=""/>
              <a:defRPr/>
            </a:pPr>
            <a:r>
              <a:rPr lang="en-US" altLang="ja-JP" sz="2300" dirty="0"/>
              <a:t>Apache</a:t>
            </a:r>
          </a:p>
          <a:p>
            <a:pPr marL="548640" lvl="1" indent="-274320" eaLnBrk="1" fontAlgn="auto" hangingPunct="1">
              <a:lnSpc>
                <a:spcPct val="80000"/>
              </a:lnSpc>
              <a:spcAft>
                <a:spcPts val="0"/>
              </a:spcAft>
              <a:buFont typeface="Wingdings"/>
              <a:buChar char=""/>
              <a:defRPr/>
            </a:pPr>
            <a:r>
              <a:rPr lang="en-US" altLang="ja-JP" sz="1500" dirty="0">
                <a:hlinkClick r:id="rId3"/>
              </a:rPr>
              <a:t>http://www.apache.org/</a:t>
            </a:r>
            <a:endParaRPr lang="en-US" altLang="ja-JP" sz="1500" dirty="0"/>
          </a:p>
          <a:p>
            <a:pPr marL="548640" lvl="1" indent="-274320" eaLnBrk="1" fontAlgn="auto" hangingPunct="1">
              <a:lnSpc>
                <a:spcPct val="80000"/>
              </a:lnSpc>
              <a:spcAft>
                <a:spcPts val="0"/>
              </a:spcAft>
              <a:buFont typeface="Wingdings"/>
              <a:buChar char=""/>
              <a:defRPr/>
            </a:pPr>
            <a:endParaRPr lang="en-US" altLang="ja-JP" dirty="0"/>
          </a:p>
          <a:p>
            <a:pPr marL="274320" indent="-274320" eaLnBrk="1" fontAlgn="auto" hangingPunct="1">
              <a:lnSpc>
                <a:spcPct val="80000"/>
              </a:lnSpc>
              <a:spcAft>
                <a:spcPts val="0"/>
              </a:spcAft>
              <a:buFont typeface="Wingdings 2"/>
              <a:buChar char=""/>
              <a:defRPr/>
            </a:pPr>
            <a:r>
              <a:rPr lang="en-US" altLang="ja-JP" sz="2300" dirty="0"/>
              <a:t>Tomcat</a:t>
            </a:r>
          </a:p>
          <a:p>
            <a:pPr marL="548640" lvl="1" indent="-274320" eaLnBrk="1" fontAlgn="auto" hangingPunct="1">
              <a:lnSpc>
                <a:spcPct val="80000"/>
              </a:lnSpc>
              <a:spcAft>
                <a:spcPts val="0"/>
              </a:spcAft>
              <a:buFont typeface="Wingdings"/>
              <a:buChar char=""/>
              <a:defRPr/>
            </a:pPr>
            <a:r>
              <a:rPr lang="en-US" altLang="ja-JP" sz="1500" dirty="0">
                <a:hlinkClick r:id="rId4"/>
              </a:rPr>
              <a:t>http://tomcat.apache.org/</a:t>
            </a:r>
            <a:endParaRPr lang="en-US" altLang="ja-JP" sz="1500" dirty="0"/>
          </a:p>
          <a:p>
            <a:pPr marL="548640" lvl="1" indent="-274320" eaLnBrk="1" fontAlgn="auto" hangingPunct="1">
              <a:lnSpc>
                <a:spcPct val="80000"/>
              </a:lnSpc>
              <a:spcAft>
                <a:spcPts val="0"/>
              </a:spcAft>
              <a:buFont typeface="Wingdings"/>
              <a:buChar char=""/>
              <a:defRPr/>
            </a:pPr>
            <a:endParaRPr lang="en-US" altLang="ja-JP" dirty="0"/>
          </a:p>
          <a:p>
            <a:pPr marL="274320" indent="-274320" eaLnBrk="1" fontAlgn="auto" hangingPunct="1">
              <a:lnSpc>
                <a:spcPct val="80000"/>
              </a:lnSpc>
              <a:spcAft>
                <a:spcPts val="0"/>
              </a:spcAft>
              <a:buFont typeface="Wingdings 2"/>
              <a:buChar char=""/>
              <a:defRPr/>
            </a:pPr>
            <a:r>
              <a:rPr lang="en-US" altLang="ja-JP" sz="2300" dirty="0"/>
              <a:t>Glassfish</a:t>
            </a:r>
          </a:p>
          <a:p>
            <a:pPr marL="548640" lvl="1" indent="-274320" eaLnBrk="1" fontAlgn="auto" hangingPunct="1">
              <a:lnSpc>
                <a:spcPct val="80000"/>
              </a:lnSpc>
              <a:spcAft>
                <a:spcPts val="0"/>
              </a:spcAft>
              <a:buFont typeface="Wingdings"/>
              <a:buChar char=""/>
              <a:defRPr/>
            </a:pPr>
            <a:r>
              <a:rPr lang="en-US" altLang="ja-JP" sz="1500" dirty="0">
                <a:hlinkClick r:id="rId5"/>
              </a:rPr>
              <a:t>https://glassfish.dev.java.net/</a:t>
            </a:r>
            <a:endParaRPr lang="en-US" altLang="ja-JP" sz="1500" dirty="0"/>
          </a:p>
        </p:txBody>
      </p:sp>
      <p:pic>
        <p:nvPicPr>
          <p:cNvPr id="15"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76725" y="4724400"/>
            <a:ext cx="6413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65575" y="3830638"/>
            <a:ext cx="95250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18000" y="5638800"/>
            <a:ext cx="6000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0" name="TextBox 8"/>
          <p:cNvSpPr txBox="1">
            <a:spLocks noChangeArrowheads="1"/>
          </p:cNvSpPr>
          <p:nvPr/>
        </p:nvSpPr>
        <p:spPr bwMode="auto">
          <a:xfrm>
            <a:off x="468312" y="1993804"/>
            <a:ext cx="8244368" cy="892552"/>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eaLnBrk="1" hangingPunct="1"/>
            <a:r>
              <a:rPr lang="en-US" altLang="ja-JP" sz="2400" b="0" dirty="0">
                <a:latin typeface="+mn-lt"/>
                <a:cs typeface="Arial" panose="020B0604020202020204" pitchFamily="34" charset="0"/>
              </a:rPr>
              <a:t>Any computer can be turned into a Web server by installing server software and connecting the machine to the Internet</a:t>
            </a:r>
            <a:r>
              <a:rPr lang="en-US" altLang="ja-JP" sz="2800" b="0" dirty="0">
                <a:latin typeface="+mn-lt"/>
                <a:cs typeface="Arial" panose="020B0604020202020204" pitchFamily="34" charset="0"/>
              </a:rPr>
              <a:t> </a:t>
            </a:r>
            <a:endParaRPr lang="ja-JP" altLang="en-US" sz="2800" b="0" dirty="0">
              <a:latin typeface="+mn-lt"/>
              <a:cs typeface="Arial" panose="020B0604020202020204" pitchFamily="34" charset="0"/>
            </a:endParaRPr>
          </a:p>
        </p:txBody>
      </p:sp>
      <p:pic>
        <p:nvPicPr>
          <p:cNvPr id="38921" name="Picture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95887" y="3009900"/>
            <a:ext cx="3697288"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2"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60963512-BF61-4587-AA46-E505DA22B55B}" type="slidenum">
              <a:rPr lang="en-US" altLang="ja-JP" smtClean="0"/>
              <a:pPr/>
              <a:t>26</a:t>
            </a:fld>
            <a:endParaRPr lang="en-US" altLang="ja-JP" dirty="0"/>
          </a:p>
        </p:txBody>
      </p:sp>
    </p:spTree>
    <p:extLst>
      <p:ext uri="{BB962C8B-B14F-4D97-AF65-F5344CB8AC3E}">
        <p14:creationId xmlns:p14="http://schemas.microsoft.com/office/powerpoint/2010/main" val="21136171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3">
                                            <p:bg/>
                                          </p:spTgt>
                                        </p:tgtEl>
                                        <p:attrNameLst>
                                          <p:attrName>style.visibility</p:attrName>
                                        </p:attrNameLst>
                                      </p:cBhvr>
                                      <p:to>
                                        <p:strVal val="visible"/>
                                      </p:to>
                                    </p:set>
                                    <p:anim calcmode="lin" valueType="num">
                                      <p:cBhvr>
                                        <p:cTn id="7" dur="1000" fill="hold"/>
                                        <p:tgtEl>
                                          <p:spTgt spid="13">
                                            <p:bg/>
                                          </p:spTgt>
                                        </p:tgtEl>
                                        <p:attrNameLst>
                                          <p:attrName>ppt_w</p:attrName>
                                        </p:attrNameLst>
                                      </p:cBhvr>
                                      <p:tavLst>
                                        <p:tav tm="0">
                                          <p:val>
                                            <p:strVal val="#ppt_w*0.70"/>
                                          </p:val>
                                        </p:tav>
                                        <p:tav tm="100000">
                                          <p:val>
                                            <p:strVal val="#ppt_w"/>
                                          </p:val>
                                        </p:tav>
                                      </p:tavLst>
                                    </p:anim>
                                    <p:anim calcmode="lin" valueType="num">
                                      <p:cBhvr>
                                        <p:cTn id="8" dur="1000" fill="hold"/>
                                        <p:tgtEl>
                                          <p:spTgt spid="13">
                                            <p:bg/>
                                          </p:spTgt>
                                        </p:tgtEl>
                                        <p:attrNameLst>
                                          <p:attrName>ppt_h</p:attrName>
                                        </p:attrNameLst>
                                      </p:cBhvr>
                                      <p:tavLst>
                                        <p:tav tm="0">
                                          <p:val>
                                            <p:strVal val="#ppt_h"/>
                                          </p:val>
                                        </p:tav>
                                        <p:tav tm="100000">
                                          <p:val>
                                            <p:strVal val="#ppt_h"/>
                                          </p:val>
                                        </p:tav>
                                      </p:tavLst>
                                    </p:anim>
                                    <p:animEffect transition="in" filter="fade">
                                      <p:cBhvr>
                                        <p:cTn id="9" dur="1000"/>
                                        <p:tgtEl>
                                          <p:spTgt spid="13">
                                            <p:bg/>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 calcmode="lin" valueType="num">
                                      <p:cBhvr>
                                        <p:cTn id="12" dur="1000" fill="hold"/>
                                        <p:tgtEl>
                                          <p:spTgt spid="13">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13">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13">
                                            <p:txEl>
                                              <p:pRg st="0" end="0"/>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3">
                                            <p:txEl>
                                              <p:pRg st="1" end="1"/>
                                            </p:txEl>
                                          </p:spTgt>
                                        </p:tgtEl>
                                        <p:attrNameLst>
                                          <p:attrName>style.visibility</p:attrName>
                                        </p:attrNameLst>
                                      </p:cBhvr>
                                      <p:to>
                                        <p:strVal val="visible"/>
                                      </p:to>
                                    </p:set>
                                    <p:anim calcmode="lin" valueType="num">
                                      <p:cBhvr>
                                        <p:cTn id="17" dur="1000" fill="hold"/>
                                        <p:tgtEl>
                                          <p:spTgt spid="13">
                                            <p:txEl>
                                              <p:pRg st="1" end="1"/>
                                            </p:txEl>
                                          </p:spTgt>
                                        </p:tgtEl>
                                        <p:attrNameLst>
                                          <p:attrName>ppt_w</p:attrName>
                                        </p:attrNameLst>
                                      </p:cBhvr>
                                      <p:tavLst>
                                        <p:tav tm="0">
                                          <p:val>
                                            <p:strVal val="#ppt_w*0.70"/>
                                          </p:val>
                                        </p:tav>
                                        <p:tav tm="100000">
                                          <p:val>
                                            <p:strVal val="#ppt_w"/>
                                          </p:val>
                                        </p:tav>
                                      </p:tavLst>
                                    </p:anim>
                                    <p:anim calcmode="lin" valueType="num">
                                      <p:cBhvr>
                                        <p:cTn id="18" dur="1000" fill="hold"/>
                                        <p:tgtEl>
                                          <p:spTgt spid="13">
                                            <p:txEl>
                                              <p:pRg st="1" end="1"/>
                                            </p:txEl>
                                          </p:spTgt>
                                        </p:tgtEl>
                                        <p:attrNameLst>
                                          <p:attrName>ppt_h</p:attrName>
                                        </p:attrNameLst>
                                      </p:cBhvr>
                                      <p:tavLst>
                                        <p:tav tm="0">
                                          <p:val>
                                            <p:strVal val="#ppt_h"/>
                                          </p:val>
                                        </p:tav>
                                        <p:tav tm="100000">
                                          <p:val>
                                            <p:strVal val="#ppt_h"/>
                                          </p:val>
                                        </p:tav>
                                      </p:tavLst>
                                    </p:anim>
                                    <p:animEffect transition="in" filter="fade">
                                      <p:cBhvr>
                                        <p:cTn id="19" dur="1000"/>
                                        <p:tgtEl>
                                          <p:spTgt spid="13">
                                            <p:txEl>
                                              <p:pRg st="1" end="1"/>
                                            </p:txEl>
                                          </p:spTgt>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 calcmode="lin" valueType="num">
                                      <p:cBhvr>
                                        <p:cTn id="22" dur="1000" fill="hold"/>
                                        <p:tgtEl>
                                          <p:spTgt spid="13">
                                            <p:txEl>
                                              <p:pRg st="3" end="3"/>
                                            </p:txEl>
                                          </p:spTgt>
                                        </p:tgtEl>
                                        <p:attrNameLst>
                                          <p:attrName>ppt_w</p:attrName>
                                        </p:attrNameLst>
                                      </p:cBhvr>
                                      <p:tavLst>
                                        <p:tav tm="0">
                                          <p:val>
                                            <p:strVal val="#ppt_w*0.70"/>
                                          </p:val>
                                        </p:tav>
                                        <p:tav tm="100000">
                                          <p:val>
                                            <p:strVal val="#ppt_w"/>
                                          </p:val>
                                        </p:tav>
                                      </p:tavLst>
                                    </p:anim>
                                    <p:anim calcmode="lin" valueType="num">
                                      <p:cBhvr>
                                        <p:cTn id="23" dur="1000" fill="hold"/>
                                        <p:tgtEl>
                                          <p:spTgt spid="13">
                                            <p:txEl>
                                              <p:pRg st="3" end="3"/>
                                            </p:txEl>
                                          </p:spTgt>
                                        </p:tgtEl>
                                        <p:attrNameLst>
                                          <p:attrName>ppt_h</p:attrName>
                                        </p:attrNameLst>
                                      </p:cBhvr>
                                      <p:tavLst>
                                        <p:tav tm="0">
                                          <p:val>
                                            <p:strVal val="#ppt_h"/>
                                          </p:val>
                                        </p:tav>
                                        <p:tav tm="100000">
                                          <p:val>
                                            <p:strVal val="#ppt_h"/>
                                          </p:val>
                                        </p:tav>
                                      </p:tavLst>
                                    </p:anim>
                                    <p:animEffect transition="in" filter="fade">
                                      <p:cBhvr>
                                        <p:cTn id="24" dur="1000"/>
                                        <p:tgtEl>
                                          <p:spTgt spid="13">
                                            <p:txEl>
                                              <p:pRg st="3" end="3"/>
                                            </p:txEl>
                                          </p:spTgt>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 calcmode="lin" valueType="num">
                                      <p:cBhvr>
                                        <p:cTn id="27" dur="1000" fill="hold"/>
                                        <p:tgtEl>
                                          <p:spTgt spid="13">
                                            <p:txEl>
                                              <p:pRg st="4" end="4"/>
                                            </p:txEl>
                                          </p:spTgt>
                                        </p:tgtEl>
                                        <p:attrNameLst>
                                          <p:attrName>ppt_w</p:attrName>
                                        </p:attrNameLst>
                                      </p:cBhvr>
                                      <p:tavLst>
                                        <p:tav tm="0">
                                          <p:val>
                                            <p:strVal val="#ppt_w*0.70"/>
                                          </p:val>
                                        </p:tav>
                                        <p:tav tm="100000">
                                          <p:val>
                                            <p:strVal val="#ppt_w"/>
                                          </p:val>
                                        </p:tav>
                                      </p:tavLst>
                                    </p:anim>
                                    <p:anim calcmode="lin" valueType="num">
                                      <p:cBhvr>
                                        <p:cTn id="28" dur="1000" fill="hold"/>
                                        <p:tgtEl>
                                          <p:spTgt spid="13">
                                            <p:txEl>
                                              <p:pRg st="4" end="4"/>
                                            </p:txEl>
                                          </p:spTgt>
                                        </p:tgtEl>
                                        <p:attrNameLst>
                                          <p:attrName>ppt_h</p:attrName>
                                        </p:attrNameLst>
                                      </p:cBhvr>
                                      <p:tavLst>
                                        <p:tav tm="0">
                                          <p:val>
                                            <p:strVal val="#ppt_h"/>
                                          </p:val>
                                        </p:tav>
                                        <p:tav tm="100000">
                                          <p:val>
                                            <p:strVal val="#ppt_h"/>
                                          </p:val>
                                        </p:tav>
                                      </p:tavLst>
                                    </p:anim>
                                    <p:animEffect transition="in" filter="fade">
                                      <p:cBhvr>
                                        <p:cTn id="29" dur="1000"/>
                                        <p:tgtEl>
                                          <p:spTgt spid="13">
                                            <p:txEl>
                                              <p:pRg st="4" end="4"/>
                                            </p:txEl>
                                          </p:spTgt>
                                        </p:tgtEl>
                                      </p:cBhvr>
                                    </p:animEffect>
                                  </p:childTnLst>
                                </p:cTn>
                              </p:par>
                              <p:par>
                                <p:cTn id="30" presetID="55" presetClass="entr" presetSubtype="0" fill="hold" grpId="0" nodeType="withEffect">
                                  <p:stCondLst>
                                    <p:cond delay="0"/>
                                  </p:stCondLst>
                                  <p:childTnLst>
                                    <p:set>
                                      <p:cBhvr>
                                        <p:cTn id="31" dur="1" fill="hold">
                                          <p:stCondLst>
                                            <p:cond delay="0"/>
                                          </p:stCondLst>
                                        </p:cTn>
                                        <p:tgtEl>
                                          <p:spTgt spid="13">
                                            <p:txEl>
                                              <p:pRg st="6" end="6"/>
                                            </p:txEl>
                                          </p:spTgt>
                                        </p:tgtEl>
                                        <p:attrNameLst>
                                          <p:attrName>style.visibility</p:attrName>
                                        </p:attrNameLst>
                                      </p:cBhvr>
                                      <p:to>
                                        <p:strVal val="visible"/>
                                      </p:to>
                                    </p:set>
                                    <p:anim calcmode="lin" valueType="num">
                                      <p:cBhvr>
                                        <p:cTn id="32" dur="1000" fill="hold"/>
                                        <p:tgtEl>
                                          <p:spTgt spid="13">
                                            <p:txEl>
                                              <p:pRg st="6" end="6"/>
                                            </p:txEl>
                                          </p:spTgt>
                                        </p:tgtEl>
                                        <p:attrNameLst>
                                          <p:attrName>ppt_w</p:attrName>
                                        </p:attrNameLst>
                                      </p:cBhvr>
                                      <p:tavLst>
                                        <p:tav tm="0">
                                          <p:val>
                                            <p:strVal val="#ppt_w*0.70"/>
                                          </p:val>
                                        </p:tav>
                                        <p:tav tm="100000">
                                          <p:val>
                                            <p:strVal val="#ppt_w"/>
                                          </p:val>
                                        </p:tav>
                                      </p:tavLst>
                                    </p:anim>
                                    <p:anim calcmode="lin" valueType="num">
                                      <p:cBhvr>
                                        <p:cTn id="33" dur="1000" fill="hold"/>
                                        <p:tgtEl>
                                          <p:spTgt spid="13">
                                            <p:txEl>
                                              <p:pRg st="6" end="6"/>
                                            </p:txEl>
                                          </p:spTgt>
                                        </p:tgtEl>
                                        <p:attrNameLst>
                                          <p:attrName>ppt_h</p:attrName>
                                        </p:attrNameLst>
                                      </p:cBhvr>
                                      <p:tavLst>
                                        <p:tav tm="0">
                                          <p:val>
                                            <p:strVal val="#ppt_h"/>
                                          </p:val>
                                        </p:tav>
                                        <p:tav tm="100000">
                                          <p:val>
                                            <p:strVal val="#ppt_h"/>
                                          </p:val>
                                        </p:tav>
                                      </p:tavLst>
                                    </p:anim>
                                    <p:animEffect transition="in" filter="fade">
                                      <p:cBhvr>
                                        <p:cTn id="34" dur="1000"/>
                                        <p:tgtEl>
                                          <p:spTgt spid="13">
                                            <p:txEl>
                                              <p:pRg st="6" end="6"/>
                                            </p:txEl>
                                          </p:spTgt>
                                        </p:tgtEl>
                                      </p:cBhvr>
                                    </p:animEffect>
                                  </p:childTnLst>
                                </p:cTn>
                              </p:par>
                              <p:par>
                                <p:cTn id="35" presetID="55" presetClass="entr" presetSubtype="0" fill="hold" grpId="0" nodeType="withEffect">
                                  <p:stCondLst>
                                    <p:cond delay="0"/>
                                  </p:stCondLst>
                                  <p:childTnLst>
                                    <p:set>
                                      <p:cBhvr>
                                        <p:cTn id="36" dur="1" fill="hold">
                                          <p:stCondLst>
                                            <p:cond delay="0"/>
                                          </p:stCondLst>
                                        </p:cTn>
                                        <p:tgtEl>
                                          <p:spTgt spid="13">
                                            <p:txEl>
                                              <p:pRg st="7" end="7"/>
                                            </p:txEl>
                                          </p:spTgt>
                                        </p:tgtEl>
                                        <p:attrNameLst>
                                          <p:attrName>style.visibility</p:attrName>
                                        </p:attrNameLst>
                                      </p:cBhvr>
                                      <p:to>
                                        <p:strVal val="visible"/>
                                      </p:to>
                                    </p:set>
                                    <p:anim calcmode="lin" valueType="num">
                                      <p:cBhvr>
                                        <p:cTn id="37" dur="1000" fill="hold"/>
                                        <p:tgtEl>
                                          <p:spTgt spid="13">
                                            <p:txEl>
                                              <p:pRg st="7" end="7"/>
                                            </p:txEl>
                                          </p:spTgt>
                                        </p:tgtEl>
                                        <p:attrNameLst>
                                          <p:attrName>ppt_w</p:attrName>
                                        </p:attrNameLst>
                                      </p:cBhvr>
                                      <p:tavLst>
                                        <p:tav tm="0">
                                          <p:val>
                                            <p:strVal val="#ppt_w*0.70"/>
                                          </p:val>
                                        </p:tav>
                                        <p:tav tm="100000">
                                          <p:val>
                                            <p:strVal val="#ppt_w"/>
                                          </p:val>
                                        </p:tav>
                                      </p:tavLst>
                                    </p:anim>
                                    <p:anim calcmode="lin" valueType="num">
                                      <p:cBhvr>
                                        <p:cTn id="38" dur="1000" fill="hold"/>
                                        <p:tgtEl>
                                          <p:spTgt spid="13">
                                            <p:txEl>
                                              <p:pRg st="7" end="7"/>
                                            </p:txEl>
                                          </p:spTgt>
                                        </p:tgtEl>
                                        <p:attrNameLst>
                                          <p:attrName>ppt_h</p:attrName>
                                        </p:attrNameLst>
                                      </p:cBhvr>
                                      <p:tavLst>
                                        <p:tav tm="0">
                                          <p:val>
                                            <p:strVal val="#ppt_h"/>
                                          </p:val>
                                        </p:tav>
                                        <p:tav tm="100000">
                                          <p:val>
                                            <p:strVal val="#ppt_h"/>
                                          </p:val>
                                        </p:tav>
                                      </p:tavLst>
                                    </p:anim>
                                    <p:animEffect transition="in" filter="fade">
                                      <p:cBhvr>
                                        <p:cTn id="39" dur="1000"/>
                                        <p:tgtEl>
                                          <p:spTgt spid="13">
                                            <p:txEl>
                                              <p:pRg st="7" end="7"/>
                                            </p:txEl>
                                          </p:spTgt>
                                        </p:tgtEl>
                                      </p:cBhvr>
                                    </p:animEffect>
                                  </p:childTnLst>
                                </p:cTn>
                              </p:par>
                              <p:par>
                                <p:cTn id="40" presetID="55" presetClass="entr" presetSubtype="0" fill="hold" grpId="0" nodeType="withEffect">
                                  <p:stCondLst>
                                    <p:cond delay="0"/>
                                  </p:stCondLst>
                                  <p:childTnLst>
                                    <p:set>
                                      <p:cBhvr>
                                        <p:cTn id="41" dur="1" fill="hold">
                                          <p:stCondLst>
                                            <p:cond delay="0"/>
                                          </p:stCondLst>
                                        </p:cTn>
                                        <p:tgtEl>
                                          <p:spTgt spid="13">
                                            <p:txEl>
                                              <p:pRg st="9" end="9"/>
                                            </p:txEl>
                                          </p:spTgt>
                                        </p:tgtEl>
                                        <p:attrNameLst>
                                          <p:attrName>style.visibility</p:attrName>
                                        </p:attrNameLst>
                                      </p:cBhvr>
                                      <p:to>
                                        <p:strVal val="visible"/>
                                      </p:to>
                                    </p:set>
                                    <p:anim calcmode="lin" valueType="num">
                                      <p:cBhvr>
                                        <p:cTn id="42" dur="1000" fill="hold"/>
                                        <p:tgtEl>
                                          <p:spTgt spid="13">
                                            <p:txEl>
                                              <p:pRg st="9" end="9"/>
                                            </p:txEl>
                                          </p:spTgt>
                                        </p:tgtEl>
                                        <p:attrNameLst>
                                          <p:attrName>ppt_w</p:attrName>
                                        </p:attrNameLst>
                                      </p:cBhvr>
                                      <p:tavLst>
                                        <p:tav tm="0">
                                          <p:val>
                                            <p:strVal val="#ppt_w*0.70"/>
                                          </p:val>
                                        </p:tav>
                                        <p:tav tm="100000">
                                          <p:val>
                                            <p:strVal val="#ppt_w"/>
                                          </p:val>
                                        </p:tav>
                                      </p:tavLst>
                                    </p:anim>
                                    <p:anim calcmode="lin" valueType="num">
                                      <p:cBhvr>
                                        <p:cTn id="43" dur="1000" fill="hold"/>
                                        <p:tgtEl>
                                          <p:spTgt spid="13">
                                            <p:txEl>
                                              <p:pRg st="9" end="9"/>
                                            </p:txEl>
                                          </p:spTgt>
                                        </p:tgtEl>
                                        <p:attrNameLst>
                                          <p:attrName>ppt_h</p:attrName>
                                        </p:attrNameLst>
                                      </p:cBhvr>
                                      <p:tavLst>
                                        <p:tav tm="0">
                                          <p:val>
                                            <p:strVal val="#ppt_h"/>
                                          </p:val>
                                        </p:tav>
                                        <p:tav tm="100000">
                                          <p:val>
                                            <p:strVal val="#ppt_h"/>
                                          </p:val>
                                        </p:tav>
                                      </p:tavLst>
                                    </p:anim>
                                    <p:animEffect transition="in" filter="fade">
                                      <p:cBhvr>
                                        <p:cTn id="44" dur="1000"/>
                                        <p:tgtEl>
                                          <p:spTgt spid="13">
                                            <p:txEl>
                                              <p:pRg st="9" end="9"/>
                                            </p:txEl>
                                          </p:spTgt>
                                        </p:tgtEl>
                                      </p:cBhvr>
                                    </p:animEffect>
                                  </p:childTnLst>
                                </p:cTn>
                              </p:par>
                              <p:par>
                                <p:cTn id="45" presetID="55" presetClass="entr" presetSubtype="0" fill="hold" grpId="0" nodeType="withEffect">
                                  <p:stCondLst>
                                    <p:cond delay="0"/>
                                  </p:stCondLst>
                                  <p:childTnLst>
                                    <p:set>
                                      <p:cBhvr>
                                        <p:cTn id="46" dur="1" fill="hold">
                                          <p:stCondLst>
                                            <p:cond delay="0"/>
                                          </p:stCondLst>
                                        </p:cTn>
                                        <p:tgtEl>
                                          <p:spTgt spid="13">
                                            <p:txEl>
                                              <p:pRg st="10" end="10"/>
                                            </p:txEl>
                                          </p:spTgt>
                                        </p:tgtEl>
                                        <p:attrNameLst>
                                          <p:attrName>style.visibility</p:attrName>
                                        </p:attrNameLst>
                                      </p:cBhvr>
                                      <p:to>
                                        <p:strVal val="visible"/>
                                      </p:to>
                                    </p:set>
                                    <p:anim calcmode="lin" valueType="num">
                                      <p:cBhvr>
                                        <p:cTn id="47" dur="1000" fill="hold"/>
                                        <p:tgtEl>
                                          <p:spTgt spid="13">
                                            <p:txEl>
                                              <p:pRg st="10" end="10"/>
                                            </p:txEl>
                                          </p:spTgt>
                                        </p:tgtEl>
                                        <p:attrNameLst>
                                          <p:attrName>ppt_w</p:attrName>
                                        </p:attrNameLst>
                                      </p:cBhvr>
                                      <p:tavLst>
                                        <p:tav tm="0">
                                          <p:val>
                                            <p:strVal val="#ppt_w*0.70"/>
                                          </p:val>
                                        </p:tav>
                                        <p:tav tm="100000">
                                          <p:val>
                                            <p:strVal val="#ppt_w"/>
                                          </p:val>
                                        </p:tav>
                                      </p:tavLst>
                                    </p:anim>
                                    <p:anim calcmode="lin" valueType="num">
                                      <p:cBhvr>
                                        <p:cTn id="48" dur="1000" fill="hold"/>
                                        <p:tgtEl>
                                          <p:spTgt spid="13">
                                            <p:txEl>
                                              <p:pRg st="10" end="10"/>
                                            </p:txEl>
                                          </p:spTgt>
                                        </p:tgtEl>
                                        <p:attrNameLst>
                                          <p:attrName>ppt_h</p:attrName>
                                        </p:attrNameLst>
                                      </p:cBhvr>
                                      <p:tavLst>
                                        <p:tav tm="0">
                                          <p:val>
                                            <p:strVal val="#ppt_h"/>
                                          </p:val>
                                        </p:tav>
                                        <p:tav tm="100000">
                                          <p:val>
                                            <p:strVal val="#ppt_h"/>
                                          </p:val>
                                        </p:tav>
                                      </p:tavLst>
                                    </p:anim>
                                    <p:animEffect transition="in" filter="fade">
                                      <p:cBhvr>
                                        <p:cTn id="49" dur="1000"/>
                                        <p:tgtEl>
                                          <p:spTgt spid="13">
                                            <p:txEl>
                                              <p:pRg st="10" end="10"/>
                                            </p:txEl>
                                          </p:spTgt>
                                        </p:tgtEl>
                                      </p:cBhvr>
                                    </p:animEffect>
                                  </p:childTnLst>
                                </p:cTn>
                              </p:par>
                              <p:par>
                                <p:cTn id="50" presetID="55" presetClass="entr" presetSubtype="0" fill="hold" nodeType="with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p:cTn id="52" dur="1000" fill="hold"/>
                                        <p:tgtEl>
                                          <p:spTgt spid="15"/>
                                        </p:tgtEl>
                                        <p:attrNameLst>
                                          <p:attrName>ppt_w</p:attrName>
                                        </p:attrNameLst>
                                      </p:cBhvr>
                                      <p:tavLst>
                                        <p:tav tm="0">
                                          <p:val>
                                            <p:strVal val="#ppt_w*0.70"/>
                                          </p:val>
                                        </p:tav>
                                        <p:tav tm="100000">
                                          <p:val>
                                            <p:strVal val="#ppt_w"/>
                                          </p:val>
                                        </p:tav>
                                      </p:tavLst>
                                    </p:anim>
                                    <p:anim calcmode="lin" valueType="num">
                                      <p:cBhvr>
                                        <p:cTn id="53" dur="1000" fill="hold"/>
                                        <p:tgtEl>
                                          <p:spTgt spid="15"/>
                                        </p:tgtEl>
                                        <p:attrNameLst>
                                          <p:attrName>ppt_h</p:attrName>
                                        </p:attrNameLst>
                                      </p:cBhvr>
                                      <p:tavLst>
                                        <p:tav tm="0">
                                          <p:val>
                                            <p:strVal val="#ppt_h"/>
                                          </p:val>
                                        </p:tav>
                                        <p:tav tm="100000">
                                          <p:val>
                                            <p:strVal val="#ppt_h"/>
                                          </p:val>
                                        </p:tav>
                                      </p:tavLst>
                                    </p:anim>
                                    <p:animEffect transition="in" filter="fade">
                                      <p:cBhvr>
                                        <p:cTn id="54" dur="1000"/>
                                        <p:tgtEl>
                                          <p:spTgt spid="15"/>
                                        </p:tgtEl>
                                      </p:cBhvr>
                                    </p:animEffect>
                                  </p:childTnLst>
                                </p:cTn>
                              </p:par>
                              <p:par>
                                <p:cTn id="55" presetID="55" presetClass="entr" presetSubtype="0" fill="hold"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p:cTn id="57" dur="1000" fill="hold"/>
                                        <p:tgtEl>
                                          <p:spTgt spid="16"/>
                                        </p:tgtEl>
                                        <p:attrNameLst>
                                          <p:attrName>ppt_w</p:attrName>
                                        </p:attrNameLst>
                                      </p:cBhvr>
                                      <p:tavLst>
                                        <p:tav tm="0">
                                          <p:val>
                                            <p:strVal val="#ppt_w*0.70"/>
                                          </p:val>
                                        </p:tav>
                                        <p:tav tm="100000">
                                          <p:val>
                                            <p:strVal val="#ppt_w"/>
                                          </p:val>
                                        </p:tav>
                                      </p:tavLst>
                                    </p:anim>
                                    <p:anim calcmode="lin" valueType="num">
                                      <p:cBhvr>
                                        <p:cTn id="58" dur="1000" fill="hold"/>
                                        <p:tgtEl>
                                          <p:spTgt spid="16"/>
                                        </p:tgtEl>
                                        <p:attrNameLst>
                                          <p:attrName>ppt_h</p:attrName>
                                        </p:attrNameLst>
                                      </p:cBhvr>
                                      <p:tavLst>
                                        <p:tav tm="0">
                                          <p:val>
                                            <p:strVal val="#ppt_h"/>
                                          </p:val>
                                        </p:tav>
                                        <p:tav tm="100000">
                                          <p:val>
                                            <p:strVal val="#ppt_h"/>
                                          </p:val>
                                        </p:tav>
                                      </p:tavLst>
                                    </p:anim>
                                    <p:animEffect transition="in" filter="fade">
                                      <p:cBhvr>
                                        <p:cTn id="59" dur="1000"/>
                                        <p:tgtEl>
                                          <p:spTgt spid="16"/>
                                        </p:tgtEl>
                                      </p:cBhvr>
                                    </p:animEffect>
                                  </p:childTnLst>
                                </p:cTn>
                              </p:par>
                              <p:par>
                                <p:cTn id="60" presetID="55" presetClass="entr" presetSubtype="0" fill="hold" nodeType="withEffect">
                                  <p:stCondLst>
                                    <p:cond delay="0"/>
                                  </p:stCondLst>
                                  <p:childTnLst>
                                    <p:set>
                                      <p:cBhvr>
                                        <p:cTn id="61" dur="1" fill="hold">
                                          <p:stCondLst>
                                            <p:cond delay="0"/>
                                          </p:stCondLst>
                                        </p:cTn>
                                        <p:tgtEl>
                                          <p:spTgt spid="17"/>
                                        </p:tgtEl>
                                        <p:attrNameLst>
                                          <p:attrName>style.visibility</p:attrName>
                                        </p:attrNameLst>
                                      </p:cBhvr>
                                      <p:to>
                                        <p:strVal val="visible"/>
                                      </p:to>
                                    </p:set>
                                    <p:anim calcmode="lin" valueType="num">
                                      <p:cBhvr>
                                        <p:cTn id="62" dur="1000" fill="hold"/>
                                        <p:tgtEl>
                                          <p:spTgt spid="17"/>
                                        </p:tgtEl>
                                        <p:attrNameLst>
                                          <p:attrName>ppt_w</p:attrName>
                                        </p:attrNameLst>
                                      </p:cBhvr>
                                      <p:tavLst>
                                        <p:tav tm="0">
                                          <p:val>
                                            <p:strVal val="#ppt_w*0.70"/>
                                          </p:val>
                                        </p:tav>
                                        <p:tav tm="100000">
                                          <p:val>
                                            <p:strVal val="#ppt_w"/>
                                          </p:val>
                                        </p:tav>
                                      </p:tavLst>
                                    </p:anim>
                                    <p:anim calcmode="lin" valueType="num">
                                      <p:cBhvr>
                                        <p:cTn id="63" dur="1000" fill="hold"/>
                                        <p:tgtEl>
                                          <p:spTgt spid="17"/>
                                        </p:tgtEl>
                                        <p:attrNameLst>
                                          <p:attrName>ppt_h</p:attrName>
                                        </p:attrNameLst>
                                      </p:cBhvr>
                                      <p:tavLst>
                                        <p:tav tm="0">
                                          <p:val>
                                            <p:strVal val="#ppt_h"/>
                                          </p:val>
                                        </p:tav>
                                        <p:tav tm="100000">
                                          <p:val>
                                            <p:strVal val="#ppt_h"/>
                                          </p:val>
                                        </p:tav>
                                      </p:tavLst>
                                    </p:anim>
                                    <p:animEffect transition="in" filter="fade">
                                      <p:cBhvr>
                                        <p:cTn id="64"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Activity-TIME</a:t>
            </a:r>
          </a:p>
        </p:txBody>
      </p:sp>
      <p:sp>
        <p:nvSpPr>
          <p:cNvPr id="3" name="Content Placeholder 2"/>
          <p:cNvSpPr>
            <a:spLocks noGrp="1"/>
          </p:cNvSpPr>
          <p:nvPr>
            <p:ph idx="1"/>
          </p:nvPr>
        </p:nvSpPr>
        <p:spPr>
          <a:xfrm>
            <a:off x="504496" y="2076450"/>
            <a:ext cx="8150773" cy="4552949"/>
          </a:xfrm>
        </p:spPr>
        <p:txBody>
          <a:bodyPr anchor="t">
            <a:noAutofit/>
          </a:bodyPr>
          <a:lstStyle/>
          <a:p>
            <a:pPr fontAlgn="t"/>
            <a:r>
              <a:rPr lang="en-US" sz="3600" b="1" dirty="0"/>
              <a:t>Compare &amp; Contrast</a:t>
            </a:r>
            <a:endParaRPr lang="en-US" sz="3400" b="1" dirty="0"/>
          </a:p>
          <a:p>
            <a:pPr marL="1306513" lvl="1" indent="-565150" fontAlgn="t"/>
            <a:r>
              <a:rPr lang="en-US" sz="3400" dirty="0"/>
              <a:t>3-tier/ multi-tier</a:t>
            </a:r>
          </a:p>
          <a:p>
            <a:pPr marL="1306513" lvl="1" indent="-565150" fontAlgn="t"/>
            <a:r>
              <a:rPr lang="en-US" sz="3400" dirty="0"/>
              <a:t>Front-end/ Back-end</a:t>
            </a:r>
          </a:p>
          <a:p>
            <a:pPr marL="1306513" lvl="1" indent="-565150" fontAlgn="t"/>
            <a:r>
              <a:rPr lang="en-US" sz="3400" dirty="0"/>
              <a:t>Logical/ Physical</a:t>
            </a:r>
          </a:p>
          <a:p>
            <a:pPr marL="1306513" lvl="1" indent="-565150" fontAlgn="t"/>
            <a:r>
              <a:rPr lang="en-US" sz="3400" dirty="0"/>
              <a:t>Client-side/ Server-side</a:t>
            </a:r>
          </a:p>
        </p:txBody>
      </p:sp>
      <p:sp>
        <p:nvSpPr>
          <p:cNvPr id="4" name="Slide Number Placeholder 3"/>
          <p:cNvSpPr>
            <a:spLocks noGrp="1"/>
          </p:cNvSpPr>
          <p:nvPr>
            <p:ph type="sldNum" sz="quarter" idx="12"/>
          </p:nvPr>
        </p:nvSpPr>
        <p:spPr/>
        <p:txBody>
          <a:bodyPr/>
          <a:lstStyle/>
          <a:p>
            <a:fld id="{D57F1E4F-1CFF-5643-939E-217C01CDF565}" type="slidenum">
              <a:rPr lang="en-US" smtClean="0"/>
              <a:pPr/>
              <a:t>27</a:t>
            </a:fld>
            <a:endParaRPr lang="en-US" dirty="0"/>
          </a:p>
        </p:txBody>
      </p:sp>
    </p:spTree>
    <p:extLst>
      <p:ext uri="{BB962C8B-B14F-4D97-AF65-F5344CB8AC3E}">
        <p14:creationId xmlns:p14="http://schemas.microsoft.com/office/powerpoint/2010/main" val="24238172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Home-work</a:t>
            </a:r>
          </a:p>
        </p:txBody>
      </p:sp>
      <p:sp>
        <p:nvSpPr>
          <p:cNvPr id="3" name="Content Placeholder 2"/>
          <p:cNvSpPr>
            <a:spLocks noGrp="1"/>
          </p:cNvSpPr>
          <p:nvPr>
            <p:ph idx="1"/>
          </p:nvPr>
        </p:nvSpPr>
        <p:spPr>
          <a:xfrm>
            <a:off x="247974" y="1905972"/>
            <a:ext cx="8648054" cy="4552949"/>
          </a:xfrm>
        </p:spPr>
        <p:txBody>
          <a:bodyPr anchor="t">
            <a:noAutofit/>
          </a:bodyPr>
          <a:lstStyle/>
          <a:p>
            <a:pPr fontAlgn="t"/>
            <a:r>
              <a:rPr lang="en-US" sz="3600" b="1" dirty="0"/>
              <a:t>Setup PHP/MySql XAMPP Environment</a:t>
            </a:r>
          </a:p>
          <a:p>
            <a:pPr lvl="1" fontAlgn="t"/>
            <a:r>
              <a:rPr lang="en-US" sz="3400" dirty="0"/>
              <a:t>Install/ configure XAMPP </a:t>
            </a:r>
          </a:p>
          <a:p>
            <a:pPr lvl="1" fontAlgn="t"/>
            <a:r>
              <a:rPr lang="en-US" sz="3400" dirty="0"/>
              <a:t>E.g. Installing XAMPP on Windows for PHP/MySql</a:t>
            </a:r>
            <a:br>
              <a:rPr lang="en-US" sz="3400" dirty="0"/>
            </a:br>
            <a:r>
              <a:rPr lang="en-US" sz="3200" dirty="0">
                <a:hlinkClick r:id="rId3"/>
              </a:rPr>
              <a:t>https://www.wa4e.com/software-win.php</a:t>
            </a:r>
            <a:r>
              <a:rPr lang="en-US" sz="3200" dirty="0"/>
              <a:t> 														</a:t>
            </a:r>
            <a:r>
              <a:rPr lang="en-US" sz="2000" i="1" dirty="0"/>
              <a:t>(Severance, 2017)</a:t>
            </a:r>
          </a:p>
        </p:txBody>
      </p:sp>
      <p:sp>
        <p:nvSpPr>
          <p:cNvPr id="4" name="Slide Number Placeholder 3"/>
          <p:cNvSpPr>
            <a:spLocks noGrp="1"/>
          </p:cNvSpPr>
          <p:nvPr>
            <p:ph type="sldNum" sz="quarter" idx="12"/>
          </p:nvPr>
        </p:nvSpPr>
        <p:spPr/>
        <p:txBody>
          <a:bodyPr/>
          <a:lstStyle/>
          <a:p>
            <a:fld id="{D57F1E4F-1CFF-5643-939E-217C01CDF565}" type="slidenum">
              <a:rPr lang="en-US" smtClean="0"/>
              <a:pPr/>
              <a:t>28</a:t>
            </a:fld>
            <a:endParaRPr lang="en-US" dirty="0"/>
          </a:p>
        </p:txBody>
      </p:sp>
    </p:spTree>
    <p:extLst>
      <p:ext uri="{BB962C8B-B14F-4D97-AF65-F5344CB8AC3E}">
        <p14:creationId xmlns:p14="http://schemas.microsoft.com/office/powerpoint/2010/main" val="32040572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29</a:t>
            </a:fld>
            <a:endParaRPr lang="en-US" dirty="0"/>
          </a:p>
        </p:txBody>
      </p:sp>
      <p:pic>
        <p:nvPicPr>
          <p:cNvPr id="3" name="Picture 2" descr="https://www.wa4e.com/images/xampp-win-01-pane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929" y="663961"/>
            <a:ext cx="7966128" cy="504115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796366" y="5661341"/>
            <a:ext cx="2789690" cy="400110"/>
          </a:xfrm>
          <a:prstGeom prst="rect">
            <a:avLst/>
          </a:prstGeom>
        </p:spPr>
        <p:txBody>
          <a:bodyPr wrap="square">
            <a:spAutoFit/>
          </a:bodyPr>
          <a:lstStyle/>
          <a:p>
            <a:pPr lvl="1" fontAlgn="t"/>
            <a:r>
              <a:rPr lang="en-US" sz="2000" i="1" dirty="0"/>
              <a:t>(Severance, 2017)</a:t>
            </a:r>
          </a:p>
        </p:txBody>
      </p:sp>
    </p:spTree>
    <p:extLst>
      <p:ext uri="{BB962C8B-B14F-4D97-AF65-F5344CB8AC3E}">
        <p14:creationId xmlns:p14="http://schemas.microsoft.com/office/powerpoint/2010/main" val="15404550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3600" dirty="0"/>
              <a:t>Summary</a:t>
            </a:r>
            <a:endParaRPr lang="en-US" dirty="0"/>
          </a:p>
        </p:txBody>
      </p:sp>
      <p:sp>
        <p:nvSpPr>
          <p:cNvPr id="43011" name="Content Placeholder 2"/>
          <p:cNvSpPr>
            <a:spLocks noGrp="1"/>
          </p:cNvSpPr>
          <p:nvPr>
            <p:ph idx="1"/>
          </p:nvPr>
        </p:nvSpPr>
        <p:spPr>
          <a:xfrm>
            <a:off x="457207" y="2228003"/>
            <a:ext cx="8392327" cy="3630795"/>
          </a:xfrm>
        </p:spPr>
        <p:txBody>
          <a:bodyPr anchor="t">
            <a:noAutofit/>
          </a:bodyPr>
          <a:lstStyle/>
          <a:p>
            <a:r>
              <a:rPr lang="en-US" altLang="en-US" sz="2800" dirty="0"/>
              <a:t>Module Introduction, Module Delivery Plan,  Assessment deadlines</a:t>
            </a:r>
          </a:p>
          <a:p>
            <a:r>
              <a:rPr lang="en-US" altLang="en-US" sz="2800" dirty="0"/>
              <a:t>Introduction to PHP,  uses of PHP,  PHP Code Example</a:t>
            </a:r>
          </a:p>
          <a:p>
            <a:r>
              <a:rPr lang="en-US" altLang="en-US" sz="2800" dirty="0"/>
              <a:t>Web Technologies, Request-Response cycle, Web Architecture</a:t>
            </a:r>
          </a:p>
        </p:txBody>
      </p:sp>
      <p:sp>
        <p:nvSpPr>
          <p:cNvPr id="4301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FA4389B2-27E8-4895-9A71-F761EF64388C}" type="slidenum">
              <a:rPr lang="en-US" altLang="ja-JP" smtClean="0"/>
              <a:pPr/>
              <a:t>30</a:t>
            </a:fld>
            <a:endParaRPr lang="en-US" altLang="ja-JP" dirty="0"/>
          </a:p>
        </p:txBody>
      </p:sp>
    </p:spTree>
    <p:extLst>
      <p:ext uri="{BB962C8B-B14F-4D97-AF65-F5344CB8AC3E}">
        <p14:creationId xmlns:p14="http://schemas.microsoft.com/office/powerpoint/2010/main" val="32258420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NEXT LESSON</a:t>
            </a:r>
          </a:p>
        </p:txBody>
      </p:sp>
      <p:sp>
        <p:nvSpPr>
          <p:cNvPr id="3" name="Content Placeholder 2"/>
          <p:cNvSpPr>
            <a:spLocks noGrp="1"/>
          </p:cNvSpPr>
          <p:nvPr>
            <p:ph idx="1"/>
          </p:nvPr>
        </p:nvSpPr>
        <p:spPr/>
        <p:txBody>
          <a:bodyPr anchor="t">
            <a:normAutofit/>
          </a:bodyPr>
          <a:lstStyle/>
          <a:p>
            <a:r>
              <a:rPr lang="en-US" sz="2800" dirty="0"/>
              <a:t>HTML, CSS, PHP variables, control constructs</a:t>
            </a:r>
          </a:p>
        </p:txBody>
      </p:sp>
      <p:sp>
        <p:nvSpPr>
          <p:cNvPr id="4" name="Slide Number Placeholder 3"/>
          <p:cNvSpPr>
            <a:spLocks noGrp="1"/>
          </p:cNvSpPr>
          <p:nvPr>
            <p:ph type="sldNum" sz="quarter" idx="12"/>
          </p:nvPr>
        </p:nvSpPr>
        <p:spPr/>
        <p:txBody>
          <a:bodyPr/>
          <a:lstStyle/>
          <a:p>
            <a:fld id="{D57F1E4F-1CFF-5643-939E-217C01CDF565}" type="slidenum">
              <a:rPr lang="en-US" smtClean="0"/>
              <a:pPr/>
              <a:t>31</a:t>
            </a:fld>
            <a:endParaRPr lang="en-US" dirty="0"/>
          </a:p>
        </p:txBody>
      </p:sp>
    </p:spTree>
    <p:extLst>
      <p:ext uri="{BB962C8B-B14F-4D97-AF65-F5344CB8AC3E}">
        <p14:creationId xmlns:p14="http://schemas.microsoft.com/office/powerpoint/2010/main" val="10134935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395215" y="1987584"/>
            <a:ext cx="8516311" cy="4839419"/>
          </a:xfrm>
        </p:spPr>
        <p:txBody>
          <a:bodyPr anchor="t">
            <a:normAutofit fontScale="92500" lnSpcReduction="10000"/>
          </a:bodyPr>
          <a:lstStyle/>
          <a:p>
            <a:r>
              <a:rPr lang="en-US" sz="2000" dirty="0"/>
              <a:t>Clinton, S. (2013). Delphi 2 – Developing for Multi-Tier Distributed Computing Architectures with Delphi Client/Server Suite 2.0. </a:t>
            </a:r>
            <a:r>
              <a:rPr lang="en-US" sz="2000" i="1" dirty="0"/>
              <a:t>Embarcadero Technologies</a:t>
            </a:r>
            <a:r>
              <a:rPr lang="en-US" sz="2000" dirty="0"/>
              <a:t>. Available from </a:t>
            </a:r>
            <a:r>
              <a:rPr lang="en-US" altLang="en-US" sz="2000" dirty="0">
                <a:hlinkClick r:id="rId2"/>
              </a:rPr>
              <a:t>http://edn.embarcadero.com/article/10343</a:t>
            </a:r>
            <a:r>
              <a:rPr lang="en-US" altLang="en-US" sz="2000" dirty="0"/>
              <a:t> [Accessed 24 September 2018]</a:t>
            </a:r>
          </a:p>
          <a:p>
            <a:r>
              <a:rPr lang="en-US" altLang="en-US" sz="2000" dirty="0"/>
              <a:t>Severance, C. (2017). </a:t>
            </a:r>
            <a:r>
              <a:rPr lang="en-US" sz="2000" dirty="0"/>
              <a:t>Installing XAMPP on Windows for PHP/MySql. </a:t>
            </a:r>
            <a:r>
              <a:rPr lang="en-US" sz="2000" i="1" dirty="0"/>
              <a:t>YouTube. </a:t>
            </a:r>
            <a:r>
              <a:rPr lang="en-US" sz="2000" dirty="0"/>
              <a:t>Available from </a:t>
            </a:r>
            <a:r>
              <a:rPr lang="en-US" sz="2000" dirty="0">
                <a:hlinkClick r:id="rId3"/>
              </a:rPr>
              <a:t>https://www.youtube.com/watch?v=X0_pthMQPMM</a:t>
            </a:r>
            <a:r>
              <a:rPr lang="en-US" sz="2000" dirty="0"/>
              <a:t> [Accessed 15 Jan 2019]</a:t>
            </a:r>
            <a:endParaRPr lang="en-US" altLang="en-US" sz="2000" dirty="0"/>
          </a:p>
          <a:p>
            <a:r>
              <a:rPr lang="en-US" sz="2000" dirty="0"/>
              <a:t>Tanenbaum, A &amp; Wetherall, D. (2011). </a:t>
            </a:r>
            <a:r>
              <a:rPr lang="en-US" sz="2000" i="1" dirty="0"/>
              <a:t>Computer Networks</a:t>
            </a:r>
            <a:r>
              <a:rPr lang="en-US" sz="2000" dirty="0"/>
              <a:t>. 5</a:t>
            </a:r>
            <a:r>
              <a:rPr lang="en-US" sz="2000" baseline="30000" dirty="0"/>
              <a:t>th</a:t>
            </a:r>
            <a:r>
              <a:rPr lang="en-US" sz="2000" dirty="0"/>
              <a:t> ed. Boston: Pearson. Available from </a:t>
            </a:r>
            <a:r>
              <a:rPr lang="en-US" sz="2000" dirty="0">
                <a:hlinkClick r:id="rId4"/>
              </a:rPr>
              <a:t>http://iips.icci.edu.iq/images/exam/Computer-Networks---A-Tanenbaum---5th-edition.pdf</a:t>
            </a:r>
            <a:r>
              <a:rPr lang="en-US" sz="2000" dirty="0"/>
              <a:t> [Accessed 24 September 2018]</a:t>
            </a:r>
          </a:p>
          <a:p>
            <a:r>
              <a:rPr lang="en-US" sz="2000" dirty="0"/>
              <a:t>The PHP Group (2019). PHP: What is PHP? – Manual. </a:t>
            </a:r>
            <a:r>
              <a:rPr lang="en-US" sz="2000" i="1" dirty="0"/>
              <a:t>php.net.</a:t>
            </a:r>
            <a:r>
              <a:rPr lang="en-US" sz="2000" dirty="0"/>
              <a:t> Available from </a:t>
            </a:r>
            <a:r>
              <a:rPr lang="en-US" sz="2000" dirty="0">
                <a:hlinkClick r:id="rId5"/>
              </a:rPr>
              <a:t>http://php.net/manual/en/intro-whatis.php</a:t>
            </a:r>
            <a:r>
              <a:rPr lang="en-US" sz="2000" dirty="0"/>
              <a:t> [Accessed 15 Jan 2019]</a:t>
            </a:r>
          </a:p>
          <a:p>
            <a:r>
              <a:rPr lang="en-US" sz="2000" dirty="0"/>
              <a:t>W3Techs (2019). Usage of server-side programming languages for websites. </a:t>
            </a:r>
            <a:r>
              <a:rPr lang="en-US" sz="2000" i="1" dirty="0"/>
              <a:t>W3Techs.</a:t>
            </a:r>
            <a:r>
              <a:rPr lang="en-US" sz="2000" dirty="0"/>
              <a:t> Available from </a:t>
            </a:r>
            <a:r>
              <a:rPr lang="en-US" sz="2000" dirty="0">
                <a:hlinkClick r:id="rId6"/>
              </a:rPr>
              <a:t>https://w3techs.com/technologies/overview/programming_language/all</a:t>
            </a:r>
            <a:r>
              <a:rPr lang="en-US" sz="2000" dirty="0"/>
              <a:t> </a:t>
            </a:r>
            <a:br>
              <a:rPr lang="en-US" sz="2000" dirty="0"/>
            </a:br>
            <a:r>
              <a:rPr lang="en-US" sz="2000" dirty="0"/>
              <a:t>[Accessed 21 January 2019]</a:t>
            </a:r>
          </a:p>
        </p:txBody>
      </p:sp>
      <p:sp>
        <p:nvSpPr>
          <p:cNvPr id="4" name="Slide Number Placeholder 3"/>
          <p:cNvSpPr>
            <a:spLocks noGrp="1"/>
          </p:cNvSpPr>
          <p:nvPr>
            <p:ph type="sldNum" sz="quarter" idx="12"/>
          </p:nvPr>
        </p:nvSpPr>
        <p:spPr>
          <a:xfrm>
            <a:off x="8185710" y="6461878"/>
            <a:ext cx="770468" cy="365125"/>
          </a:xfrm>
        </p:spPr>
        <p:txBody>
          <a:bodyPr/>
          <a:lstStyle/>
          <a:p>
            <a:fld id="{D57F1E4F-1CFF-5643-939E-217C01CDF565}" type="slidenum">
              <a:rPr lang="en-US" smtClean="0"/>
              <a:pPr/>
              <a:t>32</a:t>
            </a:fld>
            <a:endParaRPr lang="en-US" dirty="0"/>
          </a:p>
        </p:txBody>
      </p:sp>
    </p:spTree>
    <p:extLst>
      <p:ext uri="{BB962C8B-B14F-4D97-AF65-F5344CB8AC3E}">
        <p14:creationId xmlns:p14="http://schemas.microsoft.com/office/powerpoint/2010/main" val="977486483"/>
      </p:ext>
    </p:extLst>
  </p:cSld>
  <p:clrMapOvr>
    <a:masterClrMapping/>
  </p:clrMapOvr>
</p:sld>
</file>

<file path=ppt/theme/theme1.xml><?xml version="1.0" encoding="utf-8"?>
<a:theme xmlns:a="http://schemas.openxmlformats.org/drawingml/2006/main" name="Dividend">
  <a:themeElements>
    <a:clrScheme name="Custom 1">
      <a:dk1>
        <a:sysClr val="windowText" lastClr="000000"/>
      </a:dk1>
      <a:lt1>
        <a:sysClr val="window" lastClr="FFFFFF"/>
      </a:lt1>
      <a:dk2>
        <a:srgbClr val="3D3D3D"/>
      </a:dk2>
      <a:lt2>
        <a:srgbClr val="EBEBEB"/>
      </a:lt2>
      <a:accent1>
        <a:srgbClr val="622452"/>
      </a:accent1>
      <a:accent2>
        <a:srgbClr val="9E0000"/>
      </a:accent2>
      <a:accent3>
        <a:srgbClr val="42955F"/>
      </a:accent3>
      <a:accent4>
        <a:srgbClr val="DAA600"/>
      </a:accent4>
      <a:accent5>
        <a:srgbClr val="A2C777"/>
      </a:accent5>
      <a:accent6>
        <a:srgbClr val="42955F"/>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1913</TotalTime>
  <Words>1948</Words>
  <Application>Microsoft Office PowerPoint</Application>
  <PresentationFormat>On-screen Show (4:3)</PresentationFormat>
  <Paragraphs>251</Paragraphs>
  <Slides>32</Slides>
  <Notes>11</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Calibri</vt:lpstr>
      <vt:lpstr>Century Gothic</vt:lpstr>
      <vt:lpstr>Courier New</vt:lpstr>
      <vt:lpstr>Gill Sans MT</vt:lpstr>
      <vt:lpstr>Tahoma</vt:lpstr>
      <vt:lpstr>Wingdings</vt:lpstr>
      <vt:lpstr>Wingdings 2</vt:lpstr>
      <vt:lpstr>Dividend</vt:lpstr>
      <vt:lpstr>Server Side Web Development  5COSC006W</vt:lpstr>
      <vt:lpstr>MODULE DETAILS</vt:lpstr>
      <vt:lpstr>PowerPoint Presentation</vt:lpstr>
      <vt:lpstr>MODULE AIM</vt:lpstr>
      <vt:lpstr>Module Learning Outcomes</vt:lpstr>
      <vt:lpstr>ASSESSMENT PLAN</vt:lpstr>
      <vt:lpstr>MODULE DELIVERY</vt:lpstr>
      <vt:lpstr>MODULE CONTENT</vt:lpstr>
      <vt:lpstr>ESSENTIAL READING</vt:lpstr>
      <vt:lpstr>FURTHER READING</vt:lpstr>
      <vt:lpstr>References</vt:lpstr>
      <vt:lpstr>Let’s Get Started</vt:lpstr>
      <vt:lpstr>Introduction to PHP &amp;  Server-side Web programming</vt:lpstr>
      <vt:lpstr>Today’s topics</vt:lpstr>
      <vt:lpstr>Activity-TIME</vt:lpstr>
      <vt:lpstr>% of websites using server-side programming languages</vt:lpstr>
      <vt:lpstr>Websites based on PHP</vt:lpstr>
      <vt:lpstr>Why PHP? (PHP: Hypertext Preprocessor)</vt:lpstr>
      <vt:lpstr>Activity-TIME</vt:lpstr>
      <vt:lpstr>Uses of PHP</vt:lpstr>
      <vt:lpstr>Code Example</vt:lpstr>
      <vt:lpstr>Request/ Response Cycle</vt:lpstr>
      <vt:lpstr>Client-Server Architecture</vt:lpstr>
      <vt:lpstr>PowerPoint Presentation</vt:lpstr>
      <vt:lpstr>3-Tier Architecture </vt:lpstr>
      <vt:lpstr>Web Servers</vt:lpstr>
      <vt:lpstr>Activity-TIME</vt:lpstr>
      <vt:lpstr>Home-work</vt:lpstr>
      <vt:lpstr>PowerPoint Presentation</vt:lpstr>
      <vt:lpstr>Summary</vt:lpstr>
      <vt:lpstr>NEXT LESSON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Chathura K;CHA;Chathura SooriyaArachchi</dc:creator>
  <cp:lastModifiedBy>Irantha Senarath</cp:lastModifiedBy>
  <cp:revision>182</cp:revision>
  <dcterms:created xsi:type="dcterms:W3CDTF">2018-09-28T09:29:44Z</dcterms:created>
  <dcterms:modified xsi:type="dcterms:W3CDTF">2022-01-24T04:45:03Z</dcterms:modified>
</cp:coreProperties>
</file>